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Целеполагание" id="{d0ea438d-8e2c-7e97-bca5-49ad9f9f418e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Объяснение темы" id="{25ae1e7c-5509-0dbd-2409-c52ec32be526}">
          <p14:sldIdLst>
            <p14:sldId id="263"/>
            <p14:sldId id="264"/>
            <p14:sldId id="265"/>
            <p14:sldId id="266"/>
          </p14:sldIdLst>
        </p14:section>
        <p14:section name="Слушание" id="{d7f4ca62-d0fe-7e7f-25a0-3c6ddd258674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Подведение итогов" id="{8a74250a-643b-4d8b-7c1f-401727b52e48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Сюрпризный момент. Учитель входит в класс с красивым сундучком в руках. Тему урока на этом слайде не называем: дети определят её сами чуть позже.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«Ребята, сегодня по дороге в школу я нашла этот сундук. На нём надпись: “Здесь хранится самое главное сокровище в жизни каждого человека”. Как вы думаете, что там?»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Дети предлагают свои варианты: золото, деньги, игрушки. Выслушайте все версии, не подсказывайте.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Учитель открывает сундук, а там картинки (или разрезанная картинка) с героями мультфильма «Бременские музыканты»: Трубадур, Осёл, Пёс, Кот, Петух держатся за руки.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Подводим детей к ответу: героев объединяет дружба. Пусть дети сами произнесут это слово.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«Глядя на этих весёлых героев и их сокровище, как вы думаете, о чём мы сегодня будем говорить на уроке и какие песни слушать?» Показываем слайд после ответа детей: о дружбе, о друзьях.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 какую цель мы поставим на сегодняшний урок? Что мы должны узнать и чему научиться?» Сначала выслушайте ответы детей, потом покажите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Актуализация знаний: «Ребята, а что такое дружба?» Выслушайте несколько ответов.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«Какими качествами должен обладать настоящий друг?» Ожидаемые ответы: доброта, верность, отзывчивость, умение прийти на помощь.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 какая музыка, по-вашему, подходит для песен о дружбе?» Ожидаемые ответы: весёлая, радостная, бодрая, маршевая.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«Верно, дружба — это великая сила. Песни о дружбе помогают нам почувствовать себя счастливыми, они объединяют людей. Сегодня мы послушаем знаменитую песню, которая стала гимном всех друзей».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«Посмотрите на портрет. Это замечательный композитор Геннадий Гладков. Он написал музыку для многих известных мультфильмов. А слова к песне написал поэт Юрий Энтин». На фото слева Гладков, справа Энтин.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Запишите на доске: музыка Геннадия Гладкова, слова Юрия Энтина. Кратко напомните сюжет: «Бременские музыканты» — это бродячие артисты, которые благодаря дружбе нашли своё счастье.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Первичное прослушивание песни «Ничего на свете лучше нету» в аудио- или видеозаписи. Лучше показать фрагмент мультфильма, чтобы дети прочувствовали образ.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Вопросы после первого прослушивания. Сначала дети отвечают сами, ответы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Обобщите ответы детей: настроение радостное, приподнятое, бодрое; темп подвижный; ритм чёткий, маршевый; музыка звучит уверенно и дружелюбно.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«О чём поётся в песне?» Ожидаемые ответы: о том, что лучше нету, чем бродить друзьям по белу свету; что дружба помогает не бояться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«Давайте послушаем песню ещё раз. А теперь я попрошу вас подпевать припев». Можно предложить детям маршировать под музыку или хлопать в такт, почувствовав её ритм.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«Эта песня учит нас тому, что ради настоящей дружбы и общей мечты можно преодолеть любые преграды, никакие сокровища мира не заменят верного друга».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Беседа: «С каким произведением мы сегодня познакомились? Кто его написал? Какую главную мысль передаёт эта песня?»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«Каким сокровищем оказались герои из сундука в начале урока?» Пусть дети ответят сами: дружбой.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«Ребята, поднимите руки, кому эта песня подняла настроение?»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" descr="/tmp/claude-0/-home-user-kaize/308b3d35-73c1-5b78-9aca-9bbdf27a9906/scratchpad/pptx/assets2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2"/>
          <p:cNvSpPr txBox="1"/>
          <p:nvPr/>
        </p:nvSpPr>
        <p:spPr>
          <a:xfrm>
            <a:off x="762000" y="1905000"/>
            <a:ext cx="533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УРОК МУЗЫКИ</a:t>
            </a:r>
            <a:endParaRPr lang="en-US" sz="1600" dirty="0"/>
          </a:p>
        </p:txBody>
      </p:sp>
      <p:sp>
        <p:nvSpPr>
          <p:cNvPr id="4" name="title-3"/>
          <p:cNvSpPr txBox="1"/>
          <p:nvPr/>
        </p:nvSpPr>
        <p:spPr>
          <a:xfrm>
            <a:off x="762000" y="2222500"/>
            <a:ext cx="5334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5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Загадочный</a:t>
            </a:r>
            <a:endParaRPr lang="en-US" sz="65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55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</a:t>
            </a:r>
            <a:endParaRPr lang="en-US" sz="6550" dirty="0"/>
          </a:p>
        </p:txBody>
      </p:sp>
      <p:sp>
        <p:nvSpPr>
          <p:cNvPr id="5" name="text-4"/>
          <p:cNvSpPr txBox="1"/>
          <p:nvPr/>
        </p:nvSpPr>
        <p:spPr>
          <a:xfrm>
            <a:off x="762000" y="4381500"/>
            <a:ext cx="533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C9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же в нём спрятано?</a:t>
            </a:r>
            <a:endParaRPr lang="en-US" sz="3200" dirty="0"/>
          </a:p>
        </p:txBody>
      </p:sp>
      <p:pic>
        <p:nvPicPr>
          <p:cNvPr id="6" name="photo-5" descr="Закрытый деревянный сундук с золотыми уголками светится на школьной парт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647700"/>
            <a:ext cx="5562600" cy="5562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6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hoto-7" descr="Закрытый деревянный сундук с золотыми уголками светится на школьной парт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700"/>
            <a:ext cx="5562600" cy="5562600"/>
          </a:xfrm>
          <a:prstGeom prst="rect">
            <a:avLst/>
          </a:prstGeom>
        </p:spPr>
      </p:pic>
      <p:sp>
        <p:nvSpPr>
          <p:cNvPr id="4" name="eyebrow-8"/>
          <p:cNvSpPr txBox="1"/>
          <p:nvPr/>
        </p:nvSpPr>
        <p:spPr>
          <a:xfrm>
            <a:off x="6286500" y="1270000"/>
            <a:ext cx="5143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НАДПИСЬ НА СУНДУКЕ</a:t>
            </a:r>
            <a:endParaRPr lang="en-US" sz="1600" dirty="0"/>
          </a:p>
        </p:txBody>
      </p:sp>
      <p:sp>
        <p:nvSpPr>
          <p:cNvPr id="5" name="quote-9"/>
          <p:cNvSpPr txBox="1"/>
          <p:nvPr/>
        </p:nvSpPr>
        <p:spPr>
          <a:xfrm>
            <a:off x="6286500" y="1587500"/>
            <a:ext cx="51435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«Здесь хранится самое главное сокровище в жизни каждого человека»</a:t>
            </a:r>
            <a:endParaRPr lang="en-US" sz="3600" dirty="0"/>
          </a:p>
        </p:txBody>
      </p:sp>
      <p:sp>
        <p:nvSpPr>
          <p:cNvPr id="6" name="card-10"/>
          <p:cNvSpPr/>
          <p:nvPr/>
        </p:nvSpPr>
        <p:spPr>
          <a:xfrm>
            <a:off x="6286500" y="4699000"/>
            <a:ext cx="5143500" cy="8255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279400" tIns="127000" rIns="279400" bIns="1270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 думаете, что там?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1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12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ВАШИ ВЕРСИИ</a:t>
            </a:r>
            <a:endParaRPr lang="en-US" sz="1600" dirty="0"/>
          </a:p>
        </p:txBody>
      </p:sp>
      <p:sp>
        <p:nvSpPr>
          <p:cNvPr id="4" name="title-13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может лежать в сундуке?</a:t>
            </a:r>
            <a:endParaRPr lang="en-US" sz="4000" dirty="0"/>
          </a:p>
        </p:txBody>
      </p:sp>
      <p:sp>
        <p:nvSpPr>
          <p:cNvPr id="5" name="card-14"/>
          <p:cNvSpPr/>
          <p:nvPr/>
        </p:nvSpPr>
        <p:spPr>
          <a:xfrm>
            <a:off x="762000" y="2095500"/>
            <a:ext cx="3429000" cy="2857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52400" tIns="1778000" rIns="1524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Золото?</a:t>
            </a:r>
            <a:endParaRPr lang="en-US" sz="4000" dirty="0"/>
          </a:p>
        </p:txBody>
      </p:sp>
      <p:sp>
        <p:nvSpPr>
          <p:cNvPr id="6" name="card-15"/>
          <p:cNvSpPr/>
          <p:nvPr/>
        </p:nvSpPr>
        <p:spPr>
          <a:xfrm>
            <a:off x="4381500" y="2095500"/>
            <a:ext cx="3429000" cy="2857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52400" tIns="1778000" rIns="1524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Деньги?</a:t>
            </a:r>
            <a:endParaRPr lang="en-US" sz="4000" dirty="0"/>
          </a:p>
        </p:txBody>
      </p:sp>
      <p:sp>
        <p:nvSpPr>
          <p:cNvPr id="7" name="card-16"/>
          <p:cNvSpPr/>
          <p:nvPr/>
        </p:nvSpPr>
        <p:spPr>
          <a:xfrm>
            <a:off x="8001000" y="2095500"/>
            <a:ext cx="3429000" cy="2857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52400" tIns="1778000" rIns="1524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Игрушки?</a:t>
            </a:r>
            <a:endParaRPr lang="en-US" sz="4000" dirty="0"/>
          </a:p>
        </p:txBody>
      </p:sp>
      <p:pic>
        <p:nvPicPr>
          <p:cNvPr id="8" name="badge-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0" y="2413000"/>
            <a:ext cx="1079500" cy="1079500"/>
          </a:xfrm>
          <a:prstGeom prst="rect">
            <a:avLst/>
          </a:prstGeom>
        </p:spPr>
      </p:pic>
      <p:pic>
        <p:nvPicPr>
          <p:cNvPr id="9" name="badge-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6250" y="2413000"/>
            <a:ext cx="1079500" cy="1079500"/>
          </a:xfrm>
          <a:prstGeom prst="rect">
            <a:avLst/>
          </a:prstGeom>
        </p:spPr>
      </p:pic>
      <p:pic>
        <p:nvPicPr>
          <p:cNvPr id="10" name="badge-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5750" y="2413000"/>
            <a:ext cx="1079500" cy="1079500"/>
          </a:xfrm>
          <a:prstGeom prst="rect">
            <a:avLst/>
          </a:prstGeom>
        </p:spPr>
      </p:pic>
      <p:sp>
        <p:nvSpPr>
          <p:cNvPr id="11" name="text-20"/>
          <p:cNvSpPr txBox="1"/>
          <p:nvPr/>
        </p:nvSpPr>
        <p:spPr>
          <a:xfrm>
            <a:off x="762000" y="5270500"/>
            <a:ext cx="1066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5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может быть, там что-то совсем другое?</a:t>
            </a:r>
            <a:endParaRPr lang="en-US" sz="2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21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22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ОТКРЫВАЕМ СУНДУК!</a:t>
            </a:r>
            <a:endParaRPr lang="en-US" sz="1600" dirty="0"/>
          </a:p>
        </p:txBody>
      </p:sp>
      <p:sp>
        <p:nvSpPr>
          <p:cNvPr id="4" name="title-23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в сундуке герои</a:t>
            </a:r>
            <a:endParaRPr lang="en-US" sz="4000" dirty="0"/>
          </a:p>
        </p:txBody>
      </p:sp>
      <p:pic>
        <p:nvPicPr>
          <p:cNvPr id="5" name="photo-24" descr="Герои мультфильма «Бременские музыканты»: Трубадур, Принцесса, Осёл, Пёс, Кот и Пету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54200"/>
            <a:ext cx="6134100" cy="4292600"/>
          </a:xfrm>
          <a:prstGeom prst="rect">
            <a:avLst/>
          </a:prstGeom>
        </p:spPr>
      </p:pic>
      <p:sp>
        <p:nvSpPr>
          <p:cNvPr id="6" name="card-25"/>
          <p:cNvSpPr/>
          <p:nvPr/>
        </p:nvSpPr>
        <p:spPr>
          <a:xfrm>
            <a:off x="6540500" y="2159000"/>
            <a:ext cx="4889500" cy="17462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206500" tIns="190500" rIns="254000" bIns="1905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эти герои?</a:t>
            </a:r>
            <a:endParaRPr lang="en-US" sz="3200" dirty="0"/>
          </a:p>
        </p:txBody>
      </p:sp>
      <p:sp>
        <p:nvSpPr>
          <p:cNvPr id="7" name="card-26"/>
          <p:cNvSpPr/>
          <p:nvPr/>
        </p:nvSpPr>
        <p:spPr>
          <a:xfrm>
            <a:off x="6540500" y="4095750"/>
            <a:ext cx="4889500" cy="17462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206500" tIns="190500" rIns="254000" bIns="1905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какого они мультфильма?</a:t>
            </a:r>
            <a:endParaRPr lang="en-US" sz="3200" dirty="0"/>
          </a:p>
        </p:txBody>
      </p:sp>
      <p:pic>
        <p:nvPicPr>
          <p:cNvPr id="8" name="badge-2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500" y="2647950"/>
            <a:ext cx="762000" cy="762000"/>
          </a:xfrm>
          <a:prstGeom prst="rect">
            <a:avLst/>
          </a:prstGeom>
        </p:spPr>
      </p:pic>
      <p:pic>
        <p:nvPicPr>
          <p:cNvPr id="9" name="badge-2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4584700"/>
            <a:ext cx="7620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29" descr="/tmp/claude-0/-home-user-kaize/308b3d35-73c1-5b78-9aca-9bbdf27a9906/scratchpad/pptx/assets2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badge-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825500"/>
            <a:ext cx="1270000" cy="1270000"/>
          </a:xfrm>
          <a:prstGeom prst="rect">
            <a:avLst/>
          </a:prstGeom>
        </p:spPr>
      </p:pic>
      <p:sp>
        <p:nvSpPr>
          <p:cNvPr id="4" name="title-31"/>
          <p:cNvSpPr txBox="1"/>
          <p:nvPr/>
        </p:nvSpPr>
        <p:spPr>
          <a:xfrm>
            <a:off x="762000" y="2349500"/>
            <a:ext cx="10668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они</a:t>
            </a:r>
            <a:endParaRPr lang="en-US" sz="6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8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всегда вместе?</a:t>
            </a:r>
            <a:endParaRPr lang="en-US" sz="6800" dirty="0"/>
          </a:p>
        </p:txBody>
      </p:sp>
      <p:sp>
        <p:nvSpPr>
          <p:cNvPr id="5" name="text-32"/>
          <p:cNvSpPr txBox="1"/>
          <p:nvPr/>
        </p:nvSpPr>
        <p:spPr>
          <a:xfrm>
            <a:off x="762000" y="4762500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C9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их объединяет?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B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33" descr="/tmp/claude-0/-home-user-kaize/308b3d35-73c1-5b78-9aca-9bbdf27a9906/scratchpad/pptx/assets2/bg-go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badge-3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250" y="952500"/>
            <a:ext cx="1079500" cy="1079500"/>
          </a:xfrm>
          <a:prstGeom prst="rect">
            <a:avLst/>
          </a:prstGeom>
        </p:spPr>
      </p:pic>
      <p:sp>
        <p:nvSpPr>
          <p:cNvPr id="4" name="eyebrow-35"/>
          <p:cNvSpPr txBox="1"/>
          <p:nvPr/>
        </p:nvSpPr>
        <p:spPr>
          <a:xfrm>
            <a:off x="762000" y="2349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ТЕМА УРОКА</a:t>
            </a:r>
            <a:endParaRPr lang="en-US" sz="1600" dirty="0"/>
          </a:p>
        </p:txBody>
      </p:sp>
      <p:sp>
        <p:nvSpPr>
          <p:cNvPr id="5" name="title-36"/>
          <p:cNvSpPr txBox="1"/>
          <p:nvPr/>
        </p:nvSpPr>
        <p:spPr>
          <a:xfrm>
            <a:off x="381000" y="2667000"/>
            <a:ext cx="1143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Песни о дружбе</a:t>
            </a:r>
            <a:endParaRPr lang="en-US" sz="8600" dirty="0"/>
          </a:p>
        </p:txBody>
      </p:sp>
      <p:sp>
        <p:nvSpPr>
          <p:cNvPr id="6" name="text-37"/>
          <p:cNvSpPr txBox="1"/>
          <p:nvPr/>
        </p:nvSpPr>
        <p:spPr>
          <a:xfrm>
            <a:off x="762000" y="41910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700" i="1" dirty="0">
                <a:solidFill>
                  <a:srgbClr val="3A2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сами её отгадали!</a:t>
            </a:r>
            <a:endParaRPr lang="en-US" sz="3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38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39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УРОКА</a:t>
            </a:r>
            <a:endParaRPr lang="en-US" sz="1600" dirty="0"/>
          </a:p>
        </p:txBody>
      </p:sp>
      <p:sp>
        <p:nvSpPr>
          <p:cNvPr id="4" name="title-40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сегодня узнаем?</a:t>
            </a:r>
            <a:endParaRPr lang="en-US" sz="4000" dirty="0"/>
          </a:p>
        </p:txBody>
      </p:sp>
      <p:sp>
        <p:nvSpPr>
          <p:cNvPr id="5" name="card-41"/>
          <p:cNvSpPr/>
          <p:nvPr/>
        </p:nvSpPr>
        <p:spPr>
          <a:xfrm>
            <a:off x="762000" y="2095500"/>
            <a:ext cx="3429000" cy="355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279400" tIns="1270000" rIns="228600" bIns="25400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Познакомимся с песнями о дружбе</a:t>
            </a:r>
            <a:endParaRPr lang="en-US" sz="2900" dirty="0"/>
          </a:p>
        </p:txBody>
      </p:sp>
      <p:sp>
        <p:nvSpPr>
          <p:cNvPr id="6" name="card-42"/>
          <p:cNvSpPr/>
          <p:nvPr/>
        </p:nvSpPr>
        <p:spPr>
          <a:xfrm>
            <a:off x="4381500" y="2095500"/>
            <a:ext cx="3429000" cy="355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279400" tIns="1270000" rIns="228600" bIns="25400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Узнаем, какой характер у такой музыки</a:t>
            </a:r>
            <a:endParaRPr lang="en-US" sz="2900" dirty="0"/>
          </a:p>
        </p:txBody>
      </p:sp>
      <p:sp>
        <p:nvSpPr>
          <p:cNvPr id="7" name="card-43"/>
          <p:cNvSpPr/>
          <p:nvPr/>
        </p:nvSpPr>
        <p:spPr>
          <a:xfrm>
            <a:off x="8001000" y="2095500"/>
            <a:ext cx="3429000" cy="355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279400" tIns="1270000" rIns="228600" bIns="25400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Поймём, что помогает людям дружить</a:t>
            </a:r>
            <a:endParaRPr lang="en-US" sz="2900" dirty="0"/>
          </a:p>
        </p:txBody>
      </p:sp>
      <p:sp>
        <p:nvSpPr>
          <p:cNvPr id="8" name="number-44"/>
          <p:cNvSpPr/>
          <p:nvPr/>
        </p:nvSpPr>
        <p:spPr>
          <a:xfrm>
            <a:off x="1041400" y="2387600"/>
            <a:ext cx="762000" cy="762000"/>
          </a:xfrm>
          <a:prstGeom prst="ellipse">
            <a:avLst/>
          </a:prstGeom>
          <a:solidFill>
            <a:srgbClr val="5A4B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number-45"/>
          <p:cNvSpPr/>
          <p:nvPr/>
        </p:nvSpPr>
        <p:spPr>
          <a:xfrm>
            <a:off x="4660900" y="2387600"/>
            <a:ext cx="762000" cy="762000"/>
          </a:xfrm>
          <a:prstGeom prst="ellipse">
            <a:avLst/>
          </a:prstGeom>
          <a:solidFill>
            <a:srgbClr val="5A4B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number-46"/>
          <p:cNvSpPr/>
          <p:nvPr/>
        </p:nvSpPr>
        <p:spPr>
          <a:xfrm>
            <a:off x="8280400" y="2387600"/>
            <a:ext cx="762000" cy="762000"/>
          </a:xfrm>
          <a:prstGeom prst="ellipse">
            <a:avLst/>
          </a:prstGeom>
          <a:solidFill>
            <a:srgbClr val="5A4B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47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48"/>
          <p:cNvSpPr txBox="1"/>
          <p:nvPr/>
        </p:nvSpPr>
        <p:spPr>
          <a:xfrm>
            <a:off x="762000" y="1905000"/>
            <a:ext cx="533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ПОГОВОРИМ</a:t>
            </a:r>
            <a:endParaRPr lang="en-US" sz="1600" dirty="0"/>
          </a:p>
        </p:txBody>
      </p:sp>
      <p:sp>
        <p:nvSpPr>
          <p:cNvPr id="4" name="title-49"/>
          <p:cNvSpPr txBox="1"/>
          <p:nvPr/>
        </p:nvSpPr>
        <p:spPr>
          <a:xfrm>
            <a:off x="762000" y="2222500"/>
            <a:ext cx="5334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такое</a:t>
            </a:r>
            <a:endParaRPr lang="en-US" sz="66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6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дружба?</a:t>
            </a:r>
            <a:endParaRPr lang="en-US" sz="6650" dirty="0"/>
          </a:p>
        </p:txBody>
      </p:sp>
      <p:sp>
        <p:nvSpPr>
          <p:cNvPr id="5" name="text-50"/>
          <p:cNvSpPr txBox="1"/>
          <p:nvPr/>
        </p:nvSpPr>
        <p:spPr>
          <a:xfrm>
            <a:off x="762000" y="4445000"/>
            <a:ext cx="520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Подумайте и расскажите, кого вы называете другом.</a:t>
            </a:r>
            <a:endParaRPr lang="en-US" sz="2600" dirty="0"/>
          </a:p>
        </p:txBody>
      </p:sp>
      <p:pic>
        <p:nvPicPr>
          <p:cNvPr id="6" name="photo-51" descr="Пятеро детей держатся за руки на цветущем лугу на закат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647700"/>
            <a:ext cx="5562600" cy="5562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52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53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НАСТОЯЩИЙ ДРУГ</a:t>
            </a:r>
            <a:endParaRPr lang="en-US" sz="1600" dirty="0"/>
          </a:p>
        </p:txBody>
      </p:sp>
      <p:sp>
        <p:nvSpPr>
          <p:cNvPr id="4" name="title-54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Каким должен быть настоящий друг?</a:t>
            </a:r>
            <a:endParaRPr lang="en-US" sz="4000" dirty="0"/>
          </a:p>
        </p:txBody>
      </p:sp>
      <p:sp>
        <p:nvSpPr>
          <p:cNvPr id="5" name="card-55"/>
          <p:cNvSpPr/>
          <p:nvPr/>
        </p:nvSpPr>
        <p:spPr>
          <a:xfrm>
            <a:off x="762000" y="2095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Добрый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Делится и не обижает</a:t>
            </a:r>
            <a:endParaRPr lang="en-US" sz="3000" dirty="0"/>
          </a:p>
        </p:txBody>
      </p:sp>
      <p:sp>
        <p:nvSpPr>
          <p:cNvPr id="6" name="card-56"/>
          <p:cNvSpPr/>
          <p:nvPr/>
        </p:nvSpPr>
        <p:spPr>
          <a:xfrm>
            <a:off x="6191250" y="2095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Верный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подведёт и не предаст</a:t>
            </a:r>
            <a:endParaRPr lang="en-US" sz="3000" dirty="0"/>
          </a:p>
        </p:txBody>
      </p:sp>
      <p:sp>
        <p:nvSpPr>
          <p:cNvPr id="7" name="card-57"/>
          <p:cNvSpPr/>
          <p:nvPr/>
        </p:nvSpPr>
        <p:spPr>
          <a:xfrm>
            <a:off x="762000" y="4000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Отзывчивый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Поймёт, когда тебе грустно</a:t>
            </a:r>
            <a:endParaRPr lang="en-US" sz="3000" dirty="0"/>
          </a:p>
        </p:txBody>
      </p:sp>
      <p:sp>
        <p:nvSpPr>
          <p:cNvPr id="8" name="card-58"/>
          <p:cNvSpPr/>
          <p:nvPr/>
        </p:nvSpPr>
        <p:spPr>
          <a:xfrm>
            <a:off x="6191250" y="4000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помочь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Всегда придёт на выручку</a:t>
            </a:r>
            <a:endParaRPr lang="en-US" sz="3000" dirty="0"/>
          </a:p>
        </p:txBody>
      </p:sp>
      <p:pic>
        <p:nvPicPr>
          <p:cNvPr id="9" name="badge-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540000"/>
            <a:ext cx="825500" cy="825500"/>
          </a:xfrm>
          <a:prstGeom prst="rect">
            <a:avLst/>
          </a:prstGeom>
        </p:spPr>
      </p:pic>
      <p:pic>
        <p:nvPicPr>
          <p:cNvPr id="10" name="badge-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540000"/>
            <a:ext cx="825500" cy="825500"/>
          </a:xfrm>
          <a:prstGeom prst="rect">
            <a:avLst/>
          </a:prstGeom>
        </p:spPr>
      </p:pic>
      <p:pic>
        <p:nvPicPr>
          <p:cNvPr id="11" name="badge-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4445000"/>
            <a:ext cx="825500" cy="825500"/>
          </a:xfrm>
          <a:prstGeom prst="rect">
            <a:avLst/>
          </a:prstGeom>
        </p:spPr>
      </p:pic>
      <p:pic>
        <p:nvPicPr>
          <p:cNvPr id="12" name="badge-6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4445000"/>
            <a:ext cx="8255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63" descr="/tmp/claude-0/-home-user-kaize/308b3d35-73c1-5b78-9aca-9bbdf27a9906/scratchpad/pptx/assets2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64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МУЗЫКА О ДРУЖБЕ</a:t>
            </a:r>
            <a:endParaRPr lang="en-US" sz="1600" dirty="0"/>
          </a:p>
        </p:txBody>
      </p:sp>
      <p:sp>
        <p:nvSpPr>
          <p:cNvPr id="4" name="title-65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бывает музыка о дружбе?</a:t>
            </a:r>
            <a:endParaRPr lang="en-US" sz="4000" dirty="0"/>
          </a:p>
        </p:txBody>
      </p:sp>
      <p:sp>
        <p:nvSpPr>
          <p:cNvPr id="5" name="card-66"/>
          <p:cNvSpPr/>
          <p:nvPr/>
        </p:nvSpPr>
        <p:spPr>
          <a:xfrm>
            <a:off x="762000" y="2413000"/>
            <a:ext cx="2476500" cy="2540000"/>
          </a:xfrm>
          <a:prstGeom prst="roundRect">
            <a:avLst>
              <a:gd name="adj" fmla="val 7692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01600" tIns="1714500" rIns="1016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Весёлая</a:t>
            </a:r>
            <a:endParaRPr lang="en-US" sz="3200" dirty="0"/>
          </a:p>
        </p:txBody>
      </p:sp>
      <p:sp>
        <p:nvSpPr>
          <p:cNvPr id="6" name="card-67"/>
          <p:cNvSpPr/>
          <p:nvPr/>
        </p:nvSpPr>
        <p:spPr>
          <a:xfrm>
            <a:off x="3492500" y="2413000"/>
            <a:ext cx="2476500" cy="2540000"/>
          </a:xfrm>
          <a:prstGeom prst="roundRect">
            <a:avLst>
              <a:gd name="adj" fmla="val 7692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01600" tIns="1714500" rIns="1016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Радостная</a:t>
            </a:r>
            <a:endParaRPr lang="en-US" sz="3200" dirty="0"/>
          </a:p>
        </p:txBody>
      </p:sp>
      <p:sp>
        <p:nvSpPr>
          <p:cNvPr id="7" name="card-68"/>
          <p:cNvSpPr/>
          <p:nvPr/>
        </p:nvSpPr>
        <p:spPr>
          <a:xfrm>
            <a:off x="6223000" y="2413000"/>
            <a:ext cx="2476500" cy="2540000"/>
          </a:xfrm>
          <a:prstGeom prst="roundRect">
            <a:avLst>
              <a:gd name="adj" fmla="val 7692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01600" tIns="1714500" rIns="1016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Бодрая</a:t>
            </a:r>
            <a:endParaRPr lang="en-US" sz="3200" dirty="0"/>
          </a:p>
        </p:txBody>
      </p:sp>
      <p:sp>
        <p:nvSpPr>
          <p:cNvPr id="8" name="card-69"/>
          <p:cNvSpPr/>
          <p:nvPr/>
        </p:nvSpPr>
        <p:spPr>
          <a:xfrm>
            <a:off x="8953500" y="2413000"/>
            <a:ext cx="2476500" cy="2540000"/>
          </a:xfrm>
          <a:prstGeom prst="roundRect">
            <a:avLst>
              <a:gd name="adj" fmla="val 7692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01600" tIns="1714500" rIns="101600" bIns="19050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Маршевая</a:t>
            </a:r>
            <a:endParaRPr lang="en-US" sz="3200" dirty="0"/>
          </a:p>
        </p:txBody>
      </p:sp>
      <p:pic>
        <p:nvPicPr>
          <p:cNvPr id="9" name="badge-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730500"/>
            <a:ext cx="1079500" cy="1079500"/>
          </a:xfrm>
          <a:prstGeom prst="rect">
            <a:avLst/>
          </a:prstGeom>
        </p:spPr>
      </p:pic>
      <p:pic>
        <p:nvPicPr>
          <p:cNvPr id="10" name="badge-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0" y="2730500"/>
            <a:ext cx="1079500" cy="1079500"/>
          </a:xfrm>
          <a:prstGeom prst="rect">
            <a:avLst/>
          </a:prstGeom>
        </p:spPr>
      </p:pic>
      <p:pic>
        <p:nvPicPr>
          <p:cNvPr id="11" name="badge-7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0" y="2730500"/>
            <a:ext cx="1079500" cy="1079500"/>
          </a:xfrm>
          <a:prstGeom prst="rect">
            <a:avLst/>
          </a:prstGeom>
        </p:spPr>
      </p:pic>
      <p:pic>
        <p:nvPicPr>
          <p:cNvPr id="12" name="badge-7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000" y="2730500"/>
            <a:ext cx="10795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74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75"/>
          <p:cNvSpPr txBox="1"/>
          <p:nvPr/>
        </p:nvSpPr>
        <p:spPr>
          <a:xfrm>
            <a:off x="762000" y="12700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</a:t>
            </a:r>
            <a:endParaRPr lang="en-US" sz="1600" dirty="0"/>
          </a:p>
        </p:txBody>
      </p:sp>
      <p:sp>
        <p:nvSpPr>
          <p:cNvPr id="4" name="title-76"/>
          <p:cNvSpPr txBox="1"/>
          <p:nvPr/>
        </p:nvSpPr>
        <p:spPr>
          <a:xfrm>
            <a:off x="762000" y="1587500"/>
            <a:ext cx="10668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Дружба — великая сила</a:t>
            </a:r>
            <a:endParaRPr lang="en-US" sz="6400" dirty="0"/>
          </a:p>
        </p:txBody>
      </p:sp>
      <p:sp>
        <p:nvSpPr>
          <p:cNvPr id="5" name="text-77"/>
          <p:cNvSpPr txBox="1"/>
          <p:nvPr/>
        </p:nvSpPr>
        <p:spPr>
          <a:xfrm>
            <a:off x="762000" y="2794000"/>
            <a:ext cx="1016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75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Песни о дружбе помогают нам почувствовать себя счастливыми. Они объединяют людей.</a:t>
            </a:r>
            <a:endParaRPr lang="en-US" sz="2750" dirty="0"/>
          </a:p>
        </p:txBody>
      </p:sp>
      <p:sp>
        <p:nvSpPr>
          <p:cNvPr id="6" name="card-78"/>
          <p:cNvSpPr/>
          <p:nvPr/>
        </p:nvSpPr>
        <p:spPr>
          <a:xfrm>
            <a:off x="762000" y="4064000"/>
            <a:ext cx="10668000" cy="127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97000" tIns="190500" rIns="304800" bIns="1905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 мы послушаем песню, которая стала гимном всех друзей</a:t>
            </a:r>
            <a:endParaRPr lang="en-US" sz="2600" dirty="0"/>
          </a:p>
        </p:txBody>
      </p:sp>
      <p:pic>
        <p:nvPicPr>
          <p:cNvPr id="7" name="badge-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0" y="4286250"/>
            <a:ext cx="8255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80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81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СЛУШАНИЕ</a:t>
            </a:r>
            <a:endParaRPr lang="en-US" sz="1600" dirty="0"/>
          </a:p>
        </p:txBody>
      </p:sp>
      <p:sp>
        <p:nvSpPr>
          <p:cNvPr id="4" name="title-82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создал эту песню?</a:t>
            </a:r>
            <a:endParaRPr lang="en-US" sz="4000" dirty="0"/>
          </a:p>
        </p:txBody>
      </p:sp>
      <p:pic>
        <p:nvPicPr>
          <p:cNvPr id="5" name="photo-83" descr="Чёрно-белая фотография: композитор Геннадий Гладков (слева) и поэт Юрий Энтин (справа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54200"/>
            <a:ext cx="4292600" cy="4292600"/>
          </a:xfrm>
          <a:prstGeom prst="rect">
            <a:avLst/>
          </a:prstGeom>
        </p:spPr>
      </p:pic>
      <p:sp>
        <p:nvSpPr>
          <p:cNvPr id="6" name="card-84"/>
          <p:cNvSpPr/>
          <p:nvPr/>
        </p:nvSpPr>
        <p:spPr>
          <a:xfrm>
            <a:off x="4826000" y="2159000"/>
            <a:ext cx="6604000" cy="17462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317500" tIns="165100" rIns="254000" bIns="165100" rtlCol="0" anchor="ctr"/>
          <a:lstStyle/>
          <a:p>
            <a:pPr algn="l" indent="0" marL="0">
              <a:lnSpc>
                <a:spcPct val="110000"/>
              </a:lnSpc>
              <a:spcAft>
                <a:spcPts val="410"/>
              </a:spcAft>
              <a:buNone/>
            </a:pPr>
            <a:r>
              <a:rPr lang="en-US" sz="1300" b="1" spc="246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СЛЕВА · МУЗЫКА</a:t>
            </a:r>
            <a:endParaRPr lang="en-US" sz="1300" dirty="0"/>
          </a:p>
          <a:p>
            <a:pPr algn="l" indent="0" marL="0">
              <a:lnSpc>
                <a:spcPct val="110000"/>
              </a:lnSpc>
              <a:spcAft>
                <a:spcPts val="410"/>
              </a:spcAft>
              <a:buNone/>
            </a:pPr>
            <a:r>
              <a:rPr lang="en-US" sz="29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Геннадий Гладков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Композитор, автор музыки ко многим мультфильмам</a:t>
            </a:r>
            <a:endParaRPr lang="en-US" sz="1300" dirty="0"/>
          </a:p>
        </p:txBody>
      </p:sp>
      <p:sp>
        <p:nvSpPr>
          <p:cNvPr id="7" name="card-85"/>
          <p:cNvSpPr/>
          <p:nvPr/>
        </p:nvSpPr>
        <p:spPr>
          <a:xfrm>
            <a:off x="4826000" y="4095750"/>
            <a:ext cx="6604000" cy="17462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317500" tIns="165100" rIns="254000" bIns="165100" rtlCol="0" anchor="ctr"/>
          <a:lstStyle/>
          <a:p>
            <a:pPr algn="l" indent="0" marL="0">
              <a:lnSpc>
                <a:spcPct val="110000"/>
              </a:lnSpc>
              <a:spcAft>
                <a:spcPts val="410"/>
              </a:spcAft>
              <a:buNone/>
            </a:pPr>
            <a:r>
              <a:rPr lang="en-US" sz="1300" b="1" spc="246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СПРАВА · СЛОВА</a:t>
            </a:r>
            <a:endParaRPr lang="en-US" sz="1300" dirty="0"/>
          </a:p>
          <a:p>
            <a:pPr algn="l" indent="0" marL="0">
              <a:lnSpc>
                <a:spcPct val="110000"/>
              </a:lnSpc>
              <a:spcAft>
                <a:spcPts val="410"/>
              </a:spcAft>
              <a:buNone/>
            </a:pPr>
            <a:r>
              <a:rPr lang="en-US" sz="29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Юрий Энтин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Поэт, автор слов песни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86" descr="/tmp/claude-0/-home-user-kaize/308b3d35-73c1-5b78-9aca-9bbdf27a9906/scratchpad/pptx/assets2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87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ПЕСНЯ</a:t>
            </a:r>
            <a:endParaRPr lang="en-US" sz="1600" dirty="0"/>
          </a:p>
        </p:txBody>
      </p:sp>
      <p:sp>
        <p:nvSpPr>
          <p:cNvPr id="4" name="title-88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«Ничего на свете лучше нету»</a:t>
            </a:r>
            <a:endParaRPr lang="en-US" sz="4000" dirty="0"/>
          </a:p>
        </p:txBody>
      </p:sp>
      <p:sp>
        <p:nvSpPr>
          <p:cNvPr id="5" name="credits-89"/>
          <p:cNvSpPr txBox="1"/>
          <p:nvPr/>
        </p:nvSpPr>
        <p:spPr>
          <a:xfrm>
            <a:off x="762000" y="22860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Музыка: </a:t>
            </a:r>
            <a:pPr algn="l" indent="0" marL="0">
              <a:lnSpc>
                <a:spcPct val="110000"/>
              </a:lnSpc>
              <a:spcAft>
                <a:spcPts val="602"/>
              </a:spcAft>
              <a:buNone/>
            </a:pPr>
            <a:r>
              <a:rPr lang="en-US" sz="2600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Геннадий Гладков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Слова: </a:t>
            </a:r>
            <a:pPr algn="l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Юрий Энтин</a:t>
            </a:r>
            <a:endParaRPr lang="en-US" sz="2600" dirty="0"/>
          </a:p>
        </p:txBody>
      </p:sp>
      <p:sp>
        <p:nvSpPr>
          <p:cNvPr id="6" name="text-90"/>
          <p:cNvSpPr txBox="1"/>
          <p:nvPr/>
        </p:nvSpPr>
        <p:spPr>
          <a:xfrm>
            <a:off x="762000" y="3492500"/>
            <a:ext cx="5334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500" dirty="0">
                <a:solidFill>
                  <a:srgbClr val="C9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мультфильма «Бременские музыканты». Его герои были бродячими артистами. Благодаря дружбе они нашли своё счастье.</a:t>
            </a:r>
            <a:endParaRPr lang="en-US" sz="2500" dirty="0"/>
          </a:p>
        </p:txBody>
      </p:sp>
      <p:pic>
        <p:nvPicPr>
          <p:cNvPr id="7" name="photo-91" descr="Повозка бродячих артистов едет по дороге среди холмов на рассвет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81200"/>
            <a:ext cx="5562600" cy="3911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92" descr="/tmp/claude-0/-home-user-kaize/308b3d35-73c1-5b78-9aca-9bbdf27a9906/scratchpad/pptx/assets2/bg-lis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badge-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1143000"/>
            <a:ext cx="1143000" cy="1143000"/>
          </a:xfrm>
          <a:prstGeom prst="rect">
            <a:avLst/>
          </a:prstGeom>
        </p:spPr>
      </p:pic>
      <p:sp>
        <p:nvSpPr>
          <p:cNvPr id="4" name="title-94"/>
          <p:cNvSpPr txBox="1"/>
          <p:nvPr/>
        </p:nvSpPr>
        <p:spPr>
          <a:xfrm>
            <a:off x="381000" y="2540000"/>
            <a:ext cx="11430000" cy="12700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25400" dir="5400000">
              <a:srgbClr val="05050A">
                <a:alpha val="8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Слушаем!</a:t>
            </a:r>
            <a:endParaRPr lang="en-US" sz="8200" dirty="0"/>
          </a:p>
        </p:txBody>
      </p:sp>
      <p:sp>
        <p:nvSpPr>
          <p:cNvPr id="5" name="text-95"/>
          <p:cNvSpPr txBox="1"/>
          <p:nvPr/>
        </p:nvSpPr>
        <p:spPr>
          <a:xfrm>
            <a:off x="381000" y="4000500"/>
            <a:ext cx="11430000" cy="5080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25400" dir="5400000">
              <a:srgbClr val="05050A">
                <a:alpha val="8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Представьте себя на месте бременских музыкантов</a:t>
            </a:r>
            <a:endParaRPr lang="en-US" sz="3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96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97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РАЗБИРАЕМ ПЕСНЮ</a:t>
            </a:r>
            <a:endParaRPr lang="en-US" sz="1600" dirty="0"/>
          </a:p>
        </p:txBody>
      </p:sp>
      <p:sp>
        <p:nvSpPr>
          <p:cNvPr id="4" name="title-98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Какая это музыка?</a:t>
            </a:r>
            <a:endParaRPr lang="en-US" sz="4000" dirty="0"/>
          </a:p>
        </p:txBody>
      </p:sp>
      <p:sp>
        <p:nvSpPr>
          <p:cNvPr id="5" name="card-99"/>
          <p:cNvSpPr/>
          <p:nvPr/>
        </p:nvSpPr>
        <p:spPr>
          <a:xfrm>
            <a:off x="762000" y="2095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Настроение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Какое настроение у музыки?</a:t>
            </a:r>
            <a:endParaRPr lang="en-US" sz="3000" dirty="0"/>
          </a:p>
        </p:txBody>
      </p:sp>
      <p:sp>
        <p:nvSpPr>
          <p:cNvPr id="6" name="card-100"/>
          <p:cNvSpPr/>
          <p:nvPr/>
        </p:nvSpPr>
        <p:spPr>
          <a:xfrm>
            <a:off x="6191250" y="2095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Быстро или медленно?</a:t>
            </a:r>
            <a:endParaRPr lang="en-US" sz="3000" dirty="0"/>
          </a:p>
        </p:txBody>
      </p:sp>
      <p:sp>
        <p:nvSpPr>
          <p:cNvPr id="7" name="card-101"/>
          <p:cNvSpPr/>
          <p:nvPr/>
        </p:nvSpPr>
        <p:spPr>
          <a:xfrm>
            <a:off x="762000" y="4000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Ритм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ритм у песни?</a:t>
            </a:r>
            <a:endParaRPr lang="en-US" sz="3000" dirty="0"/>
          </a:p>
        </p:txBody>
      </p:sp>
      <p:sp>
        <p:nvSpPr>
          <p:cNvPr id="8" name="card-102"/>
          <p:cNvSpPr/>
          <p:nvPr/>
        </p:nvSpPr>
        <p:spPr>
          <a:xfrm>
            <a:off x="6191250" y="4000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Характер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звучит музыка?</a:t>
            </a:r>
            <a:endParaRPr lang="en-US" sz="3000" dirty="0"/>
          </a:p>
        </p:txBody>
      </p:sp>
      <p:pic>
        <p:nvPicPr>
          <p:cNvPr id="9" name="badge-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540000"/>
            <a:ext cx="825500" cy="825500"/>
          </a:xfrm>
          <a:prstGeom prst="rect">
            <a:avLst/>
          </a:prstGeom>
        </p:spPr>
      </p:pic>
      <p:pic>
        <p:nvPicPr>
          <p:cNvPr id="10" name="badge-10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540000"/>
            <a:ext cx="825500" cy="825500"/>
          </a:xfrm>
          <a:prstGeom prst="rect">
            <a:avLst/>
          </a:prstGeom>
        </p:spPr>
      </p:pic>
      <p:pic>
        <p:nvPicPr>
          <p:cNvPr id="11" name="badge-10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4445000"/>
            <a:ext cx="825500" cy="825500"/>
          </a:xfrm>
          <a:prstGeom prst="rect">
            <a:avLst/>
          </a:prstGeom>
        </p:spPr>
      </p:pic>
      <p:pic>
        <p:nvPicPr>
          <p:cNvPr id="12" name="badge-10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4445000"/>
            <a:ext cx="8255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07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108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РАЗБИРАЕМ ПЕСНЮ</a:t>
            </a:r>
            <a:endParaRPr lang="en-US" sz="1600" dirty="0"/>
          </a:p>
        </p:txBody>
      </p:sp>
      <p:sp>
        <p:nvSpPr>
          <p:cNvPr id="4" name="title-109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Вот какая это музыка!</a:t>
            </a:r>
            <a:endParaRPr lang="en-US" sz="4000" dirty="0"/>
          </a:p>
        </p:txBody>
      </p:sp>
      <p:sp>
        <p:nvSpPr>
          <p:cNvPr id="5" name="card-110"/>
          <p:cNvSpPr/>
          <p:nvPr/>
        </p:nvSpPr>
        <p:spPr>
          <a:xfrm>
            <a:off x="762000" y="2095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Настроение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Радостное, бодрое, оптимистичное</a:t>
            </a:r>
            <a:endParaRPr lang="en-US" sz="3000" dirty="0"/>
          </a:p>
        </p:txBody>
      </p:sp>
      <p:sp>
        <p:nvSpPr>
          <p:cNvPr id="6" name="card-111"/>
          <p:cNvSpPr/>
          <p:nvPr/>
        </p:nvSpPr>
        <p:spPr>
          <a:xfrm>
            <a:off x="6191250" y="2095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Подвижный, энергичный</a:t>
            </a:r>
            <a:endParaRPr lang="en-US" sz="3000" dirty="0"/>
          </a:p>
        </p:txBody>
      </p:sp>
      <p:sp>
        <p:nvSpPr>
          <p:cNvPr id="7" name="card-112"/>
          <p:cNvSpPr/>
          <p:nvPr/>
        </p:nvSpPr>
        <p:spPr>
          <a:xfrm>
            <a:off x="762000" y="4000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Ритм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Чёткий, маршевый</a:t>
            </a:r>
            <a:endParaRPr lang="en-US" sz="3000" dirty="0"/>
          </a:p>
        </p:txBody>
      </p:sp>
      <p:sp>
        <p:nvSpPr>
          <p:cNvPr id="8" name="card-113"/>
          <p:cNvSpPr/>
          <p:nvPr/>
        </p:nvSpPr>
        <p:spPr>
          <a:xfrm>
            <a:off x="6191250" y="4000500"/>
            <a:ext cx="5238750" cy="17145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01750" tIns="190500" rIns="254000" bIns="190500" rtlCol="0" anchor="ctr"/>
          <a:lstStyle/>
          <a:p>
            <a:pPr algn="l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Характер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4A4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Уверенный и дружелюбный</a:t>
            </a:r>
            <a:endParaRPr lang="en-US" sz="3000" dirty="0"/>
          </a:p>
        </p:txBody>
      </p:sp>
      <p:pic>
        <p:nvPicPr>
          <p:cNvPr id="9" name="badge-1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540000"/>
            <a:ext cx="825500" cy="825500"/>
          </a:xfrm>
          <a:prstGeom prst="rect">
            <a:avLst/>
          </a:prstGeom>
        </p:spPr>
      </p:pic>
      <p:pic>
        <p:nvPicPr>
          <p:cNvPr id="10" name="badge-1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540000"/>
            <a:ext cx="825500" cy="825500"/>
          </a:xfrm>
          <a:prstGeom prst="rect">
            <a:avLst/>
          </a:prstGeom>
        </p:spPr>
      </p:pic>
      <p:pic>
        <p:nvPicPr>
          <p:cNvPr id="11" name="badge-1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4445000"/>
            <a:ext cx="825500" cy="825500"/>
          </a:xfrm>
          <a:prstGeom prst="rect">
            <a:avLst/>
          </a:prstGeom>
        </p:spPr>
      </p:pic>
      <p:pic>
        <p:nvPicPr>
          <p:cNvPr id="12" name="badge-1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4445000"/>
            <a:ext cx="8255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18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119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1600" dirty="0"/>
          </a:p>
        </p:txBody>
      </p:sp>
      <p:sp>
        <p:nvSpPr>
          <p:cNvPr id="4" name="title-120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чём поётся в песне?</a:t>
            </a:r>
            <a:endParaRPr lang="en-US" sz="4000" dirty="0"/>
          </a:p>
        </p:txBody>
      </p:sp>
      <p:sp>
        <p:nvSpPr>
          <p:cNvPr id="5" name="card-121"/>
          <p:cNvSpPr/>
          <p:nvPr/>
        </p:nvSpPr>
        <p:spPr>
          <a:xfrm>
            <a:off x="762000" y="2095500"/>
            <a:ext cx="5238750" cy="36195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381000" tIns="1524000" rIns="381000" bIns="25400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ничего лучше, чем путешествовать по свету вместе с друзьями</a:t>
            </a:r>
            <a:endParaRPr lang="en-US" sz="2650" dirty="0"/>
          </a:p>
        </p:txBody>
      </p:sp>
      <p:sp>
        <p:nvSpPr>
          <p:cNvPr id="6" name="card-122"/>
          <p:cNvSpPr/>
          <p:nvPr/>
        </p:nvSpPr>
        <p:spPr>
          <a:xfrm>
            <a:off x="6191250" y="2095500"/>
            <a:ext cx="5238750" cy="36195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381000" tIns="1524000" rIns="381000" bIns="25400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рядом друзья, ничего не страшно</a:t>
            </a:r>
            <a:endParaRPr lang="en-US" sz="2650" dirty="0"/>
          </a:p>
        </p:txBody>
      </p:sp>
      <p:pic>
        <p:nvPicPr>
          <p:cNvPr id="7" name="badge-12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44750"/>
            <a:ext cx="952500" cy="952500"/>
          </a:xfrm>
          <a:prstGeom prst="rect">
            <a:avLst/>
          </a:prstGeom>
        </p:spPr>
      </p:pic>
      <p:pic>
        <p:nvPicPr>
          <p:cNvPr id="8" name="badge-1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2444750"/>
            <a:ext cx="952500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25" descr="/tmp/claude-0/-home-user-kaize/308b3d35-73c1-5b78-9aca-9bbdf27a9906/scratchpad/pptx/assets2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126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СЛУШАЕМ ЕЩЁ РАЗ</a:t>
            </a:r>
            <a:endParaRPr lang="en-US" sz="1600" dirty="0"/>
          </a:p>
        </p:txBody>
      </p:sp>
      <p:sp>
        <p:nvSpPr>
          <p:cNvPr id="4" name="title-127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Поём припев вместе!</a:t>
            </a:r>
            <a:endParaRPr lang="en-US" sz="4000" dirty="0"/>
          </a:p>
        </p:txBody>
      </p:sp>
      <p:sp>
        <p:nvSpPr>
          <p:cNvPr id="5" name="chorus-128"/>
          <p:cNvSpPr/>
          <p:nvPr/>
        </p:nvSpPr>
        <p:spPr>
          <a:xfrm>
            <a:off x="762000" y="2095500"/>
            <a:ext cx="10668000" cy="2159000"/>
          </a:xfrm>
          <a:prstGeom prst="roundRect">
            <a:avLst>
              <a:gd name="adj" fmla="val 8824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524000" tIns="190500" rIns="317500" bIns="19050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200" b="1" i="1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«Ничего на свете лучше нету,</a:t>
            </a:r>
            <a:endParaRPr lang="en-US" sz="3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3200" b="1" i="1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бродить друзьям по белу свету…»</a:t>
            </a:r>
            <a:endParaRPr lang="en-US" sz="3200" dirty="0"/>
          </a:p>
        </p:txBody>
      </p:sp>
      <p:pic>
        <p:nvPicPr>
          <p:cNvPr id="6" name="badge-1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762250"/>
            <a:ext cx="825500" cy="825500"/>
          </a:xfrm>
          <a:prstGeom prst="rect">
            <a:avLst/>
          </a:prstGeom>
        </p:spPr>
      </p:pic>
      <p:sp>
        <p:nvSpPr>
          <p:cNvPr id="7" name="card-130"/>
          <p:cNvSpPr/>
          <p:nvPr/>
        </p:nvSpPr>
        <p:spPr>
          <a:xfrm>
            <a:off x="762000" y="4508500"/>
            <a:ext cx="5238750" cy="1079500"/>
          </a:xfrm>
          <a:prstGeom prst="roundRect">
            <a:avLst>
              <a:gd name="adj" fmla="val 17647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143000" tIns="127000" rIns="254000" bIns="1270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5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Хлопаем в такт</a:t>
            </a:r>
            <a:endParaRPr lang="en-US" sz="2450" dirty="0"/>
          </a:p>
        </p:txBody>
      </p:sp>
      <p:sp>
        <p:nvSpPr>
          <p:cNvPr id="8" name="card-131"/>
          <p:cNvSpPr/>
          <p:nvPr/>
        </p:nvSpPr>
        <p:spPr>
          <a:xfrm>
            <a:off x="6191250" y="4508500"/>
            <a:ext cx="5238750" cy="1079500"/>
          </a:xfrm>
          <a:prstGeom prst="roundRect">
            <a:avLst>
              <a:gd name="adj" fmla="val 17647"/>
            </a:avLst>
          </a:prstGeom>
          <a:solidFill>
            <a:srgbClr val="2A3470"/>
          </a:solidFill>
          <a:ln w="19050">
            <a:solidFill>
              <a:srgbClr val="46529A"/>
            </a:solidFill>
          </a:ln>
        </p:spPr>
        <p:txBody>
          <a:bodyPr wrap="square" lIns="1143000" tIns="127000" rIns="254000" bIns="1270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5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Маршируем под музыку</a:t>
            </a:r>
            <a:endParaRPr lang="en-US" sz="2450" dirty="0"/>
          </a:p>
        </p:txBody>
      </p:sp>
      <p:pic>
        <p:nvPicPr>
          <p:cNvPr id="9" name="badge-13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4730750"/>
            <a:ext cx="635000" cy="635000"/>
          </a:xfrm>
          <a:prstGeom prst="rect">
            <a:avLst/>
          </a:prstGeom>
        </p:spPr>
      </p:pic>
      <p:pic>
        <p:nvPicPr>
          <p:cNvPr id="10" name="badge-13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4730750"/>
            <a:ext cx="635000" cy="635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34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135"/>
          <p:cNvSpPr txBox="1"/>
          <p:nvPr/>
        </p:nvSpPr>
        <p:spPr>
          <a:xfrm>
            <a:off x="762000" y="13970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МЫСЛЬ</a:t>
            </a:r>
            <a:endParaRPr lang="en-US" sz="1600" dirty="0"/>
          </a:p>
        </p:txBody>
      </p:sp>
      <p:sp>
        <p:nvSpPr>
          <p:cNvPr id="4" name="title-136"/>
          <p:cNvSpPr txBox="1"/>
          <p:nvPr/>
        </p:nvSpPr>
        <p:spPr>
          <a:xfrm>
            <a:off x="762000" y="1714500"/>
            <a:ext cx="10668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Ради настоящей дружбы и общей мечты</a:t>
            </a:r>
            <a:endParaRPr lang="en-US" sz="3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преодолеть любые преграды</a:t>
            </a:r>
            <a:endParaRPr lang="en-US" sz="3850" dirty="0"/>
          </a:p>
        </p:txBody>
      </p:sp>
      <p:sp>
        <p:nvSpPr>
          <p:cNvPr id="5" name="card-137"/>
          <p:cNvSpPr/>
          <p:nvPr/>
        </p:nvSpPr>
        <p:spPr>
          <a:xfrm>
            <a:off x="762000" y="3937000"/>
            <a:ext cx="10668000" cy="127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397000" tIns="190500" rIns="304800" bIns="1905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Никакие сокровища мира не заменят верного друга</a:t>
            </a:r>
            <a:endParaRPr lang="en-US" sz="2600" dirty="0"/>
          </a:p>
        </p:txBody>
      </p:sp>
      <p:pic>
        <p:nvPicPr>
          <p:cNvPr id="6" name="badge-1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0" y="4159250"/>
            <a:ext cx="8255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39" descr="/tmp/claude-0/-home-user-kaize/308b3d35-73c1-5b78-9aca-9bbdf27a9906/scratchpad/pptx/assets2/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yebrow-140"/>
          <p:cNvSpPr txBox="1"/>
          <p:nvPr/>
        </p:nvSpPr>
        <p:spPr>
          <a:xfrm>
            <a:off x="762000" y="698500"/>
            <a:ext cx="1066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5A4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ПОДВЕДЁМ ИТОГИ</a:t>
            </a:r>
            <a:endParaRPr lang="en-US" sz="1600" dirty="0"/>
          </a:p>
        </p:txBody>
      </p:sp>
      <p:sp>
        <p:nvSpPr>
          <p:cNvPr id="4" name="title-141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Вспомним наш урок</a:t>
            </a:r>
            <a:endParaRPr lang="en-US" sz="4000" dirty="0"/>
          </a:p>
        </p:txBody>
      </p:sp>
      <p:sp>
        <p:nvSpPr>
          <p:cNvPr id="5" name="card-142"/>
          <p:cNvSpPr/>
          <p:nvPr/>
        </p:nvSpPr>
        <p:spPr>
          <a:xfrm>
            <a:off x="762000" y="2095500"/>
            <a:ext cx="10668000" cy="11112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270000" tIns="127000" rIns="304800" bIns="1270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каким произведением мы сегодня познакомились?</a:t>
            </a:r>
            <a:endParaRPr lang="en-US" sz="2500" dirty="0"/>
          </a:p>
        </p:txBody>
      </p:sp>
      <p:sp>
        <p:nvSpPr>
          <p:cNvPr id="6" name="card-143"/>
          <p:cNvSpPr/>
          <p:nvPr/>
        </p:nvSpPr>
        <p:spPr>
          <a:xfrm>
            <a:off x="762000" y="3365500"/>
            <a:ext cx="10668000" cy="11112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270000" tIns="127000" rIns="304800" bIns="1270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его написал?</a:t>
            </a:r>
            <a:endParaRPr lang="en-US" sz="2500" dirty="0"/>
          </a:p>
        </p:txBody>
      </p:sp>
      <p:sp>
        <p:nvSpPr>
          <p:cNvPr id="7" name="card-144"/>
          <p:cNvSpPr/>
          <p:nvPr/>
        </p:nvSpPr>
        <p:spPr>
          <a:xfrm>
            <a:off x="762000" y="4635500"/>
            <a:ext cx="10668000" cy="11112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DCD6EE"/>
            </a:solidFill>
          </a:ln>
        </p:spPr>
        <p:txBody>
          <a:bodyPr wrap="square" lIns="1270000" tIns="127000" rIns="304800" bIns="1270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главную мысль передаёт эта песня?</a:t>
            </a:r>
            <a:endParaRPr lang="en-US" sz="2500" dirty="0"/>
          </a:p>
        </p:txBody>
      </p:sp>
      <p:sp>
        <p:nvSpPr>
          <p:cNvPr id="8" name="number-145"/>
          <p:cNvSpPr/>
          <p:nvPr/>
        </p:nvSpPr>
        <p:spPr>
          <a:xfrm>
            <a:off x="1079500" y="2286000"/>
            <a:ext cx="730250" cy="730250"/>
          </a:xfrm>
          <a:prstGeom prst="ellipse">
            <a:avLst/>
          </a:prstGeom>
          <a:solidFill>
            <a:srgbClr val="5A4B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number-146"/>
          <p:cNvSpPr/>
          <p:nvPr/>
        </p:nvSpPr>
        <p:spPr>
          <a:xfrm>
            <a:off x="1079500" y="3556000"/>
            <a:ext cx="730250" cy="730250"/>
          </a:xfrm>
          <a:prstGeom prst="ellipse">
            <a:avLst/>
          </a:prstGeom>
          <a:solidFill>
            <a:srgbClr val="5A4B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number-147"/>
          <p:cNvSpPr/>
          <p:nvPr/>
        </p:nvSpPr>
        <p:spPr>
          <a:xfrm>
            <a:off x="1079500" y="4826000"/>
            <a:ext cx="730250" cy="730250"/>
          </a:xfrm>
          <a:prstGeom prst="ellipse">
            <a:avLst/>
          </a:prstGeom>
          <a:solidFill>
            <a:srgbClr val="5A4B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B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48" descr="/tmp/claude-0/-home-user-kaize/308b3d35-73c1-5b78-9aca-9bbdf27a9906/scratchpad/pptx/assets2/bg-go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hoto-149" descr="Открытый сундук, из которого льётся золотой свет, вылетают ноты и сердечк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7700"/>
            <a:ext cx="5562600" cy="5562600"/>
          </a:xfrm>
          <a:prstGeom prst="rect">
            <a:avLst/>
          </a:prstGeom>
        </p:spPr>
      </p:pic>
      <p:sp>
        <p:nvSpPr>
          <p:cNvPr id="4" name="eyebrow-150"/>
          <p:cNvSpPr txBox="1"/>
          <p:nvPr/>
        </p:nvSpPr>
        <p:spPr>
          <a:xfrm>
            <a:off x="6223000" y="1270000"/>
            <a:ext cx="5207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РЕФЛЕКСИЯ</a:t>
            </a:r>
            <a:endParaRPr lang="en-US" sz="1600" dirty="0"/>
          </a:p>
        </p:txBody>
      </p:sp>
      <p:sp>
        <p:nvSpPr>
          <p:cNvPr id="5" name="title-151"/>
          <p:cNvSpPr txBox="1"/>
          <p:nvPr/>
        </p:nvSpPr>
        <p:spPr>
          <a:xfrm>
            <a:off x="6223000" y="1587500"/>
            <a:ext cx="5207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Каким сокровищем</a:t>
            </a:r>
            <a:endParaRPr lang="en-US" sz="4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оказались герои</a:t>
            </a:r>
            <a:endParaRPr lang="en-US" sz="4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50" b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сундука?</a:t>
            </a:r>
            <a:endParaRPr lang="en-US" sz="4050" dirty="0"/>
          </a:p>
        </p:txBody>
      </p:sp>
      <p:sp>
        <p:nvSpPr>
          <p:cNvPr id="6" name="answer-152"/>
          <p:cNvSpPr txBox="1"/>
          <p:nvPr/>
        </p:nvSpPr>
        <p:spPr>
          <a:xfrm>
            <a:off x="6223000" y="4318000"/>
            <a:ext cx="5207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50" b="1" i="1" dirty="0">
                <a:solidFill>
                  <a:srgbClr val="1E2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Дружбой!</a:t>
            </a:r>
            <a:endParaRPr lang="en-US" sz="8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153" descr="/tmp/claude-0/-home-user-kaize/308b3d35-73c1-5b78-9aca-9bbdf27a9906/scratchpad/pptx/assets2/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hoto-154" descr="Радостные дети в солнечном классе поднимают руки ввер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647700"/>
            <a:ext cx="5562600" cy="5562600"/>
          </a:xfrm>
          <a:prstGeom prst="rect">
            <a:avLst/>
          </a:prstGeom>
        </p:spPr>
      </p:pic>
      <p:sp>
        <p:nvSpPr>
          <p:cNvPr id="4" name="eyebrow-155"/>
          <p:cNvSpPr txBox="1"/>
          <p:nvPr/>
        </p:nvSpPr>
        <p:spPr>
          <a:xfrm>
            <a:off x="762000" y="1270000"/>
            <a:ext cx="533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НАСТРОЕНИЕ</a:t>
            </a:r>
            <a:endParaRPr lang="en-US" sz="1600" dirty="0"/>
          </a:p>
        </p:txBody>
      </p:sp>
      <p:sp>
        <p:nvSpPr>
          <p:cNvPr id="5" name="title-156"/>
          <p:cNvSpPr txBox="1"/>
          <p:nvPr/>
        </p:nvSpPr>
        <p:spPr>
          <a:xfrm>
            <a:off x="762000" y="1587500"/>
            <a:ext cx="533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45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Кому эта песня</a:t>
            </a:r>
            <a:endParaRPr lang="en-US" sz="44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450" b="1" dirty="0">
                <a:solidFill>
                  <a:srgbClr val="F6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подняла настроение?</a:t>
            </a:r>
            <a:endParaRPr lang="en-US" sz="4450" dirty="0"/>
          </a:p>
        </p:txBody>
      </p:sp>
      <p:sp>
        <p:nvSpPr>
          <p:cNvPr id="6" name="text-157"/>
          <p:cNvSpPr txBox="1"/>
          <p:nvPr/>
        </p:nvSpPr>
        <p:spPr>
          <a:xfrm>
            <a:off x="762000" y="4064000"/>
            <a:ext cx="533400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550" b="1" dirty="0">
                <a:solidFill>
                  <a:srgbClr val="C9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Поднимите руки!</a:t>
            </a:r>
            <a:endParaRPr lang="en-US" sz="3550" dirty="0"/>
          </a:p>
        </p:txBody>
      </p:sp>
      <p:sp>
        <p:nvSpPr>
          <p:cNvPr id="7" name="text-158"/>
          <p:cNvSpPr txBox="1"/>
          <p:nvPr/>
        </p:nvSpPr>
        <p:spPr>
          <a:xfrm>
            <a:off x="762000" y="4762500"/>
            <a:ext cx="533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500" b="1" i="1" dirty="0">
                <a:solidFill>
                  <a:srgbClr val="F4B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урок!</a:t>
            </a:r>
            <a:endParaRPr lang="en-US" sz="4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Песни о дружбе">
  <a:themeElements>
    <a:clrScheme name="Песни о дружбе">
      <a:dk1>
        <a:srgbClr val="1E2756"/>
      </a:dk1>
      <a:lt1>
        <a:srgbClr val="F6F3FB"/>
      </a:lt1>
      <a:dk2>
        <a:srgbClr val="4A4F6E"/>
      </a:dk2>
      <a:lt2>
        <a:srgbClr val="FFFFFF"/>
      </a:lt2>
      <a:accent1>
        <a:srgbClr val="5A4BD1"/>
      </a:accent1>
      <a:accent2>
        <a:srgbClr val="F4B740"/>
      </a:accent2>
      <a:accent3>
        <a:srgbClr val="C9CCE8"/>
      </a:accent3>
      <a:accent4>
        <a:srgbClr val="2A3470"/>
      </a:accent4>
      <a:accent5>
        <a:srgbClr val="DCD6EE"/>
      </a:accent5>
      <a:accent6>
        <a:srgbClr val="46529A"/>
      </a:accent6>
      <a:hlink>
        <a:srgbClr val="5A4BD1"/>
      </a:hlink>
      <a:folHlink>
        <a:srgbClr val="46529A"/>
      </a:folHlink>
    </a:clrScheme>
    <a:fontScheme name="Песни о дружбе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Песни о дружбе</dc:title>
  <dc:subject>Урок музыки</dc:subject>
  <dc:creator>PptxGenJS</dc:creator>
  <cp:lastModifiedBy>PptxGenJS</cp:lastModifiedBy>
  <cp:revision>1</cp:revision>
  <dcterms:created xsi:type="dcterms:W3CDTF">2026-10-27T07:50:38Z</dcterms:created>
  <dcterms:modified xsi:type="dcterms:W3CDTF">2026-10-27T07:50:38Z</dcterms:modified>
</cp:coreProperties>
</file>