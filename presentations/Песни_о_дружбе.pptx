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Целеполагание" id="{d054e628-f866-a8e8-64a7-2c1ab5b9531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Объяснение темы" id="{90eb9576-8cc7-e435-b6cf-50a71064eea3}">
          <p14:sldIdLst>
            <p14:sldId id="263"/>
            <p14:sldId id="264"/>
            <p14:sldId id="265"/>
            <p14:sldId id="266"/>
          </p14:sldIdLst>
        </p14:section>
        <p14:section name="Слушание" id="{1da7cca6-aa1a-e10c-29ed-882c109e1cc3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Подведение итогов" id="{816385f0-78b4-045f-6e78-a06a728facc3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Сюрпризный момент. Учитель входит в класс с красивым сундучком в руках. Тему урока на этом слайде не называем: дети определят её сами чуть позже.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«Ребята, сегодня по дороге в школу я нашла этот сундук. На нём надпись: “Здесь хранится самое главное сокровище в жизни каждого человека”. Как вы думаете, что там?»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Дети предлагают свои варианты: золото, деньги, игрушки. Выслушайте все версии, не подсказывайте.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Учитель открывает сундук, а там картинки (или разрезанная картинка) с героями мультфильма «Бременские музыканты»: Трубадур, Осёл, Пёс, Кот, Петух держатся за руки.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Подводим детей к ответу: героев объединяет дружба. Пусть дети сами произнесут это слово.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«Глядя на этих весёлых героев и их сокровище, как вы думаете, о чём мы сегодня будем говорить на уроке и какие песни слушать?» Показываем слайд после ответа детей: о дружбе, о друзьях.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«А какую цель мы поставим на сегодняшний урок? Что мы должны узнать и чему научиться?» Сначала выслушайте ответы детей, потом покажите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Актуализация знаний: «Ребята, а что такое дружба?» Выслушайте несколько ответов.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«Какими качествами должен обладать настоящий друг?» Ожидаемые ответы: доброта, верность, отзывчивость, умение прийти на помощь.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«А какая музыка, по-вашему, подходит для песен о дружбе?» Ожидаемые ответы: весёлая, радостная, бодрая, маршевая.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«Верно, дружба — это великая сила. Песни о дружбе помогают нам почувствовать себя счастливыми, они объединяют людей. Сегодня мы послушаем знаменитую песню, которая стала гимном всех друзей».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«Посмотрите на портрет. Это замечательный композитор Геннадий Гладков. Он написал музыку для многих известных мультфильмов. А слова к песне написал поэт Юрий Энтин». На фото слева Гладков, справа Энтин.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Запишите на доске: музыка Геннадия Гладкова, слова Юрия Энтина. Кратко напомните сюжет: «Бременские музыканты» — это бродячие артисты, которые благодаря дружбе нашли своё счастье.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Первичное прослушивание песни «Ничего на свете лучше нету» в аудио- или видеозаписи. Лучше показать фрагмент мультфильма, чтобы дети прочувствовали образ.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Вопросы после первого прослушивания. Сначала дети отвечают сами, ответы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Обобщите ответы детей: настроение радостное, приподнятое, бодрое; темп подвижный; ритм чёткий, маршевый; музыка звучит уверенно и дружелюбно.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«О чём поётся в песне?» Ожидаемые ответы: о том, что лучше нету, чем бродить друзьям по белу свету; что дружба помогает не бояться ничего.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«Давайте послушаем песню ещё раз. А теперь я попрошу вас подпевать припев». Можно предложить детям маршировать под музыку или хлопать в такт, почувствовав её ритм.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«Эта песня учит нас тому, что ради настоящей дружбы и общей мечты можно преодолеть любые преграды, никакие сокровища мира не заменят верного друга».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Беседа: «С каким произведением мы сегодня познакомились? Кто его написал? Какую главную мысль передаёт эта песня?»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«Каким сокровищем оказались герои из сундука в начале урока?» Пусть дети ответят сами: дружбой.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«Ребята, поднимите руки, кому эта песня подняла настроение?»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ARK_BLANK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GOLD_BLAN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LD_BLAN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"/>
          <p:cNvSpPr txBox="1"/>
          <p:nvPr/>
        </p:nvSpPr>
        <p:spPr>
          <a:xfrm>
            <a:off x="812800" y="1905000"/>
            <a:ext cx="5130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УРОК МУЗЫКИ</a:t>
            </a:r>
            <a:endParaRPr lang="en-US" sz="1600" dirty="0"/>
          </a:p>
        </p:txBody>
      </p:sp>
      <p:sp>
        <p:nvSpPr>
          <p:cNvPr id="3" name="cover-title-2"/>
          <p:cNvSpPr txBox="1"/>
          <p:nvPr/>
        </p:nvSpPr>
        <p:spPr>
          <a:xfrm>
            <a:off x="812800" y="2286000"/>
            <a:ext cx="5130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Загадочный сундук</a:t>
            </a:r>
            <a:endParaRPr lang="en-US" sz="5400" dirty="0"/>
          </a:p>
        </p:txBody>
      </p:sp>
      <p:sp>
        <p:nvSpPr>
          <p:cNvPr id="4" name="text-3"/>
          <p:cNvSpPr txBox="1"/>
          <p:nvPr/>
        </p:nvSpPr>
        <p:spPr>
          <a:xfrm>
            <a:off x="812800" y="4254500"/>
            <a:ext cx="5130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Что же в нём спрятано?</a:t>
            </a:r>
            <a:endParaRPr lang="en-US" sz="3600" dirty="0"/>
          </a:p>
        </p:txBody>
      </p:sp>
      <p:sp>
        <p:nvSpPr>
          <p:cNvPr id="5" name="photo-shadow-4"/>
          <p:cNvSpPr/>
          <p:nvPr/>
        </p:nvSpPr>
        <p:spPr>
          <a:xfrm>
            <a:off x="6553200" y="1016000"/>
            <a:ext cx="4826000" cy="4826000"/>
          </a:xfrm>
          <a:prstGeom prst="roundRect">
            <a:avLst>
              <a:gd name="adj" fmla="val 3684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27000" dir="5400000">
              <a:srgbClr val="080A1E">
                <a:alpha val="35000"/>
              </a:srgbClr>
            </a:outerShdw>
          </a:effectLst>
        </p:spPr>
      </p:sp>
      <p:pic>
        <p:nvPicPr>
          <p:cNvPr id="6" name="photo-5" descr="Закрытый деревянный сундук с золотыми уголками светится на школьной пар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1016000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shadow-6"/>
          <p:cNvSpPr/>
          <p:nvPr/>
        </p:nvSpPr>
        <p:spPr>
          <a:xfrm>
            <a:off x="812800" y="939800"/>
            <a:ext cx="4978400" cy="49784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04800" dist="127000" dir="5400000">
              <a:srgbClr val="1E2756">
                <a:alpha val="35000"/>
              </a:srgbClr>
            </a:outerShdw>
          </a:effectLst>
        </p:spPr>
      </p:sp>
      <p:pic>
        <p:nvPicPr>
          <p:cNvPr id="3" name="photo-7" descr="Закрытый деревянный сундук с золотыми уголками светится на школьной пар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939800"/>
            <a:ext cx="4978400" cy="4978400"/>
          </a:xfrm>
          <a:prstGeom prst="rect">
            <a:avLst/>
          </a:prstGeom>
        </p:spPr>
      </p:pic>
      <p:sp>
        <p:nvSpPr>
          <p:cNvPr id="4" name="eyebrow-8"/>
          <p:cNvSpPr txBox="1"/>
          <p:nvPr/>
        </p:nvSpPr>
        <p:spPr>
          <a:xfrm>
            <a:off x="6400800" y="1460500"/>
            <a:ext cx="4978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НАДПИСЬ НА СУНДУКЕ</a:t>
            </a:r>
            <a:endParaRPr lang="en-US" sz="1600" dirty="0"/>
          </a:p>
        </p:txBody>
      </p:sp>
      <p:sp>
        <p:nvSpPr>
          <p:cNvPr id="5" name="text-9"/>
          <p:cNvSpPr txBox="1"/>
          <p:nvPr/>
        </p:nvSpPr>
        <p:spPr>
          <a:xfrm>
            <a:off x="6400800" y="1841500"/>
            <a:ext cx="49784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«Здесь хранится самое главное сокровище в жизни каждого человека»</a:t>
            </a:r>
            <a:endParaRPr lang="en-US" sz="3600" dirty="0"/>
          </a:p>
        </p:txBody>
      </p:sp>
      <p:sp>
        <p:nvSpPr>
          <p:cNvPr id="6" name="text-10"/>
          <p:cNvSpPr txBox="1"/>
          <p:nvPr/>
        </p:nvSpPr>
        <p:spPr>
          <a:xfrm>
            <a:off x="6400800" y="4826000"/>
            <a:ext cx="4978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Как вы думаете, что там?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1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ВАШИ ВЕРСИИ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может лежать в сундуке?</a:t>
            </a:r>
            <a:endParaRPr lang="en-US" sz="3600" dirty="0"/>
          </a:p>
        </p:txBody>
      </p:sp>
      <p:sp>
        <p:nvSpPr>
          <p:cNvPr id="4" name="card-12"/>
          <p:cNvSpPr/>
          <p:nvPr/>
        </p:nvSpPr>
        <p:spPr>
          <a:xfrm>
            <a:off x="812800" y="2413000"/>
            <a:ext cx="3384550" cy="27940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badge-13"/>
          <p:cNvSpPr/>
          <p:nvPr/>
        </p:nvSpPr>
        <p:spPr>
          <a:xfrm>
            <a:off x="1993900" y="2794000"/>
            <a:ext cx="1016000" cy="1016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580" y="3027680"/>
            <a:ext cx="548640" cy="548640"/>
          </a:xfrm>
          <a:prstGeom prst="rect">
            <a:avLst/>
          </a:prstGeom>
        </p:spPr>
      </p:pic>
      <p:sp>
        <p:nvSpPr>
          <p:cNvPr id="7" name="text-15"/>
          <p:cNvSpPr txBox="1"/>
          <p:nvPr/>
        </p:nvSpPr>
        <p:spPr>
          <a:xfrm>
            <a:off x="965200" y="4127500"/>
            <a:ext cx="307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Золото?</a:t>
            </a:r>
            <a:endParaRPr lang="en-US" sz="3600" dirty="0"/>
          </a:p>
        </p:txBody>
      </p:sp>
      <p:sp>
        <p:nvSpPr>
          <p:cNvPr id="8" name="card-16"/>
          <p:cNvSpPr/>
          <p:nvPr/>
        </p:nvSpPr>
        <p:spPr>
          <a:xfrm>
            <a:off x="4400550" y="2413000"/>
            <a:ext cx="3384550" cy="27940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badge-17"/>
          <p:cNvSpPr/>
          <p:nvPr/>
        </p:nvSpPr>
        <p:spPr>
          <a:xfrm>
            <a:off x="5581650" y="2794000"/>
            <a:ext cx="1016000" cy="1016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330" y="3027680"/>
            <a:ext cx="548640" cy="548640"/>
          </a:xfrm>
          <a:prstGeom prst="rect">
            <a:avLst/>
          </a:prstGeom>
        </p:spPr>
      </p:pic>
      <p:sp>
        <p:nvSpPr>
          <p:cNvPr id="11" name="text-19"/>
          <p:cNvSpPr txBox="1"/>
          <p:nvPr/>
        </p:nvSpPr>
        <p:spPr>
          <a:xfrm>
            <a:off x="4552950" y="4127500"/>
            <a:ext cx="307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Деньги?</a:t>
            </a:r>
            <a:endParaRPr lang="en-US" sz="3600" dirty="0"/>
          </a:p>
        </p:txBody>
      </p:sp>
      <p:sp>
        <p:nvSpPr>
          <p:cNvPr id="12" name="card-20"/>
          <p:cNvSpPr/>
          <p:nvPr/>
        </p:nvSpPr>
        <p:spPr>
          <a:xfrm>
            <a:off x="7988300" y="2413000"/>
            <a:ext cx="3384550" cy="27940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badge-21"/>
          <p:cNvSpPr/>
          <p:nvPr/>
        </p:nvSpPr>
        <p:spPr>
          <a:xfrm>
            <a:off x="9169400" y="2794000"/>
            <a:ext cx="1016000" cy="1016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080" y="3027680"/>
            <a:ext cx="548640" cy="548640"/>
          </a:xfrm>
          <a:prstGeom prst="rect">
            <a:avLst/>
          </a:prstGeom>
        </p:spPr>
      </p:pic>
      <p:sp>
        <p:nvSpPr>
          <p:cNvPr id="15" name="text-23"/>
          <p:cNvSpPr txBox="1"/>
          <p:nvPr/>
        </p:nvSpPr>
        <p:spPr>
          <a:xfrm>
            <a:off x="8140700" y="4127500"/>
            <a:ext cx="307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Игрушки?</a:t>
            </a:r>
            <a:endParaRPr lang="en-US" sz="3600" dirty="0"/>
          </a:p>
        </p:txBody>
      </p:sp>
      <p:sp>
        <p:nvSpPr>
          <p:cNvPr id="16" name="text-24"/>
          <p:cNvSpPr txBox="1"/>
          <p:nvPr/>
        </p:nvSpPr>
        <p:spPr>
          <a:xfrm>
            <a:off x="812800" y="54356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А может быть, там что-то совсем другое?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25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ОТКРЫВАЕМ СУНДУК!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А в сундуке герои</a:t>
            </a:r>
            <a:endParaRPr lang="en-US" sz="3600" dirty="0"/>
          </a:p>
        </p:txBody>
      </p:sp>
      <p:sp>
        <p:nvSpPr>
          <p:cNvPr id="4" name="photo-shadow-26"/>
          <p:cNvSpPr/>
          <p:nvPr/>
        </p:nvSpPr>
        <p:spPr>
          <a:xfrm>
            <a:off x="812800" y="2413000"/>
            <a:ext cx="5448300" cy="3632200"/>
          </a:xfrm>
          <a:prstGeom prst="roundRect">
            <a:avLst>
              <a:gd name="adj" fmla="val 48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304800" dist="127000" dir="5400000">
              <a:srgbClr val="1E2756">
                <a:alpha val="35000"/>
              </a:srgbClr>
            </a:outerShdw>
          </a:effectLst>
        </p:spPr>
      </p:sp>
      <p:pic>
        <p:nvPicPr>
          <p:cNvPr id="5" name="photo-27" descr="Герои мультфильма «Бременские музыканты»: Трубадур, Принцесса, Осёл, Пёс, Кот и Пету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413000"/>
            <a:ext cx="5448300" cy="3632200"/>
          </a:xfrm>
          <a:prstGeom prst="rect">
            <a:avLst/>
          </a:prstGeom>
        </p:spPr>
      </p:pic>
      <p:sp>
        <p:nvSpPr>
          <p:cNvPr id="6" name="card-28"/>
          <p:cNvSpPr/>
          <p:nvPr/>
        </p:nvSpPr>
        <p:spPr>
          <a:xfrm>
            <a:off x="6464300" y="2413000"/>
            <a:ext cx="49149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" name="badge-29"/>
          <p:cNvSpPr/>
          <p:nvPr/>
        </p:nvSpPr>
        <p:spPr>
          <a:xfrm>
            <a:off x="6718300" y="2921000"/>
            <a:ext cx="698500" cy="698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55" y="3081655"/>
            <a:ext cx="377190" cy="377190"/>
          </a:xfrm>
          <a:prstGeom prst="rect">
            <a:avLst/>
          </a:prstGeom>
        </p:spPr>
      </p:pic>
      <p:sp>
        <p:nvSpPr>
          <p:cNvPr id="9" name="text-31"/>
          <p:cNvSpPr txBox="1"/>
          <p:nvPr/>
        </p:nvSpPr>
        <p:spPr>
          <a:xfrm>
            <a:off x="7607300" y="2667000"/>
            <a:ext cx="35179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Кто эти герои?</a:t>
            </a:r>
            <a:endParaRPr lang="en-US" sz="2200" dirty="0"/>
          </a:p>
        </p:txBody>
      </p:sp>
      <p:sp>
        <p:nvSpPr>
          <p:cNvPr id="10" name="card-32"/>
          <p:cNvSpPr/>
          <p:nvPr/>
        </p:nvSpPr>
        <p:spPr>
          <a:xfrm>
            <a:off x="6464300" y="4330700"/>
            <a:ext cx="49149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badge-33"/>
          <p:cNvSpPr/>
          <p:nvPr/>
        </p:nvSpPr>
        <p:spPr>
          <a:xfrm>
            <a:off x="6718300" y="4838700"/>
            <a:ext cx="698500" cy="698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955" y="4999355"/>
            <a:ext cx="377190" cy="377190"/>
          </a:xfrm>
          <a:prstGeom prst="rect">
            <a:avLst/>
          </a:prstGeom>
        </p:spPr>
      </p:pic>
      <p:sp>
        <p:nvSpPr>
          <p:cNvPr id="13" name="text-35"/>
          <p:cNvSpPr txBox="1"/>
          <p:nvPr/>
        </p:nvSpPr>
        <p:spPr>
          <a:xfrm>
            <a:off x="7607300" y="4584700"/>
            <a:ext cx="35179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Из какого они мультфильма?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36"/>
          <p:cNvSpPr/>
          <p:nvPr/>
        </p:nvSpPr>
        <p:spPr>
          <a:xfrm>
            <a:off x="5461000" y="1079500"/>
            <a:ext cx="1270000" cy="1270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-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0" y="1371600"/>
            <a:ext cx="685800" cy="685800"/>
          </a:xfrm>
          <a:prstGeom prst="rect">
            <a:avLst/>
          </a:prstGeom>
        </p:spPr>
      </p:pic>
      <p:sp>
        <p:nvSpPr>
          <p:cNvPr id="4" name="text-38"/>
          <p:cNvSpPr txBox="1"/>
          <p:nvPr/>
        </p:nvSpPr>
        <p:spPr>
          <a:xfrm>
            <a:off x="812800" y="2603500"/>
            <a:ext cx="105664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Почему они всегда вместе?</a:t>
            </a:r>
            <a:endParaRPr lang="en-US" sz="6000" dirty="0"/>
          </a:p>
        </p:txBody>
      </p:sp>
      <p:sp>
        <p:nvSpPr>
          <p:cNvPr id="5" name="text-39"/>
          <p:cNvSpPr txBox="1"/>
          <p:nvPr/>
        </p:nvSpPr>
        <p:spPr>
          <a:xfrm>
            <a:off x="812800" y="4826000"/>
            <a:ext cx="1056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Что их объединяет?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0"/>
          <p:cNvSpPr/>
          <p:nvPr/>
        </p:nvSpPr>
        <p:spPr>
          <a:xfrm>
            <a:off x="5588000" y="1079500"/>
            <a:ext cx="1016000" cy="10160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" name="icon-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680" y="1313180"/>
            <a:ext cx="548640" cy="548640"/>
          </a:xfrm>
          <a:prstGeom prst="rect">
            <a:avLst/>
          </a:prstGeom>
        </p:spPr>
      </p:pic>
      <p:sp>
        <p:nvSpPr>
          <p:cNvPr id="4" name="eyebrow-42"/>
          <p:cNvSpPr txBox="1"/>
          <p:nvPr/>
        </p:nvSpPr>
        <p:spPr>
          <a:xfrm>
            <a:off x="812800" y="23495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tx1"/>
                </a:solidFill>
              </a:rPr>
              <a:t>ТЕМА УРОКА</a:t>
            </a:r>
            <a:endParaRPr lang="en-US" sz="1600" dirty="0"/>
          </a:p>
        </p:txBody>
      </p:sp>
      <p:sp>
        <p:nvSpPr>
          <p:cNvPr id="5" name="text-43"/>
          <p:cNvSpPr txBox="1"/>
          <p:nvPr/>
        </p:nvSpPr>
        <p:spPr>
          <a:xfrm>
            <a:off x="812800" y="2667000"/>
            <a:ext cx="10566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Песни о дружбе</a:t>
            </a:r>
            <a:endParaRPr lang="en-US" sz="8000" dirty="0"/>
          </a:p>
        </p:txBody>
      </p:sp>
      <p:sp>
        <p:nvSpPr>
          <p:cNvPr id="6" name="text-44"/>
          <p:cNvSpPr txBox="1"/>
          <p:nvPr/>
        </p:nvSpPr>
        <p:spPr>
          <a:xfrm>
            <a:off x="812800" y="41275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 сами её отгадали!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45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ЦЕЛЬ УРОКА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мы сегодня узнаем?</a:t>
            </a:r>
            <a:endParaRPr lang="en-US" sz="3600" dirty="0"/>
          </a:p>
        </p:txBody>
      </p:sp>
      <p:sp>
        <p:nvSpPr>
          <p:cNvPr id="4" name="card-46"/>
          <p:cNvSpPr/>
          <p:nvPr/>
        </p:nvSpPr>
        <p:spPr>
          <a:xfrm>
            <a:off x="812800" y="2413000"/>
            <a:ext cx="3384550" cy="3302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text-47"/>
          <p:cNvSpPr txBox="1"/>
          <p:nvPr/>
        </p:nvSpPr>
        <p:spPr>
          <a:xfrm>
            <a:off x="1117600" y="27178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-48"/>
          <p:cNvSpPr txBox="1"/>
          <p:nvPr/>
        </p:nvSpPr>
        <p:spPr>
          <a:xfrm>
            <a:off x="1117600" y="3683000"/>
            <a:ext cx="27749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Познакомимся с песнями о дружбе</a:t>
            </a:r>
            <a:endParaRPr lang="en-US" sz="2200" dirty="0"/>
          </a:p>
        </p:txBody>
      </p:sp>
      <p:sp>
        <p:nvSpPr>
          <p:cNvPr id="7" name="card-49"/>
          <p:cNvSpPr/>
          <p:nvPr/>
        </p:nvSpPr>
        <p:spPr>
          <a:xfrm>
            <a:off x="4400550" y="2413000"/>
            <a:ext cx="3384550" cy="3302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text-50"/>
          <p:cNvSpPr txBox="1"/>
          <p:nvPr/>
        </p:nvSpPr>
        <p:spPr>
          <a:xfrm>
            <a:off x="4705350" y="27178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-51"/>
          <p:cNvSpPr txBox="1"/>
          <p:nvPr/>
        </p:nvSpPr>
        <p:spPr>
          <a:xfrm>
            <a:off x="4705350" y="3683000"/>
            <a:ext cx="27749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Узнаем, какой характер у такой музыки</a:t>
            </a:r>
            <a:endParaRPr lang="en-US" sz="2200" dirty="0"/>
          </a:p>
        </p:txBody>
      </p:sp>
      <p:sp>
        <p:nvSpPr>
          <p:cNvPr id="10" name="card-52"/>
          <p:cNvSpPr/>
          <p:nvPr/>
        </p:nvSpPr>
        <p:spPr>
          <a:xfrm>
            <a:off x="7988300" y="2413000"/>
            <a:ext cx="3384550" cy="33020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text-53"/>
          <p:cNvSpPr txBox="1"/>
          <p:nvPr/>
        </p:nvSpPr>
        <p:spPr>
          <a:xfrm>
            <a:off x="8293100" y="2717800"/>
            <a:ext cx="12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-54"/>
          <p:cNvSpPr txBox="1"/>
          <p:nvPr/>
        </p:nvSpPr>
        <p:spPr>
          <a:xfrm>
            <a:off x="8293100" y="3683000"/>
            <a:ext cx="27749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Поймём, что помогает людям дружить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55"/>
          <p:cNvSpPr txBox="1"/>
          <p:nvPr/>
        </p:nvSpPr>
        <p:spPr>
          <a:xfrm>
            <a:off x="812800" y="1905000"/>
            <a:ext cx="4978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ПОГОВОРИМ</a:t>
            </a:r>
            <a:endParaRPr lang="en-US" sz="1600" dirty="0"/>
          </a:p>
        </p:txBody>
      </p:sp>
      <p:sp>
        <p:nvSpPr>
          <p:cNvPr id="3" name="text-56"/>
          <p:cNvSpPr txBox="1"/>
          <p:nvPr/>
        </p:nvSpPr>
        <p:spPr>
          <a:xfrm>
            <a:off x="812800" y="2286000"/>
            <a:ext cx="4978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Что такое дружба?</a:t>
            </a:r>
            <a:endParaRPr lang="en-US" sz="6000" dirty="0"/>
          </a:p>
        </p:txBody>
      </p:sp>
      <p:sp>
        <p:nvSpPr>
          <p:cNvPr id="4" name="text-57"/>
          <p:cNvSpPr txBox="1"/>
          <p:nvPr/>
        </p:nvSpPr>
        <p:spPr>
          <a:xfrm>
            <a:off x="812800" y="4318000"/>
            <a:ext cx="4978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2"/>
                </a:solidFill>
              </a:rPr>
              <a:t>Подумайте и расскажите, кого вы называете другом.</a:t>
            </a:r>
            <a:endParaRPr lang="en-US" sz="2200" dirty="0"/>
          </a:p>
        </p:txBody>
      </p:sp>
      <p:sp>
        <p:nvSpPr>
          <p:cNvPr id="5" name="photo-shadow-58"/>
          <p:cNvSpPr/>
          <p:nvPr/>
        </p:nvSpPr>
        <p:spPr>
          <a:xfrm>
            <a:off x="6400800" y="939800"/>
            <a:ext cx="4978400" cy="49784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04800" dist="127000" dir="5400000">
              <a:srgbClr val="1E2756">
                <a:alpha val="35000"/>
              </a:srgbClr>
            </a:outerShdw>
          </a:effectLst>
        </p:spPr>
      </p:sp>
      <p:pic>
        <p:nvPicPr>
          <p:cNvPr id="6" name="photo-59" descr="Пятеро детей держатся за руки на цветущем лугу на зака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39800"/>
            <a:ext cx="49784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60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НАСТОЯЩИЙ ДРУГ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Каким должен быть настоящий друг?</a:t>
            </a:r>
            <a:endParaRPr lang="en-US" sz="3600" dirty="0"/>
          </a:p>
        </p:txBody>
      </p:sp>
      <p:sp>
        <p:nvSpPr>
          <p:cNvPr id="4" name="card-61"/>
          <p:cNvSpPr/>
          <p:nvPr/>
        </p:nvSpPr>
        <p:spPr>
          <a:xfrm>
            <a:off x="812800" y="24130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badge-62"/>
          <p:cNvSpPr/>
          <p:nvPr/>
        </p:nvSpPr>
        <p:spPr>
          <a:xfrm>
            <a:off x="1066800" y="28575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665" y="3047365"/>
            <a:ext cx="445770" cy="445770"/>
          </a:xfrm>
          <a:prstGeom prst="rect">
            <a:avLst/>
          </a:prstGeom>
        </p:spPr>
      </p:pic>
      <p:sp>
        <p:nvSpPr>
          <p:cNvPr id="7" name="card-text-64"/>
          <p:cNvSpPr txBox="1"/>
          <p:nvPr/>
        </p:nvSpPr>
        <p:spPr>
          <a:xfrm>
            <a:off x="2120900" y="25654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Добрый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Делится и не обижает</a:t>
            </a:r>
            <a:endParaRPr lang="en-US" sz="2800" dirty="0"/>
          </a:p>
        </p:txBody>
      </p:sp>
      <p:sp>
        <p:nvSpPr>
          <p:cNvPr id="8" name="card-65"/>
          <p:cNvSpPr/>
          <p:nvPr/>
        </p:nvSpPr>
        <p:spPr>
          <a:xfrm>
            <a:off x="6197600" y="24130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badge-66"/>
          <p:cNvSpPr/>
          <p:nvPr/>
        </p:nvSpPr>
        <p:spPr>
          <a:xfrm>
            <a:off x="6451600" y="28575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65" y="3047365"/>
            <a:ext cx="445770" cy="445770"/>
          </a:xfrm>
          <a:prstGeom prst="rect">
            <a:avLst/>
          </a:prstGeom>
        </p:spPr>
      </p:pic>
      <p:sp>
        <p:nvSpPr>
          <p:cNvPr id="11" name="card-text-68"/>
          <p:cNvSpPr txBox="1"/>
          <p:nvPr/>
        </p:nvSpPr>
        <p:spPr>
          <a:xfrm>
            <a:off x="7505700" y="25654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Верный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Не подведёт и не предаст</a:t>
            </a:r>
            <a:endParaRPr lang="en-US" sz="2800" dirty="0"/>
          </a:p>
        </p:txBody>
      </p:sp>
      <p:sp>
        <p:nvSpPr>
          <p:cNvPr id="12" name="card-69"/>
          <p:cNvSpPr/>
          <p:nvPr/>
        </p:nvSpPr>
        <p:spPr>
          <a:xfrm>
            <a:off x="812800" y="43307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badge-70"/>
          <p:cNvSpPr/>
          <p:nvPr/>
        </p:nvSpPr>
        <p:spPr>
          <a:xfrm>
            <a:off x="1066800" y="47752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65" y="4965065"/>
            <a:ext cx="445770" cy="445770"/>
          </a:xfrm>
          <a:prstGeom prst="rect">
            <a:avLst/>
          </a:prstGeom>
        </p:spPr>
      </p:pic>
      <p:sp>
        <p:nvSpPr>
          <p:cNvPr id="15" name="card-text-72"/>
          <p:cNvSpPr txBox="1"/>
          <p:nvPr/>
        </p:nvSpPr>
        <p:spPr>
          <a:xfrm>
            <a:off x="2120900" y="44831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Отзывчивый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Поймёт, когда тебе грустно</a:t>
            </a:r>
            <a:endParaRPr lang="en-US" sz="2800" dirty="0"/>
          </a:p>
        </p:txBody>
      </p:sp>
      <p:sp>
        <p:nvSpPr>
          <p:cNvPr id="16" name="card-73"/>
          <p:cNvSpPr/>
          <p:nvPr/>
        </p:nvSpPr>
        <p:spPr>
          <a:xfrm>
            <a:off x="6197600" y="43307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badge-74"/>
          <p:cNvSpPr/>
          <p:nvPr/>
        </p:nvSpPr>
        <p:spPr>
          <a:xfrm>
            <a:off x="6451600" y="47752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4965065"/>
            <a:ext cx="445770" cy="445770"/>
          </a:xfrm>
          <a:prstGeom prst="rect">
            <a:avLst/>
          </a:prstGeom>
        </p:spPr>
      </p:pic>
      <p:sp>
        <p:nvSpPr>
          <p:cNvPr id="19" name="card-text-76"/>
          <p:cNvSpPr txBox="1"/>
          <p:nvPr/>
        </p:nvSpPr>
        <p:spPr>
          <a:xfrm>
            <a:off x="7505700" y="44831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Готов помочь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Всегда придёт на выручку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77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МУЗЫКА О ДРУЖБЕ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Какая музыка подходит для песен о дружбе?</a:t>
            </a:r>
            <a:endParaRPr lang="en-US" sz="3600" dirty="0"/>
          </a:p>
        </p:txBody>
      </p:sp>
      <p:sp>
        <p:nvSpPr>
          <p:cNvPr id="4" name="card-78"/>
          <p:cNvSpPr/>
          <p:nvPr/>
        </p:nvSpPr>
        <p:spPr>
          <a:xfrm>
            <a:off x="812800" y="2730500"/>
            <a:ext cx="2489200" cy="241300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5" name="badge-79"/>
          <p:cNvSpPr/>
          <p:nvPr/>
        </p:nvSpPr>
        <p:spPr>
          <a:xfrm>
            <a:off x="1549400" y="3086100"/>
            <a:ext cx="1016000" cy="1016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319780"/>
            <a:ext cx="548640" cy="548640"/>
          </a:xfrm>
          <a:prstGeom prst="rect">
            <a:avLst/>
          </a:prstGeom>
        </p:spPr>
      </p:pic>
      <p:sp>
        <p:nvSpPr>
          <p:cNvPr id="7" name="text-81"/>
          <p:cNvSpPr txBox="1"/>
          <p:nvPr/>
        </p:nvSpPr>
        <p:spPr>
          <a:xfrm>
            <a:off x="914400" y="43561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Весёлая</a:t>
            </a:r>
            <a:endParaRPr lang="en-US" sz="2800" dirty="0"/>
          </a:p>
        </p:txBody>
      </p:sp>
      <p:sp>
        <p:nvSpPr>
          <p:cNvPr id="8" name="card-82"/>
          <p:cNvSpPr/>
          <p:nvPr/>
        </p:nvSpPr>
        <p:spPr>
          <a:xfrm>
            <a:off x="3505200" y="2730500"/>
            <a:ext cx="2489200" cy="241300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badge-83"/>
          <p:cNvSpPr/>
          <p:nvPr/>
        </p:nvSpPr>
        <p:spPr>
          <a:xfrm>
            <a:off x="4241800" y="3086100"/>
            <a:ext cx="1016000" cy="1016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480" y="3319780"/>
            <a:ext cx="548640" cy="548640"/>
          </a:xfrm>
          <a:prstGeom prst="rect">
            <a:avLst/>
          </a:prstGeom>
        </p:spPr>
      </p:pic>
      <p:sp>
        <p:nvSpPr>
          <p:cNvPr id="11" name="text-85"/>
          <p:cNvSpPr txBox="1"/>
          <p:nvPr/>
        </p:nvSpPr>
        <p:spPr>
          <a:xfrm>
            <a:off x="3606800" y="43561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Радостная</a:t>
            </a:r>
            <a:endParaRPr lang="en-US" sz="2800" dirty="0"/>
          </a:p>
        </p:txBody>
      </p:sp>
      <p:sp>
        <p:nvSpPr>
          <p:cNvPr id="12" name="card-86"/>
          <p:cNvSpPr/>
          <p:nvPr/>
        </p:nvSpPr>
        <p:spPr>
          <a:xfrm>
            <a:off x="6197600" y="2730500"/>
            <a:ext cx="2489200" cy="241300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3" name="badge-87"/>
          <p:cNvSpPr/>
          <p:nvPr/>
        </p:nvSpPr>
        <p:spPr>
          <a:xfrm>
            <a:off x="6934200" y="3086100"/>
            <a:ext cx="1016000" cy="1016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880" y="3319780"/>
            <a:ext cx="548640" cy="548640"/>
          </a:xfrm>
          <a:prstGeom prst="rect">
            <a:avLst/>
          </a:prstGeom>
        </p:spPr>
      </p:pic>
      <p:sp>
        <p:nvSpPr>
          <p:cNvPr id="15" name="text-89"/>
          <p:cNvSpPr txBox="1"/>
          <p:nvPr/>
        </p:nvSpPr>
        <p:spPr>
          <a:xfrm>
            <a:off x="6299200" y="43561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Бодрая</a:t>
            </a:r>
            <a:endParaRPr lang="en-US" sz="2800" dirty="0"/>
          </a:p>
        </p:txBody>
      </p:sp>
      <p:sp>
        <p:nvSpPr>
          <p:cNvPr id="16" name="card-90"/>
          <p:cNvSpPr/>
          <p:nvPr/>
        </p:nvSpPr>
        <p:spPr>
          <a:xfrm>
            <a:off x="8890000" y="2730500"/>
            <a:ext cx="2489200" cy="241300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7" name="badge-91"/>
          <p:cNvSpPr/>
          <p:nvPr/>
        </p:nvSpPr>
        <p:spPr>
          <a:xfrm>
            <a:off x="9626600" y="3086100"/>
            <a:ext cx="1016000" cy="1016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-9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280" y="3319780"/>
            <a:ext cx="548640" cy="548640"/>
          </a:xfrm>
          <a:prstGeom prst="rect">
            <a:avLst/>
          </a:prstGeom>
        </p:spPr>
      </p:pic>
      <p:sp>
        <p:nvSpPr>
          <p:cNvPr id="19" name="text-93"/>
          <p:cNvSpPr txBox="1"/>
          <p:nvPr/>
        </p:nvSpPr>
        <p:spPr>
          <a:xfrm>
            <a:off x="8991600" y="43561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Маршевая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94"/>
          <p:cNvSpPr txBox="1"/>
          <p:nvPr/>
        </p:nvSpPr>
        <p:spPr>
          <a:xfrm>
            <a:off x="812800" y="13335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ВЫВОД</a:t>
            </a:r>
            <a:endParaRPr lang="en-US" sz="1600" dirty="0"/>
          </a:p>
        </p:txBody>
      </p:sp>
      <p:sp>
        <p:nvSpPr>
          <p:cNvPr id="3" name="text-95"/>
          <p:cNvSpPr txBox="1"/>
          <p:nvPr/>
        </p:nvSpPr>
        <p:spPr>
          <a:xfrm>
            <a:off x="812800" y="1714500"/>
            <a:ext cx="1056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Дружба — великая сила</a:t>
            </a:r>
            <a:endParaRPr lang="en-US" sz="6000" dirty="0"/>
          </a:p>
        </p:txBody>
      </p:sp>
      <p:sp>
        <p:nvSpPr>
          <p:cNvPr id="4" name="text-96"/>
          <p:cNvSpPr txBox="1"/>
          <p:nvPr/>
        </p:nvSpPr>
        <p:spPr>
          <a:xfrm>
            <a:off x="812800" y="2857500"/>
            <a:ext cx="952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chemeClr val="tx2"/>
                </a:solidFill>
              </a:rPr>
              <a:t>Песни о дружбе помогают нам почувствовать себя счастливыми. Они объединяют людей.</a:t>
            </a:r>
            <a:endParaRPr lang="en-US" sz="2200" dirty="0"/>
          </a:p>
        </p:txBody>
      </p:sp>
      <p:sp>
        <p:nvSpPr>
          <p:cNvPr id="5" name="card-97"/>
          <p:cNvSpPr/>
          <p:nvPr/>
        </p:nvSpPr>
        <p:spPr>
          <a:xfrm>
            <a:off x="812800" y="4064000"/>
            <a:ext cx="10566400" cy="12700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" name="badge-98"/>
          <p:cNvSpPr/>
          <p:nvPr/>
        </p:nvSpPr>
        <p:spPr>
          <a:xfrm>
            <a:off x="1117600" y="428625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465" y="4476115"/>
            <a:ext cx="445770" cy="445770"/>
          </a:xfrm>
          <a:prstGeom prst="rect">
            <a:avLst/>
          </a:prstGeom>
        </p:spPr>
      </p:pic>
      <p:sp>
        <p:nvSpPr>
          <p:cNvPr id="8" name="text-100"/>
          <p:cNvSpPr txBox="1"/>
          <p:nvPr/>
        </p:nvSpPr>
        <p:spPr>
          <a:xfrm>
            <a:off x="2222500" y="4191000"/>
            <a:ext cx="8826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Сейчас мы послушаем песню, которая стала гимном всех друзей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01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СЛУШАНИЕ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Кто создал эту песню?</a:t>
            </a:r>
            <a:endParaRPr lang="en-US" sz="3600" dirty="0"/>
          </a:p>
        </p:txBody>
      </p:sp>
      <p:sp>
        <p:nvSpPr>
          <p:cNvPr id="4" name="photo-shadow-102"/>
          <p:cNvSpPr/>
          <p:nvPr/>
        </p:nvSpPr>
        <p:spPr>
          <a:xfrm>
            <a:off x="812800" y="2413000"/>
            <a:ext cx="3632200" cy="3632200"/>
          </a:xfrm>
          <a:prstGeom prst="roundRect">
            <a:avLst>
              <a:gd name="adj" fmla="val 48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304800" dist="127000" dir="5400000">
              <a:srgbClr val="1E2756">
                <a:alpha val="35000"/>
              </a:srgbClr>
            </a:outerShdw>
          </a:effectLst>
        </p:spPr>
      </p:sp>
      <p:pic>
        <p:nvPicPr>
          <p:cNvPr id="5" name="photo-103" descr="Чёрно-белая фотография: композитор Геннадий Гладков (слева) и поэт Юрий Энтин (справа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413000"/>
            <a:ext cx="3632200" cy="3632200"/>
          </a:xfrm>
          <a:prstGeom prst="rect">
            <a:avLst/>
          </a:prstGeom>
        </p:spPr>
      </p:pic>
      <p:sp>
        <p:nvSpPr>
          <p:cNvPr id="6" name="card-104"/>
          <p:cNvSpPr/>
          <p:nvPr/>
        </p:nvSpPr>
        <p:spPr>
          <a:xfrm>
            <a:off x="4749800" y="2413000"/>
            <a:ext cx="66294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7" name="text-105"/>
          <p:cNvSpPr txBox="1"/>
          <p:nvPr/>
        </p:nvSpPr>
        <p:spPr>
          <a:xfrm>
            <a:off x="5054600" y="2641600"/>
            <a:ext cx="6019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СЛЕВА · МУЗЫКА</a:t>
            </a:r>
            <a:endParaRPr lang="en-US" sz="1400" dirty="0"/>
          </a:p>
        </p:txBody>
      </p:sp>
      <p:sp>
        <p:nvSpPr>
          <p:cNvPr id="8" name="text-106"/>
          <p:cNvSpPr txBox="1"/>
          <p:nvPr/>
        </p:nvSpPr>
        <p:spPr>
          <a:xfrm>
            <a:off x="5054600" y="2908300"/>
            <a:ext cx="6019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Геннадий Гладков</a:t>
            </a:r>
            <a:endParaRPr lang="en-US" sz="2800" dirty="0"/>
          </a:p>
        </p:txBody>
      </p:sp>
      <p:sp>
        <p:nvSpPr>
          <p:cNvPr id="9" name="text-107"/>
          <p:cNvSpPr txBox="1"/>
          <p:nvPr/>
        </p:nvSpPr>
        <p:spPr>
          <a:xfrm>
            <a:off x="5054600" y="33655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Композитор. Написал музыку ко многим известным мультфильмам.</a:t>
            </a:r>
            <a:endParaRPr lang="en-US" sz="2000" dirty="0"/>
          </a:p>
        </p:txBody>
      </p:sp>
      <p:sp>
        <p:nvSpPr>
          <p:cNvPr id="10" name="card-108"/>
          <p:cNvSpPr/>
          <p:nvPr/>
        </p:nvSpPr>
        <p:spPr>
          <a:xfrm>
            <a:off x="4749800" y="4330700"/>
            <a:ext cx="66294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text-109"/>
          <p:cNvSpPr txBox="1"/>
          <p:nvPr/>
        </p:nvSpPr>
        <p:spPr>
          <a:xfrm>
            <a:off x="5054600" y="4559300"/>
            <a:ext cx="6019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СПРАВА · СЛОВА</a:t>
            </a:r>
            <a:endParaRPr lang="en-US" sz="1400" dirty="0"/>
          </a:p>
        </p:txBody>
      </p:sp>
      <p:sp>
        <p:nvSpPr>
          <p:cNvPr id="12" name="text-110"/>
          <p:cNvSpPr txBox="1"/>
          <p:nvPr/>
        </p:nvSpPr>
        <p:spPr>
          <a:xfrm>
            <a:off x="5054600" y="4826000"/>
            <a:ext cx="6019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Юрий Энтин</a:t>
            </a:r>
            <a:endParaRPr lang="en-US" sz="2800" dirty="0"/>
          </a:p>
        </p:txBody>
      </p:sp>
      <p:sp>
        <p:nvSpPr>
          <p:cNvPr id="13" name="text-111"/>
          <p:cNvSpPr txBox="1"/>
          <p:nvPr/>
        </p:nvSpPr>
        <p:spPr>
          <a:xfrm>
            <a:off x="5054600" y="52832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Поэт. Написал слова к песне.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12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ПЕСНЯ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«Ничего на свете лучше нету»</a:t>
            </a:r>
            <a:endParaRPr lang="en-US" sz="3600" dirty="0"/>
          </a:p>
        </p:txBody>
      </p:sp>
      <p:sp>
        <p:nvSpPr>
          <p:cNvPr id="4" name="music-by-113"/>
          <p:cNvSpPr txBox="1"/>
          <p:nvPr/>
        </p:nvSpPr>
        <p:spPr>
          <a:xfrm>
            <a:off x="812800" y="2667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Музыка: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Геннадий Гладков</a:t>
            </a:r>
            <a:endParaRPr lang="en-US" sz="2200" dirty="0"/>
          </a:p>
        </p:txBody>
      </p:sp>
      <p:sp>
        <p:nvSpPr>
          <p:cNvPr id="5" name="words-by-114"/>
          <p:cNvSpPr txBox="1"/>
          <p:nvPr/>
        </p:nvSpPr>
        <p:spPr>
          <a:xfrm>
            <a:off x="812800" y="3175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Слова: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Юрий Энтин</a:t>
            </a:r>
            <a:endParaRPr lang="en-US" sz="2200" dirty="0"/>
          </a:p>
        </p:txBody>
      </p:sp>
      <p:sp>
        <p:nvSpPr>
          <p:cNvPr id="6" name="text-115"/>
          <p:cNvSpPr txBox="1"/>
          <p:nvPr/>
        </p:nvSpPr>
        <p:spPr>
          <a:xfrm>
            <a:off x="812800" y="3810000"/>
            <a:ext cx="508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3"/>
                </a:solidFill>
              </a:rPr>
              <a:t>Из мультфильма «Бременские музыканты». Его герои были бродячими артистами. Благодаря дружбе они нашли своё счастье.</a:t>
            </a:r>
            <a:endParaRPr lang="en-US" sz="2000" dirty="0"/>
          </a:p>
        </p:txBody>
      </p:sp>
      <p:sp>
        <p:nvSpPr>
          <p:cNvPr id="7" name="photo-shadow-116"/>
          <p:cNvSpPr/>
          <p:nvPr/>
        </p:nvSpPr>
        <p:spPr>
          <a:xfrm>
            <a:off x="6235700" y="2514600"/>
            <a:ext cx="5143500" cy="3429000"/>
          </a:xfrm>
          <a:prstGeom prst="roundRect">
            <a:avLst>
              <a:gd name="adj" fmla="val 5185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27000" dir="5400000">
              <a:srgbClr val="080A1E">
                <a:alpha val="35000"/>
              </a:srgbClr>
            </a:outerShdw>
          </a:effectLst>
        </p:spPr>
      </p:sp>
      <p:pic>
        <p:nvPicPr>
          <p:cNvPr id="8" name="photo-117" descr="Повозка бродячих артистов едет по дороге среди холмов на рассвет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0" y="2514600"/>
            <a:ext cx="51435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18"/>
          <p:cNvSpPr/>
          <p:nvPr/>
        </p:nvSpPr>
        <p:spPr>
          <a:xfrm>
            <a:off x="5524500" y="1206500"/>
            <a:ext cx="1143000" cy="1143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-1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390" y="1469390"/>
            <a:ext cx="617220" cy="617220"/>
          </a:xfrm>
          <a:prstGeom prst="rect">
            <a:avLst/>
          </a:prstGeom>
        </p:spPr>
      </p:pic>
      <p:sp>
        <p:nvSpPr>
          <p:cNvPr id="4" name="text-120"/>
          <p:cNvSpPr txBox="1"/>
          <p:nvPr/>
        </p:nvSpPr>
        <p:spPr>
          <a:xfrm>
            <a:off x="812800" y="2603500"/>
            <a:ext cx="10566400" cy="12700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05050A">
                <a:alpha val="8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Слушаем!</a:t>
            </a:r>
            <a:endParaRPr lang="en-US" sz="8000" dirty="0"/>
          </a:p>
        </p:txBody>
      </p:sp>
      <p:sp>
        <p:nvSpPr>
          <p:cNvPr id="5" name="text-121"/>
          <p:cNvSpPr txBox="1"/>
          <p:nvPr/>
        </p:nvSpPr>
        <p:spPr>
          <a:xfrm>
            <a:off x="812800" y="4064000"/>
            <a:ext cx="10566400" cy="4445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25400" dir="5400000">
              <a:srgbClr val="05050A">
                <a:alpha val="85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Представьте себя на месте бременских музыкантов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22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РАЗБИРАЕМ ПЕСНЮ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Какая это музыка?</a:t>
            </a:r>
            <a:endParaRPr lang="en-US" sz="3600" dirty="0"/>
          </a:p>
        </p:txBody>
      </p:sp>
      <p:sp>
        <p:nvSpPr>
          <p:cNvPr id="4" name="card-123"/>
          <p:cNvSpPr/>
          <p:nvPr/>
        </p:nvSpPr>
        <p:spPr>
          <a:xfrm>
            <a:off x="812800" y="24130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badge-124"/>
          <p:cNvSpPr/>
          <p:nvPr/>
        </p:nvSpPr>
        <p:spPr>
          <a:xfrm>
            <a:off x="1066800" y="28575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665" y="3047365"/>
            <a:ext cx="445770" cy="445770"/>
          </a:xfrm>
          <a:prstGeom prst="rect">
            <a:avLst/>
          </a:prstGeom>
        </p:spPr>
      </p:pic>
      <p:sp>
        <p:nvSpPr>
          <p:cNvPr id="7" name="card-text-126"/>
          <p:cNvSpPr txBox="1"/>
          <p:nvPr/>
        </p:nvSpPr>
        <p:spPr>
          <a:xfrm>
            <a:off x="2120900" y="25654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Настроение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Какое настроение передаёт музыка?</a:t>
            </a:r>
            <a:endParaRPr lang="en-US" sz="2800" dirty="0"/>
          </a:p>
        </p:txBody>
      </p:sp>
      <p:sp>
        <p:nvSpPr>
          <p:cNvPr id="8" name="card-127"/>
          <p:cNvSpPr/>
          <p:nvPr/>
        </p:nvSpPr>
        <p:spPr>
          <a:xfrm>
            <a:off x="6197600" y="24130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badge-128"/>
          <p:cNvSpPr/>
          <p:nvPr/>
        </p:nvSpPr>
        <p:spPr>
          <a:xfrm>
            <a:off x="6451600" y="28575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65" y="3047365"/>
            <a:ext cx="445770" cy="445770"/>
          </a:xfrm>
          <a:prstGeom prst="rect">
            <a:avLst/>
          </a:prstGeom>
        </p:spPr>
      </p:pic>
      <p:sp>
        <p:nvSpPr>
          <p:cNvPr id="11" name="card-text-130"/>
          <p:cNvSpPr txBox="1"/>
          <p:nvPr/>
        </p:nvSpPr>
        <p:spPr>
          <a:xfrm>
            <a:off x="7505700" y="25654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Темп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Быстро или медленно звучит песня?</a:t>
            </a:r>
            <a:endParaRPr lang="en-US" sz="2800" dirty="0"/>
          </a:p>
        </p:txBody>
      </p:sp>
      <p:sp>
        <p:nvSpPr>
          <p:cNvPr id="12" name="card-131"/>
          <p:cNvSpPr/>
          <p:nvPr/>
        </p:nvSpPr>
        <p:spPr>
          <a:xfrm>
            <a:off x="812800" y="43307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badge-132"/>
          <p:cNvSpPr/>
          <p:nvPr/>
        </p:nvSpPr>
        <p:spPr>
          <a:xfrm>
            <a:off x="1066800" y="47752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65" y="4965065"/>
            <a:ext cx="445770" cy="445770"/>
          </a:xfrm>
          <a:prstGeom prst="rect">
            <a:avLst/>
          </a:prstGeom>
        </p:spPr>
      </p:pic>
      <p:sp>
        <p:nvSpPr>
          <p:cNvPr id="15" name="card-text-134"/>
          <p:cNvSpPr txBox="1"/>
          <p:nvPr/>
        </p:nvSpPr>
        <p:spPr>
          <a:xfrm>
            <a:off x="2120900" y="44831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Ритм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Какой ритм у песни?</a:t>
            </a:r>
            <a:endParaRPr lang="en-US" sz="2800" dirty="0"/>
          </a:p>
        </p:txBody>
      </p:sp>
      <p:sp>
        <p:nvSpPr>
          <p:cNvPr id="16" name="card-135"/>
          <p:cNvSpPr/>
          <p:nvPr/>
        </p:nvSpPr>
        <p:spPr>
          <a:xfrm>
            <a:off x="6197600" y="43307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badge-136"/>
          <p:cNvSpPr/>
          <p:nvPr/>
        </p:nvSpPr>
        <p:spPr>
          <a:xfrm>
            <a:off x="6451600" y="47752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4965065"/>
            <a:ext cx="445770" cy="445770"/>
          </a:xfrm>
          <a:prstGeom prst="rect">
            <a:avLst/>
          </a:prstGeom>
        </p:spPr>
      </p:pic>
      <p:sp>
        <p:nvSpPr>
          <p:cNvPr id="19" name="card-text-138"/>
          <p:cNvSpPr txBox="1"/>
          <p:nvPr/>
        </p:nvSpPr>
        <p:spPr>
          <a:xfrm>
            <a:off x="7505700" y="44831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Характер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Как звучит музыка?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39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РАЗБИРАЕМ ПЕСНЮ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Вот какая это музыка!</a:t>
            </a:r>
            <a:endParaRPr lang="en-US" sz="3600" dirty="0"/>
          </a:p>
        </p:txBody>
      </p:sp>
      <p:sp>
        <p:nvSpPr>
          <p:cNvPr id="4" name="card-140"/>
          <p:cNvSpPr/>
          <p:nvPr/>
        </p:nvSpPr>
        <p:spPr>
          <a:xfrm>
            <a:off x="812800" y="24130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badge-141"/>
          <p:cNvSpPr/>
          <p:nvPr/>
        </p:nvSpPr>
        <p:spPr>
          <a:xfrm>
            <a:off x="1066800" y="28575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665" y="3047365"/>
            <a:ext cx="445770" cy="445770"/>
          </a:xfrm>
          <a:prstGeom prst="rect">
            <a:avLst/>
          </a:prstGeom>
        </p:spPr>
      </p:pic>
      <p:sp>
        <p:nvSpPr>
          <p:cNvPr id="7" name="card-text-143"/>
          <p:cNvSpPr txBox="1"/>
          <p:nvPr/>
        </p:nvSpPr>
        <p:spPr>
          <a:xfrm>
            <a:off x="2120900" y="25654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Настроение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Радостное, бодрое, оптимистичное</a:t>
            </a:r>
            <a:endParaRPr lang="en-US" sz="2800" dirty="0"/>
          </a:p>
        </p:txBody>
      </p:sp>
      <p:sp>
        <p:nvSpPr>
          <p:cNvPr id="8" name="card-144"/>
          <p:cNvSpPr/>
          <p:nvPr/>
        </p:nvSpPr>
        <p:spPr>
          <a:xfrm>
            <a:off x="6197600" y="24130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badge-145"/>
          <p:cNvSpPr/>
          <p:nvPr/>
        </p:nvSpPr>
        <p:spPr>
          <a:xfrm>
            <a:off x="6451600" y="28575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65" y="3047365"/>
            <a:ext cx="445770" cy="445770"/>
          </a:xfrm>
          <a:prstGeom prst="rect">
            <a:avLst/>
          </a:prstGeom>
        </p:spPr>
      </p:pic>
      <p:sp>
        <p:nvSpPr>
          <p:cNvPr id="11" name="card-text-147"/>
          <p:cNvSpPr txBox="1"/>
          <p:nvPr/>
        </p:nvSpPr>
        <p:spPr>
          <a:xfrm>
            <a:off x="7505700" y="25654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Темп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Подвижный, энергичный</a:t>
            </a:r>
            <a:endParaRPr lang="en-US" sz="2800" dirty="0"/>
          </a:p>
        </p:txBody>
      </p:sp>
      <p:sp>
        <p:nvSpPr>
          <p:cNvPr id="12" name="card-148"/>
          <p:cNvSpPr/>
          <p:nvPr/>
        </p:nvSpPr>
        <p:spPr>
          <a:xfrm>
            <a:off x="812800" y="43307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badge-149"/>
          <p:cNvSpPr/>
          <p:nvPr/>
        </p:nvSpPr>
        <p:spPr>
          <a:xfrm>
            <a:off x="1066800" y="47752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1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65" y="4965065"/>
            <a:ext cx="445770" cy="445770"/>
          </a:xfrm>
          <a:prstGeom prst="rect">
            <a:avLst/>
          </a:prstGeom>
        </p:spPr>
      </p:pic>
      <p:sp>
        <p:nvSpPr>
          <p:cNvPr id="15" name="card-text-151"/>
          <p:cNvSpPr txBox="1"/>
          <p:nvPr/>
        </p:nvSpPr>
        <p:spPr>
          <a:xfrm>
            <a:off x="2120900" y="44831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Ритм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Чёткий, маршевый</a:t>
            </a:r>
            <a:endParaRPr lang="en-US" sz="2800" dirty="0"/>
          </a:p>
        </p:txBody>
      </p:sp>
      <p:sp>
        <p:nvSpPr>
          <p:cNvPr id="16" name="card-152"/>
          <p:cNvSpPr/>
          <p:nvPr/>
        </p:nvSpPr>
        <p:spPr>
          <a:xfrm>
            <a:off x="6197600" y="4330700"/>
            <a:ext cx="5181600" cy="171450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7" name="badge-153"/>
          <p:cNvSpPr/>
          <p:nvPr/>
        </p:nvSpPr>
        <p:spPr>
          <a:xfrm>
            <a:off x="6451600" y="47752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15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4965065"/>
            <a:ext cx="445770" cy="445770"/>
          </a:xfrm>
          <a:prstGeom prst="rect">
            <a:avLst/>
          </a:prstGeom>
        </p:spPr>
      </p:pic>
      <p:sp>
        <p:nvSpPr>
          <p:cNvPr id="19" name="card-text-155"/>
          <p:cNvSpPr txBox="1"/>
          <p:nvPr/>
        </p:nvSpPr>
        <p:spPr>
          <a:xfrm>
            <a:off x="7505700" y="4483100"/>
            <a:ext cx="3619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Характер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Уверенный и дружелюбный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56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СОДЕРЖАНИЕ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О чём поётся в песне?</a:t>
            </a:r>
            <a:endParaRPr lang="en-US" sz="3600" dirty="0"/>
          </a:p>
        </p:txBody>
      </p:sp>
      <p:sp>
        <p:nvSpPr>
          <p:cNvPr id="4" name="card-157"/>
          <p:cNvSpPr/>
          <p:nvPr/>
        </p:nvSpPr>
        <p:spPr>
          <a:xfrm>
            <a:off x="812800" y="2413000"/>
            <a:ext cx="5181600" cy="355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badge-158"/>
          <p:cNvSpPr/>
          <p:nvPr/>
        </p:nvSpPr>
        <p:spPr>
          <a:xfrm>
            <a:off x="1168400" y="2692400"/>
            <a:ext cx="889000" cy="889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870" y="2896870"/>
            <a:ext cx="480060" cy="480060"/>
          </a:xfrm>
          <a:prstGeom prst="rect">
            <a:avLst/>
          </a:prstGeom>
        </p:spPr>
      </p:pic>
      <p:sp>
        <p:nvSpPr>
          <p:cNvPr id="7" name="text-160"/>
          <p:cNvSpPr txBox="1"/>
          <p:nvPr/>
        </p:nvSpPr>
        <p:spPr>
          <a:xfrm>
            <a:off x="1168400" y="3784600"/>
            <a:ext cx="4470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Нет ничего лучше, чем путешествовать по свету вместе с друзьями</a:t>
            </a:r>
            <a:endParaRPr lang="en-US" sz="2800" dirty="0"/>
          </a:p>
        </p:txBody>
      </p:sp>
      <p:sp>
        <p:nvSpPr>
          <p:cNvPr id="8" name="card-161"/>
          <p:cNvSpPr/>
          <p:nvPr/>
        </p:nvSpPr>
        <p:spPr>
          <a:xfrm>
            <a:off x="6197600" y="2413000"/>
            <a:ext cx="5181600" cy="355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badge-162"/>
          <p:cNvSpPr/>
          <p:nvPr/>
        </p:nvSpPr>
        <p:spPr>
          <a:xfrm>
            <a:off x="6553200" y="2692400"/>
            <a:ext cx="889000" cy="889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670" y="2896870"/>
            <a:ext cx="480060" cy="480060"/>
          </a:xfrm>
          <a:prstGeom prst="rect">
            <a:avLst/>
          </a:prstGeom>
        </p:spPr>
      </p:pic>
      <p:sp>
        <p:nvSpPr>
          <p:cNvPr id="11" name="text-164"/>
          <p:cNvSpPr txBox="1"/>
          <p:nvPr/>
        </p:nvSpPr>
        <p:spPr>
          <a:xfrm>
            <a:off x="6553200" y="3784600"/>
            <a:ext cx="4470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Когда рядом друзья, ничего не страшно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65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СЛУШАЕМ ЕЩЁ РАЗ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Поём припев вместе!</a:t>
            </a:r>
            <a:endParaRPr lang="en-US" sz="3600" dirty="0"/>
          </a:p>
        </p:txBody>
      </p:sp>
      <p:sp>
        <p:nvSpPr>
          <p:cNvPr id="4" name="card-166"/>
          <p:cNvSpPr/>
          <p:nvPr/>
        </p:nvSpPr>
        <p:spPr>
          <a:xfrm>
            <a:off x="812800" y="2413000"/>
            <a:ext cx="10566400" cy="2095500"/>
          </a:xfrm>
          <a:prstGeom prst="roundRect">
            <a:avLst>
              <a:gd name="adj" fmla="val 9697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5" name="badge-167"/>
          <p:cNvSpPr/>
          <p:nvPr/>
        </p:nvSpPr>
        <p:spPr>
          <a:xfrm>
            <a:off x="1117600" y="3079750"/>
            <a:ext cx="762000" cy="762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-1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860" y="3255010"/>
            <a:ext cx="411480" cy="411480"/>
          </a:xfrm>
          <a:prstGeom prst="rect">
            <a:avLst/>
          </a:prstGeom>
        </p:spPr>
      </p:pic>
      <p:sp>
        <p:nvSpPr>
          <p:cNvPr id="7" name="chorus-169"/>
          <p:cNvSpPr txBox="1"/>
          <p:nvPr/>
        </p:nvSpPr>
        <p:spPr>
          <a:xfrm>
            <a:off x="2133600" y="2540000"/>
            <a:ext cx="901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«Ничего на свете лучше нету,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чем бродить друзьям по белу свету…»</a:t>
            </a:r>
            <a:endParaRPr lang="en-US" sz="3200" dirty="0"/>
          </a:p>
        </p:txBody>
      </p:sp>
      <p:sp>
        <p:nvSpPr>
          <p:cNvPr id="8" name="card-170"/>
          <p:cNvSpPr/>
          <p:nvPr/>
        </p:nvSpPr>
        <p:spPr>
          <a:xfrm>
            <a:off x="812800" y="4711700"/>
            <a:ext cx="5181600" cy="952500"/>
          </a:xfrm>
          <a:prstGeom prst="roundRect">
            <a:avLst>
              <a:gd name="adj" fmla="val 21333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badge-171"/>
          <p:cNvSpPr/>
          <p:nvPr/>
        </p:nvSpPr>
        <p:spPr>
          <a:xfrm>
            <a:off x="1066800" y="4870450"/>
            <a:ext cx="635000" cy="635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-1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5016500"/>
            <a:ext cx="342900" cy="342900"/>
          </a:xfrm>
          <a:prstGeom prst="rect">
            <a:avLst/>
          </a:prstGeom>
        </p:spPr>
      </p:pic>
      <p:sp>
        <p:nvSpPr>
          <p:cNvPr id="11" name="text-173"/>
          <p:cNvSpPr txBox="1"/>
          <p:nvPr/>
        </p:nvSpPr>
        <p:spPr>
          <a:xfrm>
            <a:off x="1892300" y="4838700"/>
            <a:ext cx="3848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Хлопаем в такт</a:t>
            </a:r>
            <a:endParaRPr lang="en-US" sz="2200" dirty="0"/>
          </a:p>
        </p:txBody>
      </p:sp>
      <p:sp>
        <p:nvSpPr>
          <p:cNvPr id="12" name="card-174"/>
          <p:cNvSpPr/>
          <p:nvPr/>
        </p:nvSpPr>
        <p:spPr>
          <a:xfrm>
            <a:off x="6197600" y="4711700"/>
            <a:ext cx="5181600" cy="952500"/>
          </a:xfrm>
          <a:prstGeom prst="roundRect">
            <a:avLst>
              <a:gd name="adj" fmla="val 21333"/>
            </a:avLst>
          </a:prstGeom>
          <a:solidFill>
            <a:schemeClr val="accent4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3" name="badge-175"/>
          <p:cNvSpPr/>
          <p:nvPr/>
        </p:nvSpPr>
        <p:spPr>
          <a:xfrm>
            <a:off x="6451600" y="4870450"/>
            <a:ext cx="635000" cy="6350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17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650" y="5016500"/>
            <a:ext cx="342900" cy="342900"/>
          </a:xfrm>
          <a:prstGeom prst="rect">
            <a:avLst/>
          </a:prstGeom>
        </p:spPr>
      </p:pic>
      <p:sp>
        <p:nvSpPr>
          <p:cNvPr id="15" name="text-177"/>
          <p:cNvSpPr txBox="1"/>
          <p:nvPr/>
        </p:nvSpPr>
        <p:spPr>
          <a:xfrm>
            <a:off x="7277100" y="4838700"/>
            <a:ext cx="3848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Маршируем под музыку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78"/>
          <p:cNvSpPr txBox="1"/>
          <p:nvPr/>
        </p:nvSpPr>
        <p:spPr>
          <a:xfrm>
            <a:off x="812800" y="14605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ГЛАВНАЯ МЫСЛЬ</a:t>
            </a:r>
            <a:endParaRPr lang="en-US" sz="1600" dirty="0"/>
          </a:p>
        </p:txBody>
      </p:sp>
      <p:sp>
        <p:nvSpPr>
          <p:cNvPr id="3" name="text-179"/>
          <p:cNvSpPr txBox="1"/>
          <p:nvPr/>
        </p:nvSpPr>
        <p:spPr>
          <a:xfrm>
            <a:off x="812800" y="1841500"/>
            <a:ext cx="105664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Ради настоящей дружбы и общей мечты можно преодолеть любые преграды</a:t>
            </a:r>
            <a:endParaRPr lang="en-US" sz="3600" dirty="0"/>
          </a:p>
        </p:txBody>
      </p:sp>
      <p:sp>
        <p:nvSpPr>
          <p:cNvPr id="4" name="card-180"/>
          <p:cNvSpPr/>
          <p:nvPr/>
        </p:nvSpPr>
        <p:spPr>
          <a:xfrm>
            <a:off x="812800" y="4000500"/>
            <a:ext cx="10566400" cy="1206500"/>
          </a:xfrm>
          <a:prstGeom prst="roundRect">
            <a:avLst>
              <a:gd name="adj" fmla="val 16842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badge-181"/>
          <p:cNvSpPr/>
          <p:nvPr/>
        </p:nvSpPr>
        <p:spPr>
          <a:xfrm>
            <a:off x="1117600" y="4191000"/>
            <a:ext cx="825500" cy="8255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1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465" y="4380865"/>
            <a:ext cx="445770" cy="445770"/>
          </a:xfrm>
          <a:prstGeom prst="rect">
            <a:avLst/>
          </a:prstGeom>
        </p:spPr>
      </p:pic>
      <p:sp>
        <p:nvSpPr>
          <p:cNvPr id="7" name="text-183"/>
          <p:cNvSpPr txBox="1"/>
          <p:nvPr/>
        </p:nvSpPr>
        <p:spPr>
          <a:xfrm>
            <a:off x="2222500" y="4127500"/>
            <a:ext cx="882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Никакие сокровища мира не заменят верного друга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184"/>
          <p:cNvSpPr txBox="1"/>
          <p:nvPr/>
        </p:nvSpPr>
        <p:spPr>
          <a:xfrm>
            <a:off x="812800" y="8128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ПОДВЕДЁМ ИТОГИ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181100"/>
            <a:ext cx="10566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Вспомним наш урок</a:t>
            </a:r>
            <a:endParaRPr lang="en-US" sz="3600" dirty="0"/>
          </a:p>
        </p:txBody>
      </p:sp>
      <p:sp>
        <p:nvSpPr>
          <p:cNvPr id="4" name="card-185"/>
          <p:cNvSpPr/>
          <p:nvPr/>
        </p:nvSpPr>
        <p:spPr>
          <a:xfrm>
            <a:off x="812800" y="2413000"/>
            <a:ext cx="10566400" cy="1066800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num-badge-186"/>
          <p:cNvSpPr/>
          <p:nvPr/>
        </p:nvSpPr>
        <p:spPr>
          <a:xfrm>
            <a:off x="1066800" y="2597150"/>
            <a:ext cx="698500" cy="6985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187"/>
          <p:cNvSpPr txBox="1"/>
          <p:nvPr/>
        </p:nvSpPr>
        <p:spPr>
          <a:xfrm>
            <a:off x="1066800" y="2597150"/>
            <a:ext cx="698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-188"/>
          <p:cNvSpPr txBox="1"/>
          <p:nvPr/>
        </p:nvSpPr>
        <p:spPr>
          <a:xfrm>
            <a:off x="2032000" y="2565400"/>
            <a:ext cx="901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С каким произведением мы сегодня познакомились?</a:t>
            </a:r>
            <a:endParaRPr lang="en-US" sz="2200" dirty="0"/>
          </a:p>
        </p:txBody>
      </p:sp>
      <p:sp>
        <p:nvSpPr>
          <p:cNvPr id="8" name="card-189"/>
          <p:cNvSpPr/>
          <p:nvPr/>
        </p:nvSpPr>
        <p:spPr>
          <a:xfrm>
            <a:off x="812800" y="3683000"/>
            <a:ext cx="10566400" cy="1066800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num-badge-190"/>
          <p:cNvSpPr/>
          <p:nvPr/>
        </p:nvSpPr>
        <p:spPr>
          <a:xfrm>
            <a:off x="1066800" y="3867150"/>
            <a:ext cx="698500" cy="6985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-191"/>
          <p:cNvSpPr txBox="1"/>
          <p:nvPr/>
        </p:nvSpPr>
        <p:spPr>
          <a:xfrm>
            <a:off x="1066800" y="3867150"/>
            <a:ext cx="698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-192"/>
          <p:cNvSpPr txBox="1"/>
          <p:nvPr/>
        </p:nvSpPr>
        <p:spPr>
          <a:xfrm>
            <a:off x="2032000" y="3835400"/>
            <a:ext cx="901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Кто его написал?</a:t>
            </a:r>
            <a:endParaRPr lang="en-US" sz="2200" dirty="0"/>
          </a:p>
        </p:txBody>
      </p:sp>
      <p:sp>
        <p:nvSpPr>
          <p:cNvPr id="12" name="card-193"/>
          <p:cNvSpPr/>
          <p:nvPr/>
        </p:nvSpPr>
        <p:spPr>
          <a:xfrm>
            <a:off x="812800" y="4953000"/>
            <a:ext cx="10566400" cy="1066800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3" name="num-badge-194"/>
          <p:cNvSpPr/>
          <p:nvPr/>
        </p:nvSpPr>
        <p:spPr>
          <a:xfrm>
            <a:off x="1066800" y="5137150"/>
            <a:ext cx="698500" cy="6985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-195"/>
          <p:cNvSpPr txBox="1"/>
          <p:nvPr/>
        </p:nvSpPr>
        <p:spPr>
          <a:xfrm>
            <a:off x="1066800" y="5137150"/>
            <a:ext cx="698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-196"/>
          <p:cNvSpPr txBox="1"/>
          <p:nvPr/>
        </p:nvSpPr>
        <p:spPr>
          <a:xfrm>
            <a:off x="2032000" y="5105400"/>
            <a:ext cx="901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Какую главную мысль передаёт эта песня?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-shadow-197"/>
          <p:cNvSpPr/>
          <p:nvPr/>
        </p:nvSpPr>
        <p:spPr>
          <a:xfrm>
            <a:off x="812800" y="939800"/>
            <a:ext cx="4978400" cy="4978400"/>
          </a:xfrm>
          <a:prstGeom prst="roundRect">
            <a:avLst>
              <a:gd name="adj" fmla="val 3571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304800" dist="127000" dir="5400000">
              <a:srgbClr val="3C280A">
                <a:alpha val="35000"/>
              </a:srgbClr>
            </a:outerShdw>
          </a:effectLst>
        </p:spPr>
      </p:sp>
      <p:pic>
        <p:nvPicPr>
          <p:cNvPr id="3" name="photo-198" descr="Открытый сундук, из которого льётся золотой свет, вылетают ноты и сердеч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939800"/>
            <a:ext cx="4978400" cy="4978400"/>
          </a:xfrm>
          <a:prstGeom prst="rect">
            <a:avLst/>
          </a:prstGeom>
        </p:spPr>
      </p:pic>
      <p:sp>
        <p:nvSpPr>
          <p:cNvPr id="4" name="eyebrow-199"/>
          <p:cNvSpPr txBox="1"/>
          <p:nvPr/>
        </p:nvSpPr>
        <p:spPr>
          <a:xfrm>
            <a:off x="6400800" y="1244600"/>
            <a:ext cx="4978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tx1"/>
                </a:solidFill>
              </a:rPr>
              <a:t>РЕФЛЕКСИЯ</a:t>
            </a:r>
            <a:endParaRPr lang="en-US" sz="1600" dirty="0"/>
          </a:p>
        </p:txBody>
      </p:sp>
      <p:sp>
        <p:nvSpPr>
          <p:cNvPr id="5" name="text-200"/>
          <p:cNvSpPr txBox="1"/>
          <p:nvPr/>
        </p:nvSpPr>
        <p:spPr>
          <a:xfrm>
            <a:off x="6400800" y="1625600"/>
            <a:ext cx="4978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Каким сокровищем оказались герои из сундука?</a:t>
            </a:r>
            <a:endParaRPr lang="en-US" sz="3600" dirty="0"/>
          </a:p>
        </p:txBody>
      </p:sp>
      <p:sp>
        <p:nvSpPr>
          <p:cNvPr id="6" name="text-201"/>
          <p:cNvSpPr txBox="1"/>
          <p:nvPr/>
        </p:nvSpPr>
        <p:spPr>
          <a:xfrm>
            <a:off x="6400800" y="4318000"/>
            <a:ext cx="497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Дружбой!</a:t>
            </a:r>
            <a:endParaRPr lang="en-US" sz="6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202"/>
          <p:cNvSpPr txBox="1"/>
          <p:nvPr/>
        </p:nvSpPr>
        <p:spPr>
          <a:xfrm>
            <a:off x="812800" y="1333500"/>
            <a:ext cx="5130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НАСТРОЕНИЕ</a:t>
            </a:r>
            <a:endParaRPr lang="en-US" sz="1600" dirty="0"/>
          </a:p>
        </p:txBody>
      </p:sp>
      <p:sp>
        <p:nvSpPr>
          <p:cNvPr id="3" name="text-203"/>
          <p:cNvSpPr txBox="1"/>
          <p:nvPr/>
        </p:nvSpPr>
        <p:spPr>
          <a:xfrm>
            <a:off x="812800" y="1714500"/>
            <a:ext cx="51308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Кому эта песня подняла настроение?</a:t>
            </a:r>
            <a:endParaRPr lang="en-US" sz="3600" dirty="0"/>
          </a:p>
        </p:txBody>
      </p:sp>
      <p:sp>
        <p:nvSpPr>
          <p:cNvPr id="4" name="text-204"/>
          <p:cNvSpPr txBox="1"/>
          <p:nvPr/>
        </p:nvSpPr>
        <p:spPr>
          <a:xfrm>
            <a:off x="812800" y="3746500"/>
            <a:ext cx="5130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Поднимите руки!</a:t>
            </a:r>
            <a:endParaRPr lang="en-US" sz="2200" dirty="0"/>
          </a:p>
        </p:txBody>
      </p:sp>
      <p:sp>
        <p:nvSpPr>
          <p:cNvPr id="5" name="text-205"/>
          <p:cNvSpPr txBox="1"/>
          <p:nvPr/>
        </p:nvSpPr>
        <p:spPr>
          <a:xfrm>
            <a:off x="812800" y="4381500"/>
            <a:ext cx="5130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Спасибо за урок!</a:t>
            </a:r>
            <a:endParaRPr lang="en-US" sz="3600" dirty="0"/>
          </a:p>
        </p:txBody>
      </p:sp>
      <p:sp>
        <p:nvSpPr>
          <p:cNvPr id="6" name="photo-shadow-206"/>
          <p:cNvSpPr/>
          <p:nvPr/>
        </p:nvSpPr>
        <p:spPr>
          <a:xfrm>
            <a:off x="6553200" y="1016000"/>
            <a:ext cx="4826000" cy="4826000"/>
          </a:xfrm>
          <a:prstGeom prst="roundRect">
            <a:avLst>
              <a:gd name="adj" fmla="val 3684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27000" dir="5400000">
              <a:srgbClr val="080A1E">
                <a:alpha val="35000"/>
              </a:srgbClr>
            </a:outerShdw>
          </a:effectLst>
        </p:spPr>
      </p:sp>
      <p:pic>
        <p:nvPicPr>
          <p:cNvPr id="7" name="photo-207" descr="Радостные дети в солнечном классе поднимают руки ввер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1016000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Песни о дружбе">
  <a:themeElements>
    <a:clrScheme name="Песни о дружбе">
      <a:dk1>
        <a:srgbClr val="1E2756"/>
      </a:dk1>
      <a:lt1>
        <a:srgbClr val="F6F3FB"/>
      </a:lt1>
      <a:dk2>
        <a:srgbClr val="4A4F6E"/>
      </a:dk2>
      <a:lt2>
        <a:srgbClr val="FDFCFF"/>
      </a:lt2>
      <a:accent1>
        <a:srgbClr val="5A4BD1"/>
      </a:accent1>
      <a:accent2>
        <a:srgbClr val="F4B740"/>
      </a:accent2>
      <a:accent3>
        <a:srgbClr val="C9CCE8"/>
      </a:accent3>
      <a:accent4>
        <a:srgbClr val="2A3470"/>
      </a:accent4>
      <a:accent5>
        <a:srgbClr val="DCD6EE"/>
      </a:accent5>
      <a:accent6>
        <a:srgbClr val="46529A"/>
      </a:accent6>
      <a:hlink>
        <a:srgbClr val="5A4BD1"/>
      </a:hlink>
      <a:folHlink>
        <a:srgbClr val="46529A"/>
      </a:folHlink>
    </a:clrScheme>
    <a:fontScheme name="Песни о дружбе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Песни о дружбе</dc:title>
  <dc:subject>Урок музыки: песни о дружбе</dc:subject>
  <dc:creator>Урок музыки</dc:creator>
  <cp:lastModifiedBy>Урок музыки</cp:lastModifiedBy>
  <cp:revision>1</cp:revision>
  <dcterms:created xsi:type="dcterms:W3CDTF">2026-10-27T07:28:36Z</dcterms:created>
  <dcterms:modified xsi:type="dcterms:W3CDTF">2026-10-27T07:28:36Z</dcterms:modified>
</cp:coreProperties>
</file>