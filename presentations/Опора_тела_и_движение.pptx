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ound1.wav" ContentType="audio/wav"/>
  <Override PartName="/ppt/media/sound2.wav" ContentType="audio/wav"/>
  <Override PartName="/ppt/media/sound3.wav" ContentType="audio/wav"/>
  <Override PartName="/ppt/media/sound4.wav" ContentType="audio/wav"/>
  <Override PartName="/ppt/media/sound5.wav" ContentType="audio/wav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Здравствуйте, ребята! Сегодня у нас необычный урок: мы отправимся в путешествие в музей «Тело человека». А экскурсоводом будет весёлый скелетик Костик. Посмотрите, как он нам машет! Помашем ему в ответ.</a:t>
            </a:r>
          </a:p>
          <a:p>
            <a:r>
              <a:t>Тему урока пока не называем — дети отгадают её сами на следующих слайдах.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Костик приготовил для вас загадку. Послушайте внимательно (учитель читает загадку).</a:t>
            </a:r>
          </a:p>
          <a:p>
            <a:r>
              <a:t>Ответ детей: скелет. По щелчку появляется ответ «СКЕЛЕТ» и фотография скелета.</a:t>
            </a:r>
          </a:p>
          <a:p>
            <a:r>
              <a:t>— Правильно! Скелет — это каркас нашего тела. А зачем он нам нужен? Сейчас разберёмся.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 на картинку. Медуза в море плавает красиво, а на берегу растекается, как желе. А мальчик прыгает, бегает и стоит ровно. Почему так?</a:t>
            </a:r>
          </a:p>
          <a:p>
            <a:r>
              <a:t>Выслушать версии детей. 1-й щелчок: у медузы нет скелета. 2-й щелчок: у человека есть скелет и мышцы.</a:t>
            </a:r>
          </a:p>
          <a:p>
            <a:r>
              <a:t>— Значит, тема нашего урока — «Опора тела и движение».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Тема урока: «Опора тела и движение».</a:t>
            </a:r>
          </a:p>
          <a:p>
            <a:r>
              <a:t>Цель: узнать, что помогает нашему телу держать форму и двигаться.</a:t>
            </a:r>
          </a:p>
          <a:p>
            <a:r>
              <a:t>Задачи появляются по щелчку: 1) познакомиться со скелетом и его частями; 2) узнать, как работают суставы и мышцы; 3) выяснить, что такое осанка и как её беречь; 4) проверить свои знания в играх.</a:t>
            </a:r>
          </a:p>
          <a:p>
            <a:r>
              <a:t>Для учителя (цели урока): образовательная — сформировать представление об опорно-двигательной системе человека (скелет, суставы, мышцы, осанка); развивающая — развивать наблюдательность, умение сравнивать и делать выводы; воспитательная — воспитывать бережное отношение к своему здоровью.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маршрут нашего урока (интерактивное содержание). Каждая картинка — кнопка: нажмите на неё, и презентация перейдёт к этой части урока.</a:t>
            </a:r>
          </a:p>
          <a:p>
            <a:r>
              <a:t>На всех следующих слайдах есть кнопка «МАРШРУТ» — она возвращает сюда.</a:t>
            </a:r>
          </a:p>
          <a:p>
            <a:r>
              <a:t>01 — Видеоэкскурсия, 02 — Виртуальная экскурсия по музею, 03 — Физминутка, 04 — Игры «Проверь себя», 05 — Онлайн-задание, 06 — Итоги урока, 07 — Рефлексия.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просмотром дайте детям задание: найти в фильме ответы на три вопроса (они на слайде).</a:t>
            </a:r>
          </a:p>
          <a:p>
            <a:r>
              <a:t>Видео открывается по нажатию на экран или кнопку «Смотреть видео» (нужен интернет): https://youtu.be/6C_RWeZtCNg?si=fnJgUxPPG3wl2pDA</a:t>
            </a:r>
          </a:p>
          <a:p>
            <a:r>
              <a:t>После просмотра обсудите ответы: опора тела — скелет; мозг защищает череп, сердце и лёгкие — грудная клетка; двигаться помогают мышцы и суставы.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входим в музей «Тело человека». Здесь шесть залов. Нажмите на билет зала — и Костик проведёт вас туда (картинка билета плавно «раскрывается» в зал). Из каждого зала можно вернуться сюда кнопкой «МУЗЕЙ».</a:t>
            </a:r>
          </a:p>
          <a:p>
            <a:r>
              <a:t>Удобный порядок: залы с 1-го по 6-й, кнопка «Следующий зал» ведёт дальше по порядку.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Зал 1. Посмотрите на палатки: у одной нет каркаса — и она упала. Так и наше тело: без скелета мы не смогли бы стоять.</a:t>
            </a:r>
          </a:p>
          <a:p>
            <a:r>
              <a:t>Скелет — это прочный каркас тела из костей. Он держит форму тела, защищает внутренние органы и вместе с мышцами помогает двигаться.</a:t>
            </a:r>
          </a:p>
          <a:p>
            <a:r>
              <a:t>Щелчок — определение, ещё щелчок — интересные числа: у взрослого 206 костей, а у новорождённого около 300 — по мере роста некоторые кости срастаются.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Зал 2. Это скелет человека. Нажимайте на цветные названия — появится линия к нужной части скелета и подсказка.</a:t>
            </a:r>
          </a:p>
          <a:p>
            <a:r>
              <a:t>Череп защищает головной мозг. Грудная клетка (12 пар рёбер) защищает сердце и лёгкие. Позвоночник — главная опора тела, в нём 33–34 позвонка, поэтому он гибкий. Кости таза — опора для позвоночника, к ним крепятся ноги. Кости рук помогают брать предметы, писать, рисовать (в кисти 27 косточек). Кости ног держат вес тела; бедренная кость — самая длинная.</a:t>
            </a:r>
          </a:p>
          <a:p>
            <a:r>
              <a:t>На этом слайде щелчок по пустому месту не перелистывает — используйте кнопку «Следующий зал» или стрелку на клавиатуре.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Зал 3. Посмотрите на деревянную куклу: она гнётся там, где у неё шарниры. У нас тоже есть такие «шарниры» — суставы.</a:t>
            </a:r>
          </a:p>
          <a:p>
            <a:r>
              <a:t>Суставы — подвижные соединения костей: плечевой, локтевой, коленный, тазобедренный и другие.</a:t>
            </a:r>
          </a:p>
          <a:p>
            <a:r>
              <a:t>По щелчку появляются задания «Попробуй сам!» — дети выполняют движения: сгибают руку в локте, крутят кистью, приседают, наклоняют голову. Спросите: какие суставы работали?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Зал 4. Кости сами двигаться не могут — их приводят в движение мышцы. В теле человека больше 600 мышц.</a:t>
            </a:r>
          </a:p>
          <a:p>
            <a:r>
              <a:t>Мышцы крепятся к костям сухожилиями. Сокращаясь, мышца тянет кость. Мышцы работают парами: двуглавая мышца плеча (бицепс) сгибает руку, трёхглавая (трицепс) — разгибает. Предложите детям согнуть руку и потрогать мышцу.</a:t>
            </a:r>
          </a:p>
          <a:p>
            <a:r>
              <a:t>Сердце — тоже мышца, которая работает всю жизнь без отдыха.</a:t>
            </a:r>
          </a:p>
          <a:p>
            <a:r>
              <a:t>Вывод: скелет и мышцы вместе — это опорно-двигательная система.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Зал 5. Осанка — это привычное положение тела, когда мы сидим, стоим и ходим.</a:t>
            </a:r>
          </a:p>
          <a:p>
            <a:r>
              <a:t>Вопрос: кто из мальчиков сидит правильно? Пусть дети ответят, а затем нажмите на картинку.</a:t>
            </a:r>
          </a:p>
          <a:p>
            <a:r>
              <a:t>Картинка Б — правильно: спина прямая, ноги на полу, тетрадь далеко от глаз (зелёная рамка и звук колокольчика). Картинка А — неправильно: спина согнута, голова низко (красная рамка).</a:t>
            </a:r>
          </a:p>
          <a:p>
            <a:r>
              <a:t>Щелчок по пустому месту не перелистывает слайд — дальше по кнопке «Правила осанки».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Правила хорошей осанки появляются по щелчку. Костик держит книгу на голове — попробуйте пройтись по классу так же, ровно-ровно, чтобы книга не упала! Это отличное упражнение для осанки.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Зал 6 — Музей рекордов. По щелчку открываются карточки: 206 костей у взрослого; больше 600 мышц; самая маленькая кость — стремечко в ухе, около 3 мм; в кистях и стопах 106 костей — больше половины всех костей скелета! Самая длинная кость — бедренная.</a:t>
            </a:r>
          </a:p>
          <a:p>
            <a:r>
              <a:t>Кнопка «Выйти из музея» ведёт к физминутке.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Физминутка! Все встают. Видео запускается автоматически и повторяется по кругу — выполняйте движения вместе с героиней: руки в стороны, наклоны вправо-влево, руки вверх, присесть и встать. Щелчок по видео — пауза/продолжить.</a:t>
            </a:r>
          </a:p>
          <a:p>
            <a:r>
              <a:t>Видео для физминутки создано нейросетью.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Интерактивные игры, сделанные средствами PowerPoint (триггеры, анимация, гиперссылки, звуки).</a:t>
            </a:r>
          </a:p>
          <a:p>
            <a:r>
              <a:t>Нажмите на игру, чтобы начать. Правило: если ответ верный — зелёный цвет и колокольчик, если нет — красный цвет, и можно попробовать ещё раз. Игры идут по порядку: викторина → «Кто кого защищает?» → «Верю — не верю».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1. Что служит опорой нашего тела?</a:t>
            </a:r>
          </a:p>
          <a:p>
            <a:r>
              <a:t>Варианты: Кожа, Скелет, Сердце.</a:t>
            </a:r>
          </a:p>
          <a:p>
            <a:r>
              <a:t>Правильный ответ: Скелет.</a:t>
            </a:r>
          </a:p>
          <a:p>
            <a:r>
              <a:t>Нажмите на ответ, который выбрали дети. Верный — зелёная карточка, колокольчик, Костик прыгает от радости, и появляется кнопка «Следующий вопрос». Неверный — красная карточка и подсказка «Подумай ещё раз»; можно выбрать снова.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2. Какие кости защищают головной мозг?</a:t>
            </a:r>
          </a:p>
          <a:p>
            <a:r>
              <a:t>Варианты: Череп, Рёбра, Позвоночник.</a:t>
            </a:r>
          </a:p>
          <a:p>
            <a:r>
              <a:t>Правильный ответ: Череп.</a:t>
            </a:r>
          </a:p>
          <a:p>
            <a:r>
              <a:t>Нажмите на ответ, который выбрали дети. Верный — зелёная карточка, колокольчик, Костик прыгает от радости, и появляется кнопка «Следующий вопрос». Неверный — красная карточка и подсказка «Подумай ещё раз»; можно выбрать снова.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3. Что защищает грудная клетка?</a:t>
            </a:r>
          </a:p>
          <a:p>
            <a:r>
              <a:t>Варианты: Желудок, Головной мозг, Сердце и лёгкие.</a:t>
            </a:r>
          </a:p>
          <a:p>
            <a:r>
              <a:t>Правильный ответ: Сердце и лёгкие.</a:t>
            </a:r>
          </a:p>
          <a:p>
            <a:r>
              <a:t>Нажмите на ответ, который выбрали дети. Верный — зелёная карточка, колокольчик, Костик прыгает от радости, и появляется кнопка «Следующий вопрос». Неверный — красная карточка и подсказка «Подумай ещё раз»; можно выбрать снова.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4. Сколько мышц в теле человека?</a:t>
            </a:r>
          </a:p>
          <a:p>
            <a:r>
              <a:t>Варианты: Около 60, Больше 600, Около 6.</a:t>
            </a:r>
          </a:p>
          <a:p>
            <a:r>
              <a:t>Правильный ответ: Больше 600.</a:t>
            </a:r>
          </a:p>
          <a:p>
            <a:r>
              <a:t>Нажмите на ответ, который выбрали дети. Верный — зелёная карточка, колокольчик, Костик прыгает от радости, и появляется кнопка «Следующий вопрос». Неверный — красная карточка и подсказка «Подумай ещё раз»; можно выбрать снова.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5. Как называются подвижные соединения костей?</a:t>
            </a:r>
          </a:p>
          <a:p>
            <a:r>
              <a:t>Варианты: Суставы, Мышцы, Позвонки.</a:t>
            </a:r>
          </a:p>
          <a:p>
            <a:r>
              <a:t>Правильный ответ: Суставы.</a:t>
            </a:r>
          </a:p>
          <a:p>
            <a:r>
              <a:t>Нажмите на ответ, который выбрали дети. Верный — зелёная карточка, колокольчик, Костик прыгает от радости, и появляется кнопка «Следующая игра». Неверный — красная карточка и подсказка «Подумай ещё раз»; можно выбрать снова.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Игра на соответствие. Спросите детей: что защищает череп? грудная клетка? позвоночник?</a:t>
            </a:r>
          </a:p>
          <a:p>
            <a:r>
              <a:t>После ответа нажмите на карточку кости — появится линия к органу, который она защищает, и зелёная рамка.</a:t>
            </a:r>
          </a:p>
          <a:p>
            <a:r>
              <a:t>Череп — головной мозг; грудная клетка — сердце и лёгкие; позвоночник — спинной мозг.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Игра «Верю — не верю». Учитель читает утверждение, дети поднимают руки: «верю» или «не верю». Затем нажмите на карточку — она перевернётся и покажет правильный ответ.</a:t>
            </a:r>
          </a:p>
          <a:p>
            <a:r>
              <a:t>1) Сердце — тоже мышца: верю. 2) Позвоночник — одна кость: не верю (33–34 позвонка). 3) Самая маленькая кость в ухе: верю (стремечко, около 3 мм). 4) Чтобы мышцы были сильными, надо больше лежать: не верю.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Онлайн-задание. Нажмите кнопку «Играть онлайн» (нужен интернет) или дайте детям отсканировать QR-код планшетом/телефоном.</a:t>
            </a:r>
          </a:p>
          <a:p>
            <a:r>
              <a:t>Ссылка: https://kostik-skeleton.lovable.app</a:t>
            </a:r>
          </a:p>
          <a:p>
            <a:r>
              <a:t>В игре три уровня: подобрать к каждой кости её работу; ответить «верно/неверно» на время; разложить привычки на полезные и вредные для осанки. В конце — звёзды и диплом «Знаток скелета».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Подведение итогов в игровой форме. Учитель читает начало фразы, дети хором заканчивают, затем щелчок — появляется ответ.</a:t>
            </a:r>
          </a:p>
          <a:p>
            <a:r>
              <a:t>Ответы: скелет; череп; суставы; мышцы; осанка.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Инфографика «Что мы узнали»: скелет — 206 костей, опора и защита тела; суставы — подвижные соединения костей; мышцы — больше 600, приводят кости в движение; осанка — правильное положение тела. Скелет и мышцы вместе — опорно-двигательная система: «Скелет + мышцы = движение!»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сделать кости крепкими, а мышцы сильными? Правильно питаться: молоко, творог, сыр, рыба содержат кальций. Много двигаться: зарядка, прогулки, спорт. Высыпаться: младшим школьникам нужно 9–10 часов сна. И следить за осанкой!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Рефлексия «Лесенка успеха». Каждый ученик решает, на какой ступеньке он сейчас: «Мне было трудно», «Есть вопросы» или «Всё понятно! Могу объяснить другу». Нажмите на ступеньку — на неё запрыгнет Костик и скажет ободряющие слова. Можно попросить детей поднять руку у своей ступеньки.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Продолжите фразу. Дети по желанию заканчивают одну из фраз. После ответа нажмите на карточку — Костик дарит звезду.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урок! Костик прощается с ребятами. Напомните: берегите осанку, больше двигайтесь и правильно питайтесь.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Источники и инструменты. Нейросети, которые использовались при подготовке проекта: Claude — сценарий, тексты, задания, вёрстка и онлайн-игра; Nano Banana 2 (через Higgsfield) — иллюстрации; MiniMax Hailuo — видео для физминутки.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jpg"/><Relationship Id="rId8" Type="http://schemas.openxmlformats.org/officeDocument/2006/relationships/image" Target="../media/image11.png"/><Relationship Id="rId9" Type="http://schemas.openxmlformats.org/officeDocument/2006/relationships/audio" Target="../media/sound1.wav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15.jpg"/><Relationship Id="rId7" Type="http://schemas.openxmlformats.org/officeDocument/2006/relationships/audio" Target="../media/sound2.wav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18.jp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jpg"/><Relationship Id="rId6" Type="http://schemas.openxmlformats.org/officeDocument/2006/relationships/image" Target="../media/image28.png"/><Relationship Id="rId7" Type="http://schemas.openxmlformats.org/officeDocument/2006/relationships/slide" Target="slide6.xml"/><Relationship Id="rId8" Type="http://schemas.openxmlformats.org/officeDocument/2006/relationships/image" Target="../media/image29.jpg"/><Relationship Id="rId9" Type="http://schemas.openxmlformats.org/officeDocument/2006/relationships/image" Target="../media/image30.png"/><Relationship Id="rId10" Type="http://schemas.openxmlformats.org/officeDocument/2006/relationships/slide" Target="slide7.xml"/><Relationship Id="rId11" Type="http://schemas.openxmlformats.org/officeDocument/2006/relationships/image" Target="../media/image31.jpg"/><Relationship Id="rId12" Type="http://schemas.openxmlformats.org/officeDocument/2006/relationships/image" Target="../media/image32.png"/><Relationship Id="rId13" Type="http://schemas.openxmlformats.org/officeDocument/2006/relationships/slide" Target="slide15.xml"/><Relationship Id="rId14" Type="http://schemas.openxmlformats.org/officeDocument/2006/relationships/image" Target="../media/image33.jpg"/><Relationship Id="rId15" Type="http://schemas.openxmlformats.org/officeDocument/2006/relationships/image" Target="../media/image34.png"/><Relationship Id="rId16" Type="http://schemas.openxmlformats.org/officeDocument/2006/relationships/slide" Target="slide16.xml"/><Relationship Id="rId17" Type="http://schemas.openxmlformats.org/officeDocument/2006/relationships/image" Target="../media/image35.jpg"/><Relationship Id="rId18" Type="http://schemas.openxmlformats.org/officeDocument/2006/relationships/image" Target="../media/image36.png"/><Relationship Id="rId19" Type="http://schemas.openxmlformats.org/officeDocument/2006/relationships/slide" Target="slide24.xml"/><Relationship Id="rId20" Type="http://schemas.openxmlformats.org/officeDocument/2006/relationships/image" Target="../media/image37.jpg"/><Relationship Id="rId21" Type="http://schemas.openxmlformats.org/officeDocument/2006/relationships/image" Target="../media/image38.png"/><Relationship Id="rId22" Type="http://schemas.openxmlformats.org/officeDocument/2006/relationships/slide" Target="slide25.xml"/><Relationship Id="rId23" Type="http://schemas.openxmlformats.org/officeDocument/2006/relationships/image" Target="../media/image39.jpg"/><Relationship Id="rId24" Type="http://schemas.openxmlformats.org/officeDocument/2006/relationships/image" Target="../media/image40.png"/><Relationship Id="rId25" Type="http://schemas.openxmlformats.org/officeDocument/2006/relationships/slide" Target="slide28.xml"/><Relationship Id="rId26" Type="http://schemas.openxmlformats.org/officeDocument/2006/relationships/image" Target="../media/image41.png"/><Relationship Id="rId2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27.jpg"/><Relationship Id="rId7" Type="http://schemas.openxmlformats.org/officeDocument/2006/relationships/image" Target="../media/image44.png"/><Relationship Id="rId8" Type="http://schemas.openxmlformats.org/officeDocument/2006/relationships/hyperlink" Target="https://youtu.be/6C_RWeZtCNg?si=fnJgUxPPG3wl2pDA" TargetMode="External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audio" Target="../media/sound2.wav"/><Relationship Id="rId1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49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29.jpg"/><Relationship Id="rId7" Type="http://schemas.openxmlformats.org/officeDocument/2006/relationships/image" Target="../media/image50.png"/><Relationship Id="rId8" Type="http://schemas.openxmlformats.org/officeDocument/2006/relationships/image" Target="../media/image41.png"/><Relationship Id="rId9" Type="http://schemas.openxmlformats.org/officeDocument/2006/relationships/image" Target="../media/image51.jpg"/><Relationship Id="rId10" Type="http://schemas.openxmlformats.org/officeDocument/2006/relationships/image" Target="../media/image52.png"/><Relationship Id="rId11" Type="http://schemas.openxmlformats.org/officeDocument/2006/relationships/slide" Target="slide8.xml"/><Relationship Id="rId12" Type="http://schemas.openxmlformats.org/officeDocument/2006/relationships/image" Target="../media/image53.jpg"/><Relationship Id="rId13" Type="http://schemas.openxmlformats.org/officeDocument/2006/relationships/image" Target="../media/image54.png"/><Relationship Id="rId14" Type="http://schemas.openxmlformats.org/officeDocument/2006/relationships/slide" Target="slide9.xml"/><Relationship Id="rId15" Type="http://schemas.openxmlformats.org/officeDocument/2006/relationships/image" Target="../media/image55.jpg"/><Relationship Id="rId16" Type="http://schemas.openxmlformats.org/officeDocument/2006/relationships/image" Target="../media/image56.png"/><Relationship Id="rId17" Type="http://schemas.openxmlformats.org/officeDocument/2006/relationships/slide" Target="slide10.xml"/><Relationship Id="rId18" Type="http://schemas.openxmlformats.org/officeDocument/2006/relationships/image" Target="../media/image57.jpg"/><Relationship Id="rId19" Type="http://schemas.openxmlformats.org/officeDocument/2006/relationships/image" Target="../media/image58.png"/><Relationship Id="rId20" Type="http://schemas.openxmlformats.org/officeDocument/2006/relationships/slide" Target="slide11.xml"/><Relationship Id="rId21" Type="http://schemas.openxmlformats.org/officeDocument/2006/relationships/image" Target="../media/image59.jpg"/><Relationship Id="rId22" Type="http://schemas.openxmlformats.org/officeDocument/2006/relationships/image" Target="../media/image60.png"/><Relationship Id="rId23" Type="http://schemas.openxmlformats.org/officeDocument/2006/relationships/slide" Target="slide12.xml"/><Relationship Id="rId24" Type="http://schemas.openxmlformats.org/officeDocument/2006/relationships/image" Target="../media/image61.jpg"/><Relationship Id="rId25" Type="http://schemas.openxmlformats.org/officeDocument/2006/relationships/image" Target="../media/image62.png"/><Relationship Id="rId26" Type="http://schemas.openxmlformats.org/officeDocument/2006/relationships/slide" Target="slide14.xml"/><Relationship Id="rId2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63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64.png"/><Relationship Id="rId7" Type="http://schemas.openxmlformats.org/officeDocument/2006/relationships/slide" Target="slide7.xml"/><Relationship Id="rId8" Type="http://schemas.openxmlformats.org/officeDocument/2006/relationships/image" Target="../media/image65.jpg"/><Relationship Id="rId9" Type="http://schemas.openxmlformats.org/officeDocument/2006/relationships/image" Target="../media/image66.png"/><Relationship Id="rId10" Type="http://schemas.openxmlformats.org/officeDocument/2006/relationships/image" Target="../media/image67.png"/><Relationship Id="rId11" Type="http://schemas.openxmlformats.org/officeDocument/2006/relationships/image" Target="../media/image68.png"/><Relationship Id="rId12" Type="http://schemas.openxmlformats.org/officeDocument/2006/relationships/image" Target="../media/image69.png"/><Relationship Id="rId13" Type="http://schemas.openxmlformats.org/officeDocument/2006/relationships/slide" Target="slide9.xml"/><Relationship Id="rId14" Type="http://schemas.openxmlformats.org/officeDocument/2006/relationships/audio" Target="../media/sound2.wav"/><Relationship Id="rId1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70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64.png"/><Relationship Id="rId7" Type="http://schemas.openxmlformats.org/officeDocument/2006/relationships/slide" Target="slide7.xml"/><Relationship Id="rId8" Type="http://schemas.openxmlformats.org/officeDocument/2006/relationships/image" Target="../media/image71.png"/><Relationship Id="rId9" Type="http://schemas.openxmlformats.org/officeDocument/2006/relationships/image" Target="../media/image10.jpg"/><Relationship Id="rId10" Type="http://schemas.openxmlformats.org/officeDocument/2006/relationships/image" Target="../media/image72.png"/><Relationship Id="rId11" Type="http://schemas.openxmlformats.org/officeDocument/2006/relationships/image" Target="../media/image73.png"/><Relationship Id="rId12" Type="http://schemas.openxmlformats.org/officeDocument/2006/relationships/image" Target="../media/image74.png"/><Relationship Id="rId13" Type="http://schemas.openxmlformats.org/officeDocument/2006/relationships/image" Target="../media/image75.png"/><Relationship Id="rId14" Type="http://schemas.openxmlformats.org/officeDocument/2006/relationships/image" Target="../media/image76.png"/><Relationship Id="rId15" Type="http://schemas.openxmlformats.org/officeDocument/2006/relationships/image" Target="../media/image77.png"/><Relationship Id="rId16" Type="http://schemas.openxmlformats.org/officeDocument/2006/relationships/image" Target="../media/image69.png"/><Relationship Id="rId17" Type="http://schemas.openxmlformats.org/officeDocument/2006/relationships/slide" Target="slide10.xml"/><Relationship Id="rId18" Type="http://schemas.openxmlformats.org/officeDocument/2006/relationships/audio" Target="../media/sound2.wav"/><Relationship Id="rId1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78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64.png"/><Relationship Id="rId7" Type="http://schemas.openxmlformats.org/officeDocument/2006/relationships/slide" Target="slide7.xml"/><Relationship Id="rId8" Type="http://schemas.openxmlformats.org/officeDocument/2006/relationships/image" Target="../media/image79.jpg"/><Relationship Id="rId9" Type="http://schemas.openxmlformats.org/officeDocument/2006/relationships/image" Target="../media/image80.png"/><Relationship Id="rId10" Type="http://schemas.openxmlformats.org/officeDocument/2006/relationships/image" Target="../media/image69.png"/><Relationship Id="rId11" Type="http://schemas.openxmlformats.org/officeDocument/2006/relationships/slide" Target="slide11.xml"/><Relationship Id="rId12" Type="http://schemas.openxmlformats.org/officeDocument/2006/relationships/audio" Target="../media/sound2.wav"/><Relationship Id="rId1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image" Target="../media/image82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64.png"/><Relationship Id="rId7" Type="http://schemas.openxmlformats.org/officeDocument/2006/relationships/slide" Target="slide7.xml"/><Relationship Id="rId8" Type="http://schemas.openxmlformats.org/officeDocument/2006/relationships/image" Target="../media/image83.jpg"/><Relationship Id="rId9" Type="http://schemas.openxmlformats.org/officeDocument/2006/relationships/image" Target="../media/image84.png"/><Relationship Id="rId10" Type="http://schemas.openxmlformats.org/officeDocument/2006/relationships/image" Target="../media/image85.png"/><Relationship Id="rId11" Type="http://schemas.openxmlformats.org/officeDocument/2006/relationships/image" Target="../media/image86.png"/><Relationship Id="rId12" Type="http://schemas.openxmlformats.org/officeDocument/2006/relationships/image" Target="../media/image87.png"/><Relationship Id="rId13" Type="http://schemas.openxmlformats.org/officeDocument/2006/relationships/image" Target="../media/image69.png"/><Relationship Id="rId14" Type="http://schemas.openxmlformats.org/officeDocument/2006/relationships/slide" Target="slide12.xml"/><Relationship Id="rId1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88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64.png"/><Relationship Id="rId7" Type="http://schemas.openxmlformats.org/officeDocument/2006/relationships/slide" Target="slide7.xml"/><Relationship Id="rId8" Type="http://schemas.openxmlformats.org/officeDocument/2006/relationships/image" Target="../media/image89.png"/><Relationship Id="rId9" Type="http://schemas.openxmlformats.org/officeDocument/2006/relationships/image" Target="../media/image90.jpg"/><Relationship Id="rId10" Type="http://schemas.openxmlformats.org/officeDocument/2006/relationships/image" Target="../media/image91.png"/><Relationship Id="rId11" Type="http://schemas.openxmlformats.org/officeDocument/2006/relationships/image" Target="../media/image92.jpg"/><Relationship Id="rId12" Type="http://schemas.openxmlformats.org/officeDocument/2006/relationships/image" Target="../media/image93.png"/><Relationship Id="rId13" Type="http://schemas.openxmlformats.org/officeDocument/2006/relationships/image" Target="../media/image11.png"/><Relationship Id="rId14" Type="http://schemas.openxmlformats.org/officeDocument/2006/relationships/image" Target="../media/image94.png"/><Relationship Id="rId15" Type="http://schemas.openxmlformats.org/officeDocument/2006/relationships/image" Target="../media/image95.png"/><Relationship Id="rId16" Type="http://schemas.openxmlformats.org/officeDocument/2006/relationships/image" Target="../media/image96.png"/><Relationship Id="rId17" Type="http://schemas.openxmlformats.org/officeDocument/2006/relationships/slide" Target="slide13.xml"/><Relationship Id="rId18" Type="http://schemas.openxmlformats.org/officeDocument/2006/relationships/audio" Target="../media/sound3.wav"/><Relationship Id="rId19" Type="http://schemas.openxmlformats.org/officeDocument/2006/relationships/audio" Target="../media/sound1.wav"/><Relationship Id="rId2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97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64.png"/><Relationship Id="rId7" Type="http://schemas.openxmlformats.org/officeDocument/2006/relationships/slide" Target="slide7.xml"/><Relationship Id="rId8" Type="http://schemas.openxmlformats.org/officeDocument/2006/relationships/image" Target="../media/image98.png"/><Relationship Id="rId9" Type="http://schemas.openxmlformats.org/officeDocument/2006/relationships/image" Target="../media/image99.png"/><Relationship Id="rId10" Type="http://schemas.openxmlformats.org/officeDocument/2006/relationships/image" Target="../media/image100.png"/><Relationship Id="rId11" Type="http://schemas.openxmlformats.org/officeDocument/2006/relationships/image" Target="../media/image101.png"/><Relationship Id="rId12" Type="http://schemas.openxmlformats.org/officeDocument/2006/relationships/image" Target="../media/image102.png"/><Relationship Id="rId13" Type="http://schemas.openxmlformats.org/officeDocument/2006/relationships/image" Target="../media/image103.png"/><Relationship Id="rId14" Type="http://schemas.openxmlformats.org/officeDocument/2006/relationships/image" Target="../media/image104.png"/><Relationship Id="rId15" Type="http://schemas.openxmlformats.org/officeDocument/2006/relationships/image" Target="../media/image105.png"/><Relationship Id="rId16" Type="http://schemas.openxmlformats.org/officeDocument/2006/relationships/image" Target="../media/image106.png"/><Relationship Id="rId17" Type="http://schemas.openxmlformats.org/officeDocument/2006/relationships/image" Target="../media/image69.png"/><Relationship Id="rId18" Type="http://schemas.openxmlformats.org/officeDocument/2006/relationships/slide" Target="slide14.xml"/><Relationship Id="rId19" Type="http://schemas.openxmlformats.org/officeDocument/2006/relationships/audio" Target="../media/sound2.wav"/><Relationship Id="rId2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jpg"/><Relationship Id="rId3" Type="http://schemas.openxmlformats.org/officeDocument/2006/relationships/image" Target="../media/image108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64.png"/><Relationship Id="rId7" Type="http://schemas.openxmlformats.org/officeDocument/2006/relationships/slide" Target="slide7.xml"/><Relationship Id="rId8" Type="http://schemas.openxmlformats.org/officeDocument/2006/relationships/image" Target="../media/image109.jpg"/><Relationship Id="rId9" Type="http://schemas.openxmlformats.org/officeDocument/2006/relationships/image" Target="../media/image110.png"/><Relationship Id="rId10" Type="http://schemas.openxmlformats.org/officeDocument/2006/relationships/image" Target="../media/image111.png"/><Relationship Id="rId11" Type="http://schemas.openxmlformats.org/officeDocument/2006/relationships/image" Target="../media/image112.png"/><Relationship Id="rId12" Type="http://schemas.openxmlformats.org/officeDocument/2006/relationships/image" Target="../media/image113.png"/><Relationship Id="rId13" Type="http://schemas.openxmlformats.org/officeDocument/2006/relationships/image" Target="../media/image114.png"/><Relationship Id="rId14" Type="http://schemas.openxmlformats.org/officeDocument/2006/relationships/slide" Target="slide15.xml"/><Relationship Id="rId15" Type="http://schemas.openxmlformats.org/officeDocument/2006/relationships/audio" Target="../media/sound4.wav"/><Relationship Id="rId1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15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microsoft.com/office/2007/relationships/media" Target="../media/media1.mp4"/><Relationship Id="rId7" Type="http://schemas.openxmlformats.org/officeDocument/2006/relationships/video" Target="../media/media1.mp4"/><Relationship Id="rId8" Type="http://schemas.openxmlformats.org/officeDocument/2006/relationships/image" Target="../media/image31.jpg"/><Relationship Id="rId9" Type="http://schemas.openxmlformats.org/officeDocument/2006/relationships/image" Target="../media/image116.png"/><Relationship Id="rId10" Type="http://schemas.openxmlformats.org/officeDocument/2006/relationships/image" Target="../media/image117.png"/><Relationship Id="rId11" Type="http://schemas.openxmlformats.org/officeDocument/2006/relationships/image" Target="../media/image87.png"/><Relationship Id="rId1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18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11.png"/><Relationship Id="rId7" Type="http://schemas.openxmlformats.org/officeDocument/2006/relationships/image" Target="../media/image109.jpg"/><Relationship Id="rId8" Type="http://schemas.openxmlformats.org/officeDocument/2006/relationships/image" Target="../media/image119.png"/><Relationship Id="rId9" Type="http://schemas.openxmlformats.org/officeDocument/2006/relationships/image" Target="../media/image120.png"/><Relationship Id="rId10" Type="http://schemas.openxmlformats.org/officeDocument/2006/relationships/slide" Target="slide17.xml"/><Relationship Id="rId11" Type="http://schemas.openxmlformats.org/officeDocument/2006/relationships/image" Target="../media/image10.jpg"/><Relationship Id="rId12" Type="http://schemas.openxmlformats.org/officeDocument/2006/relationships/image" Target="../media/image121.png"/><Relationship Id="rId13" Type="http://schemas.openxmlformats.org/officeDocument/2006/relationships/image" Target="../media/image122.png"/><Relationship Id="rId14" Type="http://schemas.openxmlformats.org/officeDocument/2006/relationships/slide" Target="slide22.xml"/><Relationship Id="rId15" Type="http://schemas.openxmlformats.org/officeDocument/2006/relationships/image" Target="../media/image123.jpg"/><Relationship Id="rId16" Type="http://schemas.openxmlformats.org/officeDocument/2006/relationships/image" Target="../media/image124.png"/><Relationship Id="rId17" Type="http://schemas.openxmlformats.org/officeDocument/2006/relationships/image" Target="../media/image125.png"/><Relationship Id="rId18" Type="http://schemas.openxmlformats.org/officeDocument/2006/relationships/slide" Target="slide23.xml"/><Relationship Id="rId19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26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11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Relationship Id="rId9" Type="http://schemas.openxmlformats.org/officeDocument/2006/relationships/image" Target="../media/image129.png"/><Relationship Id="rId10" Type="http://schemas.openxmlformats.org/officeDocument/2006/relationships/image" Target="../media/image130.png"/><Relationship Id="rId11" Type="http://schemas.openxmlformats.org/officeDocument/2006/relationships/image" Target="../media/image131.png"/><Relationship Id="rId12" Type="http://schemas.openxmlformats.org/officeDocument/2006/relationships/image" Target="../media/image132.png"/><Relationship Id="rId13" Type="http://schemas.openxmlformats.org/officeDocument/2006/relationships/image" Target="../media/image133.png"/><Relationship Id="rId14" Type="http://schemas.openxmlformats.org/officeDocument/2006/relationships/image" Target="../media/image134.png"/><Relationship Id="rId15" Type="http://schemas.openxmlformats.org/officeDocument/2006/relationships/image" Target="../media/image135.png"/><Relationship Id="rId16" Type="http://schemas.openxmlformats.org/officeDocument/2006/relationships/image" Target="../media/image136.png"/><Relationship Id="rId17" Type="http://schemas.openxmlformats.org/officeDocument/2006/relationships/image" Target="../media/image137.png"/><Relationship Id="rId18" Type="http://schemas.openxmlformats.org/officeDocument/2006/relationships/image" Target="../media/image138.png"/><Relationship Id="rId19" Type="http://schemas.openxmlformats.org/officeDocument/2006/relationships/image" Target="../media/image139.png"/><Relationship Id="rId20" Type="http://schemas.openxmlformats.org/officeDocument/2006/relationships/image" Target="../media/image140.png"/><Relationship Id="rId21" Type="http://schemas.openxmlformats.org/officeDocument/2006/relationships/slide" Target="slide18.xml"/><Relationship Id="rId22" Type="http://schemas.openxmlformats.org/officeDocument/2006/relationships/audio" Target="../media/sound3.wav"/><Relationship Id="rId23" Type="http://schemas.openxmlformats.org/officeDocument/2006/relationships/audio" Target="../media/sound1.wav"/><Relationship Id="rId2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41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11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Relationship Id="rId9" Type="http://schemas.openxmlformats.org/officeDocument/2006/relationships/image" Target="../media/image129.png"/><Relationship Id="rId10" Type="http://schemas.openxmlformats.org/officeDocument/2006/relationships/image" Target="../media/image130.png"/><Relationship Id="rId11" Type="http://schemas.openxmlformats.org/officeDocument/2006/relationships/image" Target="../media/image131.png"/><Relationship Id="rId12" Type="http://schemas.openxmlformats.org/officeDocument/2006/relationships/image" Target="../media/image142.png"/><Relationship Id="rId13" Type="http://schemas.openxmlformats.org/officeDocument/2006/relationships/image" Target="../media/image143.png"/><Relationship Id="rId14" Type="http://schemas.openxmlformats.org/officeDocument/2006/relationships/image" Target="../media/image134.png"/><Relationship Id="rId15" Type="http://schemas.openxmlformats.org/officeDocument/2006/relationships/image" Target="../media/image144.png"/><Relationship Id="rId16" Type="http://schemas.openxmlformats.org/officeDocument/2006/relationships/image" Target="../media/image145.png"/><Relationship Id="rId17" Type="http://schemas.openxmlformats.org/officeDocument/2006/relationships/image" Target="../media/image137.png"/><Relationship Id="rId18" Type="http://schemas.openxmlformats.org/officeDocument/2006/relationships/image" Target="../media/image146.png"/><Relationship Id="rId19" Type="http://schemas.openxmlformats.org/officeDocument/2006/relationships/image" Target="../media/image147.png"/><Relationship Id="rId20" Type="http://schemas.openxmlformats.org/officeDocument/2006/relationships/image" Target="../media/image140.png"/><Relationship Id="rId21" Type="http://schemas.openxmlformats.org/officeDocument/2006/relationships/slide" Target="slide19.xml"/><Relationship Id="rId22" Type="http://schemas.openxmlformats.org/officeDocument/2006/relationships/audio" Target="../media/sound1.wav"/><Relationship Id="rId23" Type="http://schemas.openxmlformats.org/officeDocument/2006/relationships/audio" Target="../media/sound3.wav"/><Relationship Id="rId2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48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11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Relationship Id="rId9" Type="http://schemas.openxmlformats.org/officeDocument/2006/relationships/image" Target="../media/image129.png"/><Relationship Id="rId10" Type="http://schemas.openxmlformats.org/officeDocument/2006/relationships/image" Target="../media/image130.png"/><Relationship Id="rId11" Type="http://schemas.openxmlformats.org/officeDocument/2006/relationships/image" Target="../media/image131.png"/><Relationship Id="rId12" Type="http://schemas.openxmlformats.org/officeDocument/2006/relationships/image" Target="../media/image149.png"/><Relationship Id="rId13" Type="http://schemas.openxmlformats.org/officeDocument/2006/relationships/image" Target="../media/image150.png"/><Relationship Id="rId14" Type="http://schemas.openxmlformats.org/officeDocument/2006/relationships/image" Target="../media/image134.png"/><Relationship Id="rId15" Type="http://schemas.openxmlformats.org/officeDocument/2006/relationships/image" Target="../media/image151.png"/><Relationship Id="rId16" Type="http://schemas.openxmlformats.org/officeDocument/2006/relationships/image" Target="../media/image152.png"/><Relationship Id="rId17" Type="http://schemas.openxmlformats.org/officeDocument/2006/relationships/image" Target="../media/image137.png"/><Relationship Id="rId18" Type="http://schemas.openxmlformats.org/officeDocument/2006/relationships/image" Target="../media/image153.png"/><Relationship Id="rId19" Type="http://schemas.openxmlformats.org/officeDocument/2006/relationships/image" Target="../media/image154.png"/><Relationship Id="rId20" Type="http://schemas.openxmlformats.org/officeDocument/2006/relationships/image" Target="../media/image140.png"/><Relationship Id="rId21" Type="http://schemas.openxmlformats.org/officeDocument/2006/relationships/slide" Target="slide20.xml"/><Relationship Id="rId22" Type="http://schemas.openxmlformats.org/officeDocument/2006/relationships/audio" Target="../media/sound3.wav"/><Relationship Id="rId23" Type="http://schemas.openxmlformats.org/officeDocument/2006/relationships/audio" Target="../media/sound1.wav"/><Relationship Id="rId2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55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11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Relationship Id="rId9" Type="http://schemas.openxmlformats.org/officeDocument/2006/relationships/image" Target="../media/image129.png"/><Relationship Id="rId10" Type="http://schemas.openxmlformats.org/officeDocument/2006/relationships/image" Target="../media/image130.png"/><Relationship Id="rId11" Type="http://schemas.openxmlformats.org/officeDocument/2006/relationships/image" Target="../media/image131.png"/><Relationship Id="rId12" Type="http://schemas.openxmlformats.org/officeDocument/2006/relationships/image" Target="../media/image156.png"/><Relationship Id="rId13" Type="http://schemas.openxmlformats.org/officeDocument/2006/relationships/image" Target="../media/image157.png"/><Relationship Id="rId14" Type="http://schemas.openxmlformats.org/officeDocument/2006/relationships/image" Target="../media/image134.png"/><Relationship Id="rId15" Type="http://schemas.openxmlformats.org/officeDocument/2006/relationships/image" Target="../media/image158.png"/><Relationship Id="rId16" Type="http://schemas.openxmlformats.org/officeDocument/2006/relationships/image" Target="../media/image159.png"/><Relationship Id="rId17" Type="http://schemas.openxmlformats.org/officeDocument/2006/relationships/image" Target="../media/image137.png"/><Relationship Id="rId18" Type="http://schemas.openxmlformats.org/officeDocument/2006/relationships/image" Target="../media/image160.png"/><Relationship Id="rId19" Type="http://schemas.openxmlformats.org/officeDocument/2006/relationships/image" Target="../media/image161.png"/><Relationship Id="rId20" Type="http://schemas.openxmlformats.org/officeDocument/2006/relationships/image" Target="../media/image140.png"/><Relationship Id="rId21" Type="http://schemas.openxmlformats.org/officeDocument/2006/relationships/slide" Target="slide21.xml"/><Relationship Id="rId22" Type="http://schemas.openxmlformats.org/officeDocument/2006/relationships/audio" Target="../media/sound3.wav"/><Relationship Id="rId23" Type="http://schemas.openxmlformats.org/officeDocument/2006/relationships/audio" Target="../media/sound1.wav"/><Relationship Id="rId2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62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11.png"/><Relationship Id="rId7" Type="http://schemas.openxmlformats.org/officeDocument/2006/relationships/image" Target="../media/image127.png"/><Relationship Id="rId8" Type="http://schemas.openxmlformats.org/officeDocument/2006/relationships/image" Target="../media/image128.png"/><Relationship Id="rId9" Type="http://schemas.openxmlformats.org/officeDocument/2006/relationships/image" Target="../media/image129.png"/><Relationship Id="rId10" Type="http://schemas.openxmlformats.org/officeDocument/2006/relationships/image" Target="../media/image130.png"/><Relationship Id="rId11" Type="http://schemas.openxmlformats.org/officeDocument/2006/relationships/image" Target="../media/image131.png"/><Relationship Id="rId12" Type="http://schemas.openxmlformats.org/officeDocument/2006/relationships/image" Target="../media/image163.png"/><Relationship Id="rId13" Type="http://schemas.openxmlformats.org/officeDocument/2006/relationships/image" Target="../media/image164.png"/><Relationship Id="rId14" Type="http://schemas.openxmlformats.org/officeDocument/2006/relationships/image" Target="../media/image134.png"/><Relationship Id="rId15" Type="http://schemas.openxmlformats.org/officeDocument/2006/relationships/image" Target="../media/image165.png"/><Relationship Id="rId16" Type="http://schemas.openxmlformats.org/officeDocument/2006/relationships/image" Target="../media/image166.png"/><Relationship Id="rId17" Type="http://schemas.openxmlformats.org/officeDocument/2006/relationships/image" Target="../media/image137.png"/><Relationship Id="rId18" Type="http://schemas.openxmlformats.org/officeDocument/2006/relationships/image" Target="../media/image167.png"/><Relationship Id="rId19" Type="http://schemas.openxmlformats.org/officeDocument/2006/relationships/image" Target="../media/image168.png"/><Relationship Id="rId20" Type="http://schemas.openxmlformats.org/officeDocument/2006/relationships/image" Target="../media/image169.png"/><Relationship Id="rId21" Type="http://schemas.openxmlformats.org/officeDocument/2006/relationships/slide" Target="slide22.xml"/><Relationship Id="rId22" Type="http://schemas.openxmlformats.org/officeDocument/2006/relationships/audio" Target="../media/sound1.wav"/><Relationship Id="rId23" Type="http://schemas.openxmlformats.org/officeDocument/2006/relationships/audio" Target="../media/sound3.wav"/><Relationship Id="rId2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70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0.jpg"/><Relationship Id="rId11" Type="http://schemas.openxmlformats.org/officeDocument/2006/relationships/image" Target="../media/image175.png"/><Relationship Id="rId12" Type="http://schemas.openxmlformats.org/officeDocument/2006/relationships/image" Target="../media/image176.png"/><Relationship Id="rId13" Type="http://schemas.openxmlformats.org/officeDocument/2006/relationships/image" Target="../media/image177.png"/><Relationship Id="rId14" Type="http://schemas.openxmlformats.org/officeDocument/2006/relationships/image" Target="../media/image169.png"/><Relationship Id="rId15" Type="http://schemas.openxmlformats.org/officeDocument/2006/relationships/slide" Target="slide23.xml"/><Relationship Id="rId16" Type="http://schemas.openxmlformats.org/officeDocument/2006/relationships/audio" Target="../media/sound1.wav"/><Relationship Id="rId1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78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179.png"/><Relationship Id="rId7" Type="http://schemas.openxmlformats.org/officeDocument/2006/relationships/image" Target="../media/image180.png"/><Relationship Id="rId8" Type="http://schemas.openxmlformats.org/officeDocument/2006/relationships/image" Target="../media/image181.png"/><Relationship Id="rId9" Type="http://schemas.openxmlformats.org/officeDocument/2006/relationships/image" Target="../media/image182.png"/><Relationship Id="rId10" Type="http://schemas.openxmlformats.org/officeDocument/2006/relationships/image" Target="../media/image183.png"/><Relationship Id="rId11" Type="http://schemas.openxmlformats.org/officeDocument/2006/relationships/image" Target="../media/image184.png"/><Relationship Id="rId12" Type="http://schemas.openxmlformats.org/officeDocument/2006/relationships/image" Target="../media/image185.png"/><Relationship Id="rId13" Type="http://schemas.openxmlformats.org/officeDocument/2006/relationships/image" Target="../media/image186.png"/><Relationship Id="rId14" Type="http://schemas.openxmlformats.org/officeDocument/2006/relationships/image" Target="../media/image187.png"/><Relationship Id="rId15" Type="http://schemas.openxmlformats.org/officeDocument/2006/relationships/image" Target="../media/image188.png"/><Relationship Id="rId16" Type="http://schemas.openxmlformats.org/officeDocument/2006/relationships/slide" Target="slide24.xml"/><Relationship Id="rId17" Type="http://schemas.openxmlformats.org/officeDocument/2006/relationships/audio" Target="../media/sound4.wav"/><Relationship Id="rId18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89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190.png"/><Relationship Id="rId7" Type="http://schemas.openxmlformats.org/officeDocument/2006/relationships/image" Target="../media/image191.png"/><Relationship Id="rId8" Type="http://schemas.openxmlformats.org/officeDocument/2006/relationships/image" Target="../media/image192.png"/><Relationship Id="rId9" Type="http://schemas.openxmlformats.org/officeDocument/2006/relationships/image" Target="../media/image193.png"/><Relationship Id="rId10" Type="http://schemas.openxmlformats.org/officeDocument/2006/relationships/image" Target="../media/image194.png"/><Relationship Id="rId11" Type="http://schemas.openxmlformats.org/officeDocument/2006/relationships/image" Target="../media/image195.png"/><Relationship Id="rId12" Type="http://schemas.openxmlformats.org/officeDocument/2006/relationships/hyperlink" Target="https://kostik-skeleton.lovable.app" TargetMode="External"/><Relationship Id="rId13" Type="http://schemas.openxmlformats.org/officeDocument/2006/relationships/image" Target="../media/image196.png"/><Relationship Id="rId14" Type="http://schemas.openxmlformats.org/officeDocument/2006/relationships/image" Target="../media/image197.png"/><Relationship Id="rId15" Type="http://schemas.openxmlformats.org/officeDocument/2006/relationships/audio" Target="../media/sound2.wav"/><Relationship Id="rId1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98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199.png"/><Relationship Id="rId7" Type="http://schemas.openxmlformats.org/officeDocument/2006/relationships/image" Target="../media/image200.png"/><Relationship Id="rId8" Type="http://schemas.openxmlformats.org/officeDocument/2006/relationships/image" Target="../media/image201.png"/><Relationship Id="rId9" Type="http://schemas.openxmlformats.org/officeDocument/2006/relationships/image" Target="../media/image202.png"/><Relationship Id="rId10" Type="http://schemas.openxmlformats.org/officeDocument/2006/relationships/image" Target="../media/image203.png"/><Relationship Id="rId11" Type="http://schemas.openxmlformats.org/officeDocument/2006/relationships/image" Target="../media/image204.png"/><Relationship Id="rId12" Type="http://schemas.openxmlformats.org/officeDocument/2006/relationships/image" Target="../media/image205.png"/><Relationship Id="rId13" Type="http://schemas.openxmlformats.org/officeDocument/2006/relationships/image" Target="../media/image206.png"/><Relationship Id="rId14" Type="http://schemas.openxmlformats.org/officeDocument/2006/relationships/image" Target="../media/image207.png"/><Relationship Id="rId15" Type="http://schemas.openxmlformats.org/officeDocument/2006/relationships/image" Target="../media/image208.png"/><Relationship Id="rId16" Type="http://schemas.openxmlformats.org/officeDocument/2006/relationships/audio" Target="../media/sound1.wav"/><Relationship Id="rId1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jpg"/><Relationship Id="rId3" Type="http://schemas.openxmlformats.org/officeDocument/2006/relationships/image" Target="../media/image209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127.png"/><Relationship Id="rId7" Type="http://schemas.openxmlformats.org/officeDocument/2006/relationships/image" Target="../media/image210.png"/><Relationship Id="rId8" Type="http://schemas.openxmlformats.org/officeDocument/2006/relationships/image" Target="../media/image10.jpg"/><Relationship Id="rId9" Type="http://schemas.openxmlformats.org/officeDocument/2006/relationships/image" Target="../media/image211.png"/><Relationship Id="rId10" Type="http://schemas.openxmlformats.org/officeDocument/2006/relationships/image" Target="../media/image79.jpg"/><Relationship Id="rId11" Type="http://schemas.openxmlformats.org/officeDocument/2006/relationships/image" Target="../media/image212.png"/><Relationship Id="rId12" Type="http://schemas.openxmlformats.org/officeDocument/2006/relationships/image" Target="../media/image83.jpg"/><Relationship Id="rId13" Type="http://schemas.openxmlformats.org/officeDocument/2006/relationships/image" Target="../media/image213.png"/><Relationship Id="rId14" Type="http://schemas.openxmlformats.org/officeDocument/2006/relationships/image" Target="../media/image92.jpg"/><Relationship Id="rId15" Type="http://schemas.openxmlformats.org/officeDocument/2006/relationships/image" Target="../media/image214.png"/><Relationship Id="rId16" Type="http://schemas.openxmlformats.org/officeDocument/2006/relationships/audio" Target="../media/sound5.wav"/><Relationship Id="rId1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215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216.jpg"/><Relationship Id="rId7" Type="http://schemas.openxmlformats.org/officeDocument/2006/relationships/image" Target="../media/image37.jpg"/><Relationship Id="rId8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jpg"/><Relationship Id="rId3" Type="http://schemas.openxmlformats.org/officeDocument/2006/relationships/image" Target="../media/image218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219.png"/><Relationship Id="rId7" Type="http://schemas.openxmlformats.org/officeDocument/2006/relationships/image" Target="../media/image220.png"/><Relationship Id="rId8" Type="http://schemas.openxmlformats.org/officeDocument/2006/relationships/image" Target="../media/image221.png"/><Relationship Id="rId9" Type="http://schemas.openxmlformats.org/officeDocument/2006/relationships/image" Target="../media/image222.png"/><Relationship Id="rId10" Type="http://schemas.openxmlformats.org/officeDocument/2006/relationships/image" Target="../media/image223.png"/><Relationship Id="rId11" Type="http://schemas.openxmlformats.org/officeDocument/2006/relationships/image" Target="../media/image224.png"/><Relationship Id="rId12" Type="http://schemas.openxmlformats.org/officeDocument/2006/relationships/image" Target="../media/image11.png"/><Relationship Id="rId13" Type="http://schemas.openxmlformats.org/officeDocument/2006/relationships/image" Target="../media/image225.png"/><Relationship Id="rId14" Type="http://schemas.openxmlformats.org/officeDocument/2006/relationships/image" Target="../media/image226.png"/><Relationship Id="rId15" Type="http://schemas.openxmlformats.org/officeDocument/2006/relationships/image" Target="../media/image127.png"/><Relationship Id="rId16" Type="http://schemas.openxmlformats.org/officeDocument/2006/relationships/audio" Target="../media/sound2.wav"/><Relationship Id="rId17" Type="http://schemas.openxmlformats.org/officeDocument/2006/relationships/audio" Target="../media/sound5.wav"/><Relationship Id="rId18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27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10.jpg"/><Relationship Id="rId7" Type="http://schemas.openxmlformats.org/officeDocument/2006/relationships/image" Target="../media/image228.png"/><Relationship Id="rId8" Type="http://schemas.openxmlformats.org/officeDocument/2006/relationships/image" Target="../media/image109.jpg"/><Relationship Id="rId9" Type="http://schemas.openxmlformats.org/officeDocument/2006/relationships/image" Target="../media/image39.jpg"/><Relationship Id="rId10" Type="http://schemas.openxmlformats.org/officeDocument/2006/relationships/image" Target="../media/image229.png"/><Relationship Id="rId11" Type="http://schemas.openxmlformats.org/officeDocument/2006/relationships/image" Target="../media/image92.jpg"/><Relationship Id="rId12" Type="http://schemas.openxmlformats.org/officeDocument/2006/relationships/image" Target="../media/image230.png"/><Relationship Id="rId13" Type="http://schemas.openxmlformats.org/officeDocument/2006/relationships/image" Target="../media/image231.png"/><Relationship Id="rId14" Type="http://schemas.openxmlformats.org/officeDocument/2006/relationships/audio" Target="../media/sound1.wav"/><Relationship Id="rId1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jpg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4.png"/><Relationship Id="rId6" Type="http://schemas.openxmlformats.org/officeDocument/2006/relationships/audio" Target="../media/sound5.wav"/><Relationship Id="rId7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234.png"/><Relationship Id="rId4" Type="http://schemas.openxmlformats.org/officeDocument/2006/relationships/image" Target="../media/image14.png"/><Relationship Id="rId5" Type="http://schemas.openxmlformats.org/officeDocument/2006/relationships/slide" Target="slide5.xml"/><Relationship Id="rId6" Type="http://schemas.openxmlformats.org/officeDocument/2006/relationships/image" Target="../media/image235.png"/><Relationship Id="rId7" Type="http://schemas.openxmlformats.org/officeDocument/2006/relationships/hyperlink" Target="https://youtu.be/6C_RWeZtCNg?si=fnJgUxPPG3wl2pDA" TargetMode="External"/><Relationship Id="rId8" Type="http://schemas.openxmlformats.org/officeDocument/2006/relationships/hyperlink" Target="https://kostik-skeleton.lovable.app" TargetMode="External"/><Relationship Id="rId9" Type="http://schemas.openxmlformats.org/officeDocument/2006/relationships/image" Target="../media/image236.png"/><Relationship Id="rId10" Type="http://schemas.openxmlformats.org/officeDocument/2006/relationships/image" Target="../media/image11.png"/><Relationship Id="rId11" Type="http://schemas.openxmlformats.org/officeDocument/2006/relationships/image" Target="../media/image237.png"/><Relationship Id="rId12" Type="http://schemas.openxmlformats.org/officeDocument/2006/relationships/image" Target="../media/image4.png"/><Relationship Id="rId13" Type="http://schemas.openxmlformats.org/officeDocument/2006/relationships/image" Target="../media/image238.png"/><Relationship Id="rId14" Type="http://schemas.openxmlformats.org/officeDocument/2006/relationships/image" Target="../media/image31.jpg"/><Relationship Id="rId15" Type="http://schemas.openxmlformats.org/officeDocument/2006/relationships/image" Target="../media/image239.png"/><Relationship Id="rId16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hero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731520" y="11430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FFC23C"/>
                </a:solidFill>
                <a:latin typeface="Arial"/>
                <a:cs typeface="Arial"/>
              </a:rPr>
              <a:t>ОКРУЖАЮЩИЙ МИР  ·  3 КЛАСС</a:t>
            </a:r>
          </a:p>
        </p:txBody>
      </p:sp>
      <p:pic>
        <p:nvPicPr>
          <p:cNvPr id="4" name="Title" descr="Опора тела&#10;и движение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417320"/>
            <a:ext cx="7406640" cy="2468880"/>
          </a:xfrm>
          <a:prstGeom prst="rect">
            <a:avLst/>
          </a:prstGeom>
        </p:spPr>
      </p:pic>
      <p:pic>
        <p:nvPicPr>
          <p:cNvPr id="5" name="subtitle" descr="Путешествие в музей «Тело человека» вместе с Костиком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3822192"/>
            <a:ext cx="6437376" cy="950976"/>
          </a:xfrm>
          <a:prstGeom prst="rect">
            <a:avLst/>
          </a:prstGeom>
        </p:spPr>
      </p:pic>
      <p:sp>
        <p:nvSpPr>
          <p:cNvPr id="6" name="author card"/>
          <p:cNvSpPr/>
          <p:nvPr/>
        </p:nvSpPr>
        <p:spPr>
          <a:xfrm>
            <a:off x="731520" y="4983480"/>
            <a:ext cx="4297680" cy="960120"/>
          </a:xfrm>
          <a:prstGeom prst="roundRect">
            <a:avLst>
              <a:gd name="adj" fmla="val 28571"/>
            </a:avLst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author text"/>
          <p:cNvSpPr txBox="1"/>
          <p:nvPr/>
        </p:nvSpPr>
        <p:spPr>
          <a:xfrm>
            <a:off x="1005840" y="4983480"/>
            <a:ext cx="384048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 lang="ru-RU">
                <a:solidFill>
                  <a:srgbClr val="FFFFFF"/>
                </a:solidFill>
                <a:latin typeface="Arial"/>
                <a:cs typeface="Arial"/>
              </a:rPr>
              <a:t>Автор: Шелешко А.И.</a:t>
            </a:r>
          </a:p>
          <a:p>
            <a:pPr algn="l"/>
            <a:r>
              <a:rPr sz="1500" b="1" i="0" lang="ru-RU">
                <a:solidFill>
                  <a:srgbClr val="D9D2FF"/>
                </a:solidFill>
                <a:latin typeface="Arial"/>
                <a:cs typeface="Arial"/>
              </a:rPr>
              <a:t>группа П-31</a:t>
            </a:r>
          </a:p>
        </p:txBody>
      </p:sp>
      <p:pic>
        <p:nvPicPr>
          <p:cNvPr id="8" name="!!mascot" descr="Костик — весёлый скелетик-экскурсово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3273" y="1051560"/>
            <a:ext cx="3044414" cy="5577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="http://schemas.microsoft.com/office/powerpoint/2012/main" Requires="p15">
      <p:transition spd="slow" p14:dur="2200">
        <p15:prstTrans prst="curtains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2000" decel="100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9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36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6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3"/>
                                          </p:val>
                                        </p:tav>
                                        <p:tav tm="45000">
                                          <p:val>
                                            <p:strVal val="#ppt_y"/>
                                          </p:val>
                                        </p:tav>
                                        <p:tav tm="62000">
                                          <p:val>
                                            <p:strVal val="#ppt_y-0.06"/>
                                          </p:val>
                                        </p:tav>
                                        <p:tav tm="78000">
                                          <p:val>
                                            <p:strVal val="#ppt_y"/>
                                          </p:val>
                                        </p:tav>
                                        <p:tav tm="90000">
                                          <p:val>
                                            <p:strVal val="#ppt_y-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39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2000"/>
                            </p:stCondLst>
                            <p:childTnLst>
                              <p:par>
                                <p:cTn id="2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2700"/>
                            </p:stCondLst>
                            <p:childTnLst>
                              <p:par>
                                <p:cTn id="2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3200"/>
                            </p:stCondLst>
                            <p:childTnLst>
                              <p:par>
                                <p:cTn id="38" presetID="0" presetClass="path" presetSubtype="0" accel="50000" decel="50000" autoRev="1" repeatCount="indefinite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018 E" pathEditMode="relative" rAng="0" ptsTypes="AA">
                                      <p:cBhvr>
                                        <p:cTn id="39" dur="1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lilac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6C5CE7"/>
                </a:solidFill>
                <a:latin typeface="Arial"/>
                <a:cs typeface="Arial"/>
              </a:rPr>
              <a:t>РАЗМИНКА ДЛЯ УМА</a:t>
            </a:r>
          </a:p>
        </p:txBody>
      </p:sp>
      <p:pic>
        <p:nvPicPr>
          <p:cNvPr id="4" name="Title" descr="Отгадайте загадку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sp>
        <p:nvSpPr>
          <p:cNvPr id="5" name="riddle card"/>
          <p:cNvSpPr/>
          <p:nvPr/>
        </p:nvSpPr>
        <p:spPr>
          <a:xfrm>
            <a:off x="548640" y="1691640"/>
            <a:ext cx="7223760" cy="4526280"/>
          </a:xfrm>
          <a:prstGeom prst="roundRect">
            <a:avLst>
              <a:gd name="adj" fmla="val 505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6" name="quote mark" descr="«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1399032"/>
            <a:ext cx="1408176" cy="1133856"/>
          </a:xfrm>
          <a:prstGeom prst="rect">
            <a:avLst/>
          </a:prstGeom>
        </p:spPr>
      </p:pic>
      <p:pic>
        <p:nvPicPr>
          <p:cNvPr id="7" name="riddle" descr="Он внутри у нас таится,&#10;Помогает не свалиться,&#10;Держит тело, как каркас.&#10;Что же это есть у нас?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0432" y="2587752"/>
            <a:ext cx="6345936" cy="2414016"/>
          </a:xfrm>
          <a:prstGeom prst="rect">
            <a:avLst/>
          </a:prstGeom>
        </p:spPr>
      </p:pic>
      <p:pic>
        <p:nvPicPr>
          <p:cNvPr id="8" name="answer" descr="СКЕЛЕТ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696" y="4974336"/>
            <a:ext cx="3310128" cy="1069848"/>
          </a:xfrm>
          <a:prstGeom prst="rect">
            <a:avLst/>
          </a:prstGeom>
        </p:spPr>
      </p:pic>
      <p:pic>
        <p:nvPicPr>
          <p:cNvPr id="9" name="answer photo" descr="Скелет человека"/>
          <p:cNvPicPr>
            <a:picLocks noChangeAspect="1"/>
          </p:cNvPicPr>
          <p:nvPr/>
        </p:nvPicPr>
        <p:blipFill>
          <a:blip r:embed="rId7"/>
          <a:srcRect l="19000" r="19000" t="9853" b="43853"/>
          <a:stretch>
            <a:fillRect/>
          </a:stretch>
        </p:blipFill>
        <p:spPr>
          <a:xfrm>
            <a:off x="4434840" y="4800600"/>
            <a:ext cx="1325880" cy="1325880"/>
          </a:xfrm>
          <a:prstGeom prst="ellipse">
            <a:avLst/>
          </a:prstGeom>
          <a:ln w="45720">
            <a:solidFill>
              <a:srgbClr val="FFFFFF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10" name="!!mascot" descr="Костик — весёлый скелетик-экскурсовод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4507" y="1417320"/>
            <a:ext cx="2090586" cy="52120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allery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" presetClass="entr" presetSubtype="2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8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27" display="0" masterRel="sameClick">
                                          <p:stCondLst>
                                            <p:cond evt="begin" delay="0">
                                              <p:tn val="22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9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8" presetID="3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9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9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9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sky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FF6B6B"/>
                </a:solidFill>
                <a:latin typeface="Arial"/>
                <a:cs typeface="Arial"/>
              </a:rPr>
              <a:t>ПРОБЛЕМНЫЙ ВОПРОС</a:t>
            </a:r>
          </a:p>
        </p:txBody>
      </p:sp>
      <p:pic>
        <p:nvPicPr>
          <p:cNvPr id="4" name="Title" descr="Почему медуза растекается, а мальчик прыгает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729216" cy="104241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jelly photo" descr="Медуза растеклась на песке, а мальчик высоко прыгает"/>
          <p:cNvPicPr>
            <a:picLocks noChangeAspect="1"/>
          </p:cNvPicPr>
          <p:nvPr/>
        </p:nvPicPr>
        <p:blipFill>
          <a:blip r:embed="rId6"/>
          <a:srcRect l="11934" r="1934"/>
          <a:stretch>
            <a:fillRect/>
          </a:stretch>
        </p:blipFill>
        <p:spPr>
          <a:xfrm>
            <a:off x="548640" y="1828800"/>
            <a:ext cx="6675120" cy="3886200"/>
          </a:xfrm>
          <a:prstGeom prst="roundRect">
            <a:avLst>
              <a:gd name="adj" fmla="val 5176"/>
            </a:avLst>
          </a:prstGeom>
          <a:ln w="45720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7" name="card jelly"/>
          <p:cNvSpPr/>
          <p:nvPr/>
        </p:nvSpPr>
        <p:spPr>
          <a:xfrm>
            <a:off x="7543800" y="1828800"/>
            <a:ext cx="4096512" cy="1828800"/>
          </a:xfrm>
          <a:prstGeom prst="roundRect">
            <a:avLst>
              <a:gd name="adj" fmla="val 125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8" name="badge jelly" descr=""/>
          <p:cNvPicPr>
            <a:picLocks noChangeAspect="1"/>
          </p:cNvPicPr>
          <p:nvPr/>
        </p:nvPicPr>
        <p:blipFill>
          <a:blip r:embed="rId6"/>
          <a:srcRect l="31469" r="47469" t="58000"/>
          <a:stretch>
            <a:fillRect/>
          </a:stretch>
        </p:blipFill>
        <p:spPr>
          <a:xfrm>
            <a:off x="7726680" y="2103120"/>
            <a:ext cx="1234440" cy="1234440"/>
          </a:xfrm>
          <a:prstGeom prst="ellipse">
            <a:avLst/>
          </a:prstGeom>
          <a:ln w="45720">
            <a:solidFill>
              <a:srgbClr val="FFFFFF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9" name="text jelly"/>
          <p:cNvSpPr txBox="1"/>
          <p:nvPr/>
        </p:nvSpPr>
        <p:spPr>
          <a:xfrm>
            <a:off x="9098280" y="1828800"/>
            <a:ext cx="2423160" cy="182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У медузы нет скелета — на суше её мягкое тело не держит форму</a:t>
            </a:r>
          </a:p>
        </p:txBody>
      </p:sp>
      <p:sp>
        <p:nvSpPr>
          <p:cNvPr id="10" name="card human"/>
          <p:cNvSpPr/>
          <p:nvPr/>
        </p:nvSpPr>
        <p:spPr>
          <a:xfrm>
            <a:off x="7543800" y="3886200"/>
            <a:ext cx="4096512" cy="1828800"/>
          </a:xfrm>
          <a:prstGeom prst="roundRect">
            <a:avLst>
              <a:gd name="adj" fmla="val 1250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1" name="badge boy" descr=""/>
          <p:cNvPicPr>
            <a:picLocks noChangeAspect="1"/>
          </p:cNvPicPr>
          <p:nvPr/>
        </p:nvPicPr>
        <p:blipFill>
          <a:blip r:embed="rId6"/>
          <a:srcRect l="53443" r="7443" t="1000" b="21000"/>
          <a:stretch>
            <a:fillRect/>
          </a:stretch>
        </p:blipFill>
        <p:spPr>
          <a:xfrm>
            <a:off x="7726680" y="4160520"/>
            <a:ext cx="1234440" cy="1234440"/>
          </a:xfrm>
          <a:prstGeom prst="ellipse">
            <a:avLst/>
          </a:prstGeom>
          <a:ln w="45720">
            <a:solidFill>
              <a:srgbClr val="FFFFFF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12" name="text human"/>
          <p:cNvSpPr txBox="1"/>
          <p:nvPr/>
        </p:nvSpPr>
        <p:spPr>
          <a:xfrm>
            <a:off x="9098280" y="3886200"/>
            <a:ext cx="2423160" cy="182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У человека есть </a:t>
            </a:r>
            <a:r>
              <a:rPr sz="1500" b="1" i="0" lang="ru-RU">
                <a:solidFill>
                  <a:srgbClr val="6C5CE7"/>
                </a:solidFill>
                <a:latin typeface="Arial"/>
                <a:cs typeface="Arial"/>
              </a:rPr>
              <a:t>скелет</a:t>
            </a:r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 и </a:t>
            </a:r>
            <a:r>
              <a:rPr sz="1500" b="1" i="0" lang="ru-RU">
                <a:solidFill>
                  <a:srgbClr val="FF6B6B"/>
                </a:solidFill>
                <a:latin typeface="Arial"/>
                <a:cs typeface="Arial"/>
              </a:rPr>
              <a:t>мышцы</a:t>
            </a:r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 — это опора тела и движение!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 dir="cente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4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id="34"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7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24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2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mint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13846F"/>
                </a:solidFill>
                <a:latin typeface="Arial"/>
                <a:cs typeface="Arial"/>
              </a:rPr>
              <a:t>ТЕМА УРОКА</a:t>
            </a:r>
          </a:p>
        </p:txBody>
      </p:sp>
      <p:pic>
        <p:nvPicPr>
          <p:cNvPr id="4" name="Title" descr="Опора тела и движение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goal card" descr="Дети занимаются спортом"/>
          <p:cNvPicPr>
            <a:picLocks noChangeAspect="1"/>
          </p:cNvPicPr>
          <p:nvPr/>
        </p:nvPicPr>
        <p:blipFill>
          <a:blip r:embed="rId6"/>
          <a:srcRect l="487" r="487"/>
          <a:stretch>
            <a:fillRect/>
          </a:stretch>
        </p:blipFill>
        <p:spPr>
          <a:xfrm>
            <a:off x="548640" y="1691640"/>
            <a:ext cx="4160520" cy="4434840"/>
          </a:xfrm>
          <a:prstGeom prst="roundRect">
            <a:avLst>
              <a:gd name="adj" fmla="val 6593"/>
            </a:avLst>
          </a:prstGeom>
          <a:ln w="45720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7" name="goal head" descr="Цель урока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392" y="3685032"/>
            <a:ext cx="3602736" cy="539496"/>
          </a:xfrm>
          <a:prstGeom prst="rect">
            <a:avLst/>
          </a:prstGeom>
        </p:spPr>
      </p:pic>
      <p:sp>
        <p:nvSpPr>
          <p:cNvPr id="8" name="goal text"/>
          <p:cNvSpPr txBox="1"/>
          <p:nvPr/>
        </p:nvSpPr>
        <p:spPr>
          <a:xfrm>
            <a:off x="868680" y="4251960"/>
            <a:ext cx="3566160" cy="1691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000" b="1" i="0" lang="ru-RU">
                <a:solidFill>
                  <a:srgbClr val="FFFFFF"/>
                </a:solidFill>
                <a:latin typeface="Arial"/>
                <a:cs typeface="Arial"/>
              </a:rPr>
              <a:t>Узнать, что помогает нашему телу держать форму и двигаться</a:t>
            </a:r>
          </a:p>
        </p:txBody>
      </p:sp>
      <p:pic>
        <p:nvPicPr>
          <p:cNvPr id="9" name="tasks head" descr="Задачи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6632" y="1673352"/>
            <a:ext cx="6437376" cy="493776"/>
          </a:xfrm>
          <a:prstGeom prst="rect">
            <a:avLst/>
          </a:prstGeom>
        </p:spPr>
      </p:pic>
      <p:sp>
        <p:nvSpPr>
          <p:cNvPr id="10" name="task 1"/>
          <p:cNvSpPr/>
          <p:nvPr/>
        </p:nvSpPr>
        <p:spPr>
          <a:xfrm>
            <a:off x="5074920" y="2286000"/>
            <a:ext cx="6565392" cy="841248"/>
          </a:xfrm>
          <a:prstGeom prst="roundRect">
            <a:avLst>
              <a:gd name="adj" fmla="val 27173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1" name="task num 1" descr="0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85232" y="2267712"/>
            <a:ext cx="950976" cy="877824"/>
          </a:xfrm>
          <a:prstGeom prst="rect">
            <a:avLst/>
          </a:prstGeom>
        </p:spPr>
      </p:pic>
      <p:sp>
        <p:nvSpPr>
          <p:cNvPr id="12" name="task text 1"/>
          <p:cNvSpPr txBox="1"/>
          <p:nvPr/>
        </p:nvSpPr>
        <p:spPr>
          <a:xfrm>
            <a:off x="6263640" y="2286000"/>
            <a:ext cx="5257800" cy="8412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1" i="0" lang="ru-RU">
                <a:solidFill>
                  <a:srgbClr val="2B2A5A"/>
                </a:solidFill>
                <a:latin typeface="Arial"/>
                <a:cs typeface="Arial"/>
              </a:rPr>
              <a:t>Познакомиться со скелетом и его частями</a:t>
            </a:r>
          </a:p>
        </p:txBody>
      </p:sp>
      <p:sp>
        <p:nvSpPr>
          <p:cNvPr id="13" name="task 2"/>
          <p:cNvSpPr/>
          <p:nvPr/>
        </p:nvSpPr>
        <p:spPr>
          <a:xfrm>
            <a:off x="5074920" y="3264408"/>
            <a:ext cx="6565392" cy="841248"/>
          </a:xfrm>
          <a:prstGeom prst="roundRect">
            <a:avLst>
              <a:gd name="adj" fmla="val 27173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4" name="task num 2" descr="0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85232" y="3246120"/>
            <a:ext cx="950976" cy="877824"/>
          </a:xfrm>
          <a:prstGeom prst="rect">
            <a:avLst/>
          </a:prstGeom>
        </p:spPr>
      </p:pic>
      <p:sp>
        <p:nvSpPr>
          <p:cNvPr id="15" name="task text 2"/>
          <p:cNvSpPr txBox="1"/>
          <p:nvPr/>
        </p:nvSpPr>
        <p:spPr>
          <a:xfrm>
            <a:off x="6263640" y="3264408"/>
            <a:ext cx="5257800" cy="8412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1" i="0" lang="ru-RU">
                <a:solidFill>
                  <a:srgbClr val="2B2A5A"/>
                </a:solidFill>
                <a:latin typeface="Arial"/>
                <a:cs typeface="Arial"/>
              </a:rPr>
              <a:t>Узнать, как работают суставы и мышцы</a:t>
            </a:r>
          </a:p>
        </p:txBody>
      </p:sp>
      <p:sp>
        <p:nvSpPr>
          <p:cNvPr id="16" name="task 3"/>
          <p:cNvSpPr/>
          <p:nvPr/>
        </p:nvSpPr>
        <p:spPr>
          <a:xfrm>
            <a:off x="5074920" y="4242816"/>
            <a:ext cx="6565392" cy="841248"/>
          </a:xfrm>
          <a:prstGeom prst="roundRect">
            <a:avLst>
              <a:gd name="adj" fmla="val 27173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7" name="task num 3" descr="0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285232" y="4224528"/>
            <a:ext cx="950976" cy="877824"/>
          </a:xfrm>
          <a:prstGeom prst="rect">
            <a:avLst/>
          </a:prstGeom>
        </p:spPr>
      </p:pic>
      <p:sp>
        <p:nvSpPr>
          <p:cNvPr id="18" name="task text 3"/>
          <p:cNvSpPr txBox="1"/>
          <p:nvPr/>
        </p:nvSpPr>
        <p:spPr>
          <a:xfrm>
            <a:off x="6263640" y="4242816"/>
            <a:ext cx="5257800" cy="8412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1" i="0" lang="ru-RU">
                <a:solidFill>
                  <a:srgbClr val="2B2A5A"/>
                </a:solidFill>
                <a:latin typeface="Arial"/>
                <a:cs typeface="Arial"/>
              </a:rPr>
              <a:t>Выяснить, что такое осанка и как её беречь</a:t>
            </a:r>
          </a:p>
        </p:txBody>
      </p:sp>
      <p:sp>
        <p:nvSpPr>
          <p:cNvPr id="19" name="task 4"/>
          <p:cNvSpPr/>
          <p:nvPr/>
        </p:nvSpPr>
        <p:spPr>
          <a:xfrm>
            <a:off x="5074920" y="5221224"/>
            <a:ext cx="6565392" cy="841248"/>
          </a:xfrm>
          <a:prstGeom prst="roundRect">
            <a:avLst>
              <a:gd name="adj" fmla="val 27173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0" name="task num 4" descr="04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85232" y="5202936"/>
            <a:ext cx="950976" cy="877824"/>
          </a:xfrm>
          <a:prstGeom prst="rect">
            <a:avLst/>
          </a:prstGeom>
        </p:spPr>
      </p:pic>
      <p:sp>
        <p:nvSpPr>
          <p:cNvPr id="21" name="task text 4"/>
          <p:cNvSpPr txBox="1"/>
          <p:nvPr/>
        </p:nvSpPr>
        <p:spPr>
          <a:xfrm>
            <a:off x="6263640" y="5221224"/>
            <a:ext cx="5257800" cy="8412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800" b="1" i="0" lang="ru-RU">
                <a:solidFill>
                  <a:srgbClr val="2B2A5A"/>
                </a:solidFill>
                <a:latin typeface="Arial"/>
                <a:cs typeface="Arial"/>
              </a:rPr>
              <a:t>Проверить свои знания в играх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prism isContent="1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sky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6C5CE7"/>
                </a:solidFill>
                <a:latin typeface="Arial"/>
                <a:cs typeface="Arial"/>
              </a:rPr>
              <a:t>СОДЕРЖАНИЕ</a:t>
            </a:r>
          </a:p>
        </p:txBody>
      </p:sp>
      <p:pic>
        <p:nvPicPr>
          <p:cNvPr id="4" name="Title" descr="Маршрут нашего урок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route hint" descr="Нажми на картинку — и мы сразу туда отправимся!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170432"/>
            <a:ext cx="9180576" cy="539496"/>
          </a:xfrm>
          <a:prstGeom prst="rect">
            <a:avLst/>
          </a:prstGeom>
        </p:spPr>
      </p:pic>
      <p:sp>
        <p:nvSpPr>
          <p:cNvPr id="6" name="station card 1"/>
          <p:cNvSpPr/>
          <p:nvPr/>
        </p:nvSpPr>
        <p:spPr>
          <a:xfrm>
            <a:off x="548640" y="1783080"/>
            <a:ext cx="2615184" cy="2121408"/>
          </a:xfrm>
          <a:prstGeom prst="roundRect">
            <a:avLst>
              <a:gd name="adj" fmla="val 10775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7" name="station photo 1" descr=""/>
          <p:cNvPicPr>
            <a:picLocks noChangeAspect="1"/>
          </p:cNvPicPr>
          <p:nvPr/>
        </p:nvPicPr>
        <p:blipFill>
          <a:blip r:embed="rId5"/>
          <a:srcRect l="8831" r="8831"/>
          <a:stretch>
            <a:fillRect/>
          </a:stretch>
        </p:blipFill>
        <p:spPr>
          <a:xfrm>
            <a:off x="640080" y="1874520"/>
            <a:ext cx="2432304" cy="1481328"/>
          </a:xfrm>
          <a:prstGeom prst="roundRect">
            <a:avLst>
              <a:gd name="adj" fmla="val 11111"/>
            </a:avLst>
          </a:prstGeom>
        </p:spPr>
      </p:pic>
      <p:pic>
        <p:nvPicPr>
          <p:cNvPr id="8" name="station num 1" descr="0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337560"/>
            <a:ext cx="630936" cy="585216"/>
          </a:xfrm>
          <a:prstGeom prst="rect">
            <a:avLst/>
          </a:prstGeom>
        </p:spPr>
      </p:pic>
      <p:sp>
        <p:nvSpPr>
          <p:cNvPr id="9" name="station label 1"/>
          <p:cNvSpPr txBox="1"/>
          <p:nvPr/>
        </p:nvSpPr>
        <p:spPr>
          <a:xfrm>
            <a:off x="1298448" y="3355848"/>
            <a:ext cx="174650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400" b="1" i="0" lang="ru-RU">
                <a:solidFill>
                  <a:srgbClr val="2B2A5A"/>
                </a:solidFill>
                <a:latin typeface="Arial"/>
                <a:cs typeface="Arial"/>
              </a:rPr>
              <a:t>Видеоэкскурсия</a:t>
            </a:r>
          </a:p>
        </p:txBody>
      </p:sp>
      <p:sp>
        <p:nvSpPr>
          <p:cNvPr id="10" name="station link 1">
            <a:hlinkClick action="ppaction://hlinksldjump" r:id="rId7"/>
          </p:cNvPr>
          <p:cNvSpPr/>
          <p:nvPr/>
        </p:nvSpPr>
        <p:spPr>
          <a:xfrm>
            <a:off x="548640" y="1783080"/>
            <a:ext cx="2615184" cy="212140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tation card 2"/>
          <p:cNvSpPr/>
          <p:nvPr/>
        </p:nvSpPr>
        <p:spPr>
          <a:xfrm>
            <a:off x="3374136" y="1783080"/>
            <a:ext cx="2615184" cy="2121408"/>
          </a:xfrm>
          <a:prstGeom prst="roundRect">
            <a:avLst>
              <a:gd name="adj" fmla="val 10775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2" name="station photo 2" descr=""/>
          <p:cNvPicPr>
            <a:picLocks noChangeAspect="1"/>
          </p:cNvPicPr>
          <p:nvPr/>
        </p:nvPicPr>
        <p:blipFill>
          <a:blip r:embed="rId8"/>
          <a:srcRect l="8831" r="8831"/>
          <a:stretch>
            <a:fillRect/>
          </a:stretch>
        </p:blipFill>
        <p:spPr>
          <a:xfrm>
            <a:off x="3465576" y="1874520"/>
            <a:ext cx="2432304" cy="1481328"/>
          </a:xfrm>
          <a:prstGeom prst="roundRect">
            <a:avLst>
              <a:gd name="adj" fmla="val 11111"/>
            </a:avLst>
          </a:prstGeom>
        </p:spPr>
      </p:pic>
      <p:pic>
        <p:nvPicPr>
          <p:cNvPr id="13" name="station num 2" descr="0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38728" y="3337560"/>
            <a:ext cx="630936" cy="585216"/>
          </a:xfrm>
          <a:prstGeom prst="rect">
            <a:avLst/>
          </a:prstGeom>
        </p:spPr>
      </p:pic>
      <p:sp>
        <p:nvSpPr>
          <p:cNvPr id="14" name="station label 2"/>
          <p:cNvSpPr txBox="1"/>
          <p:nvPr/>
        </p:nvSpPr>
        <p:spPr>
          <a:xfrm>
            <a:off x="4123944" y="3355848"/>
            <a:ext cx="174650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400" b="1" i="0" lang="ru-RU">
                <a:solidFill>
                  <a:srgbClr val="2B2A5A"/>
                </a:solidFill>
                <a:latin typeface="Arial"/>
                <a:cs typeface="Arial"/>
              </a:rPr>
              <a:t>Виртуальная экскурсия</a:t>
            </a:r>
          </a:p>
        </p:txBody>
      </p:sp>
      <p:sp>
        <p:nvSpPr>
          <p:cNvPr id="15" name="station link 2">
            <a:hlinkClick action="ppaction://hlinksldjump" r:id="rId10"/>
          </p:cNvPr>
          <p:cNvSpPr/>
          <p:nvPr/>
        </p:nvSpPr>
        <p:spPr>
          <a:xfrm>
            <a:off x="3374136" y="1783080"/>
            <a:ext cx="2615184" cy="212140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tation card 3"/>
          <p:cNvSpPr/>
          <p:nvPr/>
        </p:nvSpPr>
        <p:spPr>
          <a:xfrm>
            <a:off x="6199632" y="1783080"/>
            <a:ext cx="2615184" cy="2121408"/>
          </a:xfrm>
          <a:prstGeom prst="roundRect">
            <a:avLst>
              <a:gd name="adj" fmla="val 10775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7" name="station photo 3" descr=""/>
          <p:cNvPicPr>
            <a:picLocks noChangeAspect="1"/>
          </p:cNvPicPr>
          <p:nvPr/>
        </p:nvPicPr>
        <p:blipFill>
          <a:blip r:embed="rId11"/>
          <a:srcRect l="6173"/>
          <a:stretch>
            <a:fillRect/>
          </a:stretch>
        </p:blipFill>
        <p:spPr>
          <a:xfrm>
            <a:off x="6291072" y="1874520"/>
            <a:ext cx="2432304" cy="1481328"/>
          </a:xfrm>
          <a:prstGeom prst="roundRect">
            <a:avLst>
              <a:gd name="adj" fmla="val 11111"/>
            </a:avLst>
          </a:prstGeom>
        </p:spPr>
      </p:pic>
      <p:pic>
        <p:nvPicPr>
          <p:cNvPr id="18" name="station num 3" descr="0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64224" y="3337560"/>
            <a:ext cx="630936" cy="585216"/>
          </a:xfrm>
          <a:prstGeom prst="rect">
            <a:avLst/>
          </a:prstGeom>
        </p:spPr>
      </p:pic>
      <p:sp>
        <p:nvSpPr>
          <p:cNvPr id="19" name="station label 3"/>
          <p:cNvSpPr txBox="1"/>
          <p:nvPr/>
        </p:nvSpPr>
        <p:spPr>
          <a:xfrm>
            <a:off x="6949440" y="3355848"/>
            <a:ext cx="174650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400" b="1" i="0" lang="ru-RU">
                <a:solidFill>
                  <a:srgbClr val="2B2A5A"/>
                </a:solidFill>
                <a:latin typeface="Arial"/>
                <a:cs typeface="Arial"/>
              </a:rPr>
              <a:t>Физминутка</a:t>
            </a:r>
          </a:p>
        </p:txBody>
      </p:sp>
      <p:sp>
        <p:nvSpPr>
          <p:cNvPr id="20" name="station link 3">
            <a:hlinkClick action="ppaction://hlinksldjump" r:id="rId13"/>
          </p:cNvPr>
          <p:cNvSpPr/>
          <p:nvPr/>
        </p:nvSpPr>
        <p:spPr>
          <a:xfrm>
            <a:off x="6199632" y="1783080"/>
            <a:ext cx="2615184" cy="212140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tation card 4"/>
          <p:cNvSpPr/>
          <p:nvPr/>
        </p:nvSpPr>
        <p:spPr>
          <a:xfrm>
            <a:off x="9025128" y="1783080"/>
            <a:ext cx="2615184" cy="2121408"/>
          </a:xfrm>
          <a:prstGeom prst="roundRect">
            <a:avLst>
              <a:gd name="adj" fmla="val 10775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2" name="station photo 4" descr=""/>
          <p:cNvPicPr>
            <a:picLocks noChangeAspect="1"/>
          </p:cNvPicPr>
          <p:nvPr/>
        </p:nvPicPr>
        <p:blipFill>
          <a:blip r:embed="rId14"/>
          <a:srcRect l="617" r="617"/>
          <a:stretch>
            <a:fillRect/>
          </a:stretch>
        </p:blipFill>
        <p:spPr>
          <a:xfrm>
            <a:off x="9116568" y="1874520"/>
            <a:ext cx="2432304" cy="1481328"/>
          </a:xfrm>
          <a:prstGeom prst="roundRect">
            <a:avLst>
              <a:gd name="adj" fmla="val 11111"/>
            </a:avLst>
          </a:prstGeom>
        </p:spPr>
      </p:pic>
      <p:pic>
        <p:nvPicPr>
          <p:cNvPr id="23" name="station num 4" descr="0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89720" y="3337560"/>
            <a:ext cx="630936" cy="585216"/>
          </a:xfrm>
          <a:prstGeom prst="rect">
            <a:avLst/>
          </a:prstGeom>
        </p:spPr>
      </p:pic>
      <p:sp>
        <p:nvSpPr>
          <p:cNvPr id="24" name="station label 4"/>
          <p:cNvSpPr txBox="1"/>
          <p:nvPr/>
        </p:nvSpPr>
        <p:spPr>
          <a:xfrm>
            <a:off x="9774936" y="3355848"/>
            <a:ext cx="174650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400" b="1" i="0" lang="ru-RU">
                <a:solidFill>
                  <a:srgbClr val="2B2A5A"/>
                </a:solidFill>
                <a:latin typeface="Arial"/>
                <a:cs typeface="Arial"/>
              </a:rPr>
              <a:t>Игры «Проверь себя»</a:t>
            </a:r>
          </a:p>
        </p:txBody>
      </p:sp>
      <p:sp>
        <p:nvSpPr>
          <p:cNvPr id="25" name="station link 4">
            <a:hlinkClick action="ppaction://hlinksldjump" r:id="rId16"/>
          </p:cNvPr>
          <p:cNvSpPr/>
          <p:nvPr/>
        </p:nvSpPr>
        <p:spPr>
          <a:xfrm>
            <a:off x="9025128" y="1783080"/>
            <a:ext cx="2615184" cy="212140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tation card 5"/>
          <p:cNvSpPr/>
          <p:nvPr/>
        </p:nvSpPr>
        <p:spPr>
          <a:xfrm>
            <a:off x="548640" y="4160520"/>
            <a:ext cx="2615184" cy="2121408"/>
          </a:xfrm>
          <a:prstGeom prst="roundRect">
            <a:avLst>
              <a:gd name="adj" fmla="val 10775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7" name="station photo 5" descr=""/>
          <p:cNvPicPr>
            <a:picLocks noChangeAspect="1"/>
          </p:cNvPicPr>
          <p:nvPr/>
        </p:nvPicPr>
        <p:blipFill>
          <a:blip r:embed="rId17"/>
          <a:srcRect l="617" r="617"/>
          <a:stretch>
            <a:fillRect/>
          </a:stretch>
        </p:blipFill>
        <p:spPr>
          <a:xfrm>
            <a:off x="640080" y="4251960"/>
            <a:ext cx="2432304" cy="1481328"/>
          </a:xfrm>
          <a:prstGeom prst="roundRect">
            <a:avLst>
              <a:gd name="adj" fmla="val 11111"/>
            </a:avLst>
          </a:prstGeom>
        </p:spPr>
      </p:pic>
      <p:pic>
        <p:nvPicPr>
          <p:cNvPr id="28" name="station num 5" descr="05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3232" y="5715000"/>
            <a:ext cx="630936" cy="585216"/>
          </a:xfrm>
          <a:prstGeom prst="rect">
            <a:avLst/>
          </a:prstGeom>
        </p:spPr>
      </p:pic>
      <p:sp>
        <p:nvSpPr>
          <p:cNvPr id="29" name="station label 5"/>
          <p:cNvSpPr txBox="1"/>
          <p:nvPr/>
        </p:nvSpPr>
        <p:spPr>
          <a:xfrm>
            <a:off x="1298448" y="5733288"/>
            <a:ext cx="174650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400" b="1" i="0" lang="ru-RU">
                <a:solidFill>
                  <a:srgbClr val="2B2A5A"/>
                </a:solidFill>
                <a:latin typeface="Arial"/>
                <a:cs typeface="Arial"/>
              </a:rPr>
              <a:t>Онлайн-задание</a:t>
            </a:r>
          </a:p>
        </p:txBody>
      </p:sp>
      <p:sp>
        <p:nvSpPr>
          <p:cNvPr id="30" name="station link 5">
            <a:hlinkClick action="ppaction://hlinksldjump" r:id="rId19"/>
          </p:cNvPr>
          <p:cNvSpPr/>
          <p:nvPr/>
        </p:nvSpPr>
        <p:spPr>
          <a:xfrm>
            <a:off x="548640" y="4160520"/>
            <a:ext cx="2615184" cy="212140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station card 6"/>
          <p:cNvSpPr/>
          <p:nvPr/>
        </p:nvSpPr>
        <p:spPr>
          <a:xfrm>
            <a:off x="3374136" y="4160520"/>
            <a:ext cx="2615184" cy="2121408"/>
          </a:xfrm>
          <a:prstGeom prst="roundRect">
            <a:avLst>
              <a:gd name="adj" fmla="val 10775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32" name="station photo 6" descr=""/>
          <p:cNvPicPr>
            <a:picLocks noChangeAspect="1"/>
          </p:cNvPicPr>
          <p:nvPr/>
        </p:nvPicPr>
        <p:blipFill>
          <a:blip r:embed="rId20"/>
          <a:srcRect l="17663"/>
          <a:stretch>
            <a:fillRect/>
          </a:stretch>
        </p:blipFill>
        <p:spPr>
          <a:xfrm>
            <a:off x="3465576" y="4251960"/>
            <a:ext cx="2432304" cy="1481328"/>
          </a:xfrm>
          <a:prstGeom prst="roundRect">
            <a:avLst>
              <a:gd name="adj" fmla="val 11111"/>
            </a:avLst>
          </a:prstGeom>
        </p:spPr>
      </p:pic>
      <p:pic>
        <p:nvPicPr>
          <p:cNvPr id="33" name="station num 6" descr="06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538728" y="5715000"/>
            <a:ext cx="630936" cy="585216"/>
          </a:xfrm>
          <a:prstGeom prst="rect">
            <a:avLst/>
          </a:prstGeom>
        </p:spPr>
      </p:pic>
      <p:sp>
        <p:nvSpPr>
          <p:cNvPr id="34" name="station label 6"/>
          <p:cNvSpPr txBox="1"/>
          <p:nvPr/>
        </p:nvSpPr>
        <p:spPr>
          <a:xfrm>
            <a:off x="4123944" y="5733288"/>
            <a:ext cx="174650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400" b="1" i="0" lang="ru-RU">
                <a:solidFill>
                  <a:srgbClr val="2B2A5A"/>
                </a:solidFill>
                <a:latin typeface="Arial"/>
                <a:cs typeface="Arial"/>
              </a:rPr>
              <a:t>Итоги урока</a:t>
            </a:r>
          </a:p>
        </p:txBody>
      </p:sp>
      <p:sp>
        <p:nvSpPr>
          <p:cNvPr id="35" name="station link 6">
            <a:hlinkClick action="ppaction://hlinksldjump" r:id="rId22"/>
          </p:cNvPr>
          <p:cNvSpPr/>
          <p:nvPr/>
        </p:nvSpPr>
        <p:spPr>
          <a:xfrm>
            <a:off x="3374136" y="4160520"/>
            <a:ext cx="2615184" cy="212140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tation card 7"/>
          <p:cNvSpPr/>
          <p:nvPr/>
        </p:nvSpPr>
        <p:spPr>
          <a:xfrm>
            <a:off x="6199632" y="4160520"/>
            <a:ext cx="2615184" cy="2121408"/>
          </a:xfrm>
          <a:prstGeom prst="roundRect">
            <a:avLst>
              <a:gd name="adj" fmla="val 10775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37" name="station photo 7" descr=""/>
          <p:cNvPicPr>
            <a:picLocks noChangeAspect="1"/>
          </p:cNvPicPr>
          <p:nvPr/>
        </p:nvPicPr>
        <p:blipFill>
          <a:blip r:embed="rId23"/>
          <a:srcRect l="617" r="617"/>
          <a:stretch>
            <a:fillRect/>
          </a:stretch>
        </p:blipFill>
        <p:spPr>
          <a:xfrm>
            <a:off x="6291072" y="4251960"/>
            <a:ext cx="2432304" cy="1481328"/>
          </a:xfrm>
          <a:prstGeom prst="roundRect">
            <a:avLst>
              <a:gd name="adj" fmla="val 11111"/>
            </a:avLst>
          </a:prstGeom>
        </p:spPr>
      </p:pic>
      <p:pic>
        <p:nvPicPr>
          <p:cNvPr id="38" name="station num 7" descr="07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364224" y="5715000"/>
            <a:ext cx="630936" cy="585216"/>
          </a:xfrm>
          <a:prstGeom prst="rect">
            <a:avLst/>
          </a:prstGeom>
        </p:spPr>
      </p:pic>
      <p:sp>
        <p:nvSpPr>
          <p:cNvPr id="39" name="station label 7"/>
          <p:cNvSpPr txBox="1"/>
          <p:nvPr/>
        </p:nvSpPr>
        <p:spPr>
          <a:xfrm>
            <a:off x="6949440" y="5733288"/>
            <a:ext cx="1746504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95000"/>
              </a:lnSpc>
            </a:pPr>
            <a:r>
              <a:rPr sz="1400" b="1" i="0" lang="ru-RU">
                <a:solidFill>
                  <a:srgbClr val="2B2A5A"/>
                </a:solidFill>
                <a:latin typeface="Arial"/>
                <a:cs typeface="Arial"/>
              </a:rPr>
              <a:t>Рефлексия</a:t>
            </a:r>
          </a:p>
        </p:txBody>
      </p:sp>
      <p:sp>
        <p:nvSpPr>
          <p:cNvPr id="40" name="station link 7">
            <a:hlinkClick action="ppaction://hlinksldjump" r:id="rId25"/>
          </p:cNvPr>
          <p:cNvSpPr/>
          <p:nvPr/>
        </p:nvSpPr>
        <p:spPr>
          <a:xfrm>
            <a:off x="6199632" y="4160520"/>
            <a:ext cx="2615184" cy="212140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1" name="!!mascot" descr="Костик — весёлый скелетик-экскурсовод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582462" y="3977640"/>
            <a:ext cx="1591955" cy="26974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flythrough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4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4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24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17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24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24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34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24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24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24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7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53" presetClass="entr" presetSubtype="16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24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53" presetClass="entr" presetSubtype="16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24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24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24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3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5" dur="24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53" presetClass="entr" presetSubtype="16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24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127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1720"/>
                            </p:stCondLst>
                            <p:childTnLst>
                              <p:par>
                                <p:cTn id="118" presetID="26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0" dur="9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9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3"/>
                                          </p:val>
                                        </p:tav>
                                        <p:tav tm="45000">
                                          <p:val>
                                            <p:strVal val="#ppt_y"/>
                                          </p:val>
                                        </p:tav>
                                        <p:tav tm="62000">
                                          <p:val>
                                            <p:strVal val="#ppt_y-0.06"/>
                                          </p:val>
                                        </p:tav>
                                        <p:tav tm="78000">
                                          <p:val>
                                            <p:strVal val="#ppt_y"/>
                                          </p:val>
                                        </p:tav>
                                        <p:tav tm="90000">
                                          <p:val>
                                            <p:strVal val="#ppt_y-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27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1" grpId="0" animBg="1"/>
      <p:bldP spid="14" grpId="0" animBg="1"/>
      <p:bldP spid="16" grpId="0" animBg="1"/>
      <p:bldP spid="19" grpId="0" animBg="1"/>
      <p:bldP spid="21" grpId="0" animBg="1"/>
      <p:bldP spid="24" grpId="0" animBg="1"/>
      <p:bldP spid="26" grpId="0" animBg="1"/>
      <p:bldP spid="29" grpId="0" animBg="1"/>
      <p:bldP spid="31" grpId="0" animBg="1"/>
      <p:bldP spid="34" grpId="0" animBg="1"/>
      <p:bldP spid="36" grpId="0" animBg="1"/>
      <p:bldP spid="3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cinema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FFC23C"/>
                </a:solidFill>
                <a:latin typeface="Arial"/>
                <a:cs typeface="Arial"/>
              </a:rPr>
              <a:t>ВИДЕОЭКСКУРСИЯ</a:t>
            </a:r>
          </a:p>
        </p:txBody>
      </p:sp>
      <p:pic>
        <p:nvPicPr>
          <p:cNvPr id="4" name="Title" descr="Смотрим и запоминаем!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cinema" descr="Уютный кинозал с большим экраном"/>
          <p:cNvPicPr>
            <a:picLocks noChangeAspect="1"/>
          </p:cNvPicPr>
          <p:nvPr/>
        </p:nvPicPr>
        <p:blipFill>
          <a:blip r:embed="rId6"/>
          <a:srcRect l="5686" r="5686"/>
          <a:stretch>
            <a:fillRect/>
          </a:stretch>
        </p:blipFill>
        <p:spPr>
          <a:xfrm>
            <a:off x="548640" y="1691640"/>
            <a:ext cx="6949440" cy="3931920"/>
          </a:xfrm>
          <a:prstGeom prst="roundRect">
            <a:avLst>
              <a:gd name="adj" fmla="val 5116"/>
            </a:avLst>
          </a:prstGeom>
          <a:ln w="45720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7" name="play button" descr="СМОТРЕТЬ ВИДЕО  »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5416" y="2642616"/>
            <a:ext cx="3675888" cy="1024128"/>
          </a:xfrm>
          <a:prstGeom prst="rect">
            <a:avLst/>
          </a:prstGeom>
        </p:spPr>
      </p:pic>
      <p:sp>
        <p:nvSpPr>
          <p:cNvPr id="8" name="video link">
            <a:hlinkClick r:id="rId8"/>
          </p:cNvPr>
          <p:cNvSpPr/>
          <p:nvPr/>
        </p:nvSpPr>
        <p:spPr>
          <a:xfrm>
            <a:off x="548640" y="1691640"/>
            <a:ext cx="6949440" cy="39319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questions card"/>
          <p:cNvSpPr/>
          <p:nvPr/>
        </p:nvSpPr>
        <p:spPr>
          <a:xfrm>
            <a:off x="7818120" y="1691640"/>
            <a:ext cx="3822192" cy="2834640"/>
          </a:xfrm>
          <a:prstGeom prst="roundRect">
            <a:avLst>
              <a:gd name="adj" fmla="val 8064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0" name="questions head" descr="Найди в фильме ответы: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74152" y="1856232"/>
            <a:ext cx="3419856" cy="493776"/>
          </a:xfrm>
          <a:prstGeom prst="rect">
            <a:avLst/>
          </a:prstGeom>
        </p:spPr>
      </p:pic>
      <p:sp>
        <p:nvSpPr>
          <p:cNvPr id="11" name="questions"/>
          <p:cNvSpPr txBox="1"/>
          <p:nvPr/>
        </p:nvSpPr>
        <p:spPr>
          <a:xfrm>
            <a:off x="8092440" y="2423160"/>
            <a:ext cx="3383280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 lang="ru-RU">
                <a:solidFill>
                  <a:srgbClr val="2B2A5A"/>
                </a:solidFill>
                <a:latin typeface="Arial"/>
                <a:cs typeface="Arial"/>
              </a:rPr>
              <a:t>1. Что служит опорой тела?</a:t>
            </a:r>
          </a:p>
          <a:p>
            <a:pPr algn="l">
              <a:spcBef>
                <a:spcPts val="600"/>
              </a:spcBef>
            </a:pPr>
            <a:r>
              <a:rPr sz="1600" b="1" i="0" lang="ru-RU">
                <a:solidFill>
                  <a:srgbClr val="2B2A5A"/>
                </a:solidFill>
                <a:latin typeface="Arial"/>
                <a:cs typeface="Arial"/>
              </a:rPr>
              <a:t>2. Какие кости защищают мозг, сердце и лёгкие?</a:t>
            </a:r>
          </a:p>
          <a:p>
            <a:pPr algn="l">
              <a:spcBef>
                <a:spcPts val="600"/>
              </a:spcBef>
            </a:pPr>
            <a:r>
              <a:rPr sz="1600" b="1" i="0" lang="ru-RU">
                <a:solidFill>
                  <a:srgbClr val="2B2A5A"/>
                </a:solidFill>
                <a:latin typeface="Arial"/>
                <a:cs typeface="Arial"/>
              </a:rPr>
              <a:t>3. Что помогает нам двигаться?</a:t>
            </a:r>
          </a:p>
        </p:txBody>
      </p:sp>
      <p:sp>
        <p:nvSpPr>
          <p:cNvPr id="12" name="qr card"/>
          <p:cNvSpPr/>
          <p:nvPr/>
        </p:nvSpPr>
        <p:spPr>
          <a:xfrm>
            <a:off x="7818120" y="4709160"/>
            <a:ext cx="1463040" cy="1463040"/>
          </a:xfrm>
          <a:prstGeom prst="roundRect">
            <a:avLst>
              <a:gd name="adj" fmla="val 11249"/>
            </a:avLst>
          </a:prstGeom>
          <a:solidFill>
            <a:srgbClr val="FFFFFF">
              <a:alpha val="100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3" name="qr video" descr="QR-код на видеоэкскурсию">
            <a:hlinkClick r:id="rId8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09560" y="4800600"/>
            <a:ext cx="1280160" cy="1280160"/>
          </a:xfrm>
          <a:prstGeom prst="rect">
            <a:avLst/>
          </a:prstGeom>
        </p:spPr>
      </p:pic>
      <p:pic>
        <p:nvPicPr>
          <p:cNvPr id="14" name="qr text" descr="или отсканируй QR-код телефоном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5752" y="4690872"/>
            <a:ext cx="2231136" cy="1499616"/>
          </a:xfrm>
          <a:prstGeom prst="rect">
            <a:avLst/>
          </a:prstGeom>
        </p:spPr>
      </p:pic>
      <p:pic>
        <p:nvPicPr>
          <p:cNvPr id="15" name="!!mascot" descr="Костик — весёлый скелетик-экскурсовод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902" y="4480560"/>
            <a:ext cx="1051075" cy="22402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warp dir="in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24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20"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3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0"/>
                            </p:stCondLst>
                            <p:childTnLst>
                              <p:par>
                                <p:cTn id="2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300"/>
                            </p:stCondLst>
                            <p:childTnLst>
                              <p:par>
                                <p:cTn id="53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4" dur="40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sky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3BA7F5"/>
                </a:solidFill>
                <a:latin typeface="Arial"/>
                <a:cs typeface="Arial"/>
              </a:rPr>
              <a:t>ВИРТУАЛЬНАЯ ЭКСКУРСИЯ</a:t>
            </a:r>
          </a:p>
        </p:txBody>
      </p:sp>
      <p:pic>
        <p:nvPicPr>
          <p:cNvPr id="4" name="Title" descr="Музей «Тело человека»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museum" descr="Яркий детский музей о теле человека"/>
          <p:cNvPicPr>
            <a:picLocks noChangeAspect="1"/>
          </p:cNvPicPr>
          <p:nvPr/>
        </p:nvPicPr>
        <p:blipFill>
          <a:blip r:embed="rId6"/>
          <a:srcRect l="6019" r="6019"/>
          <a:stretch>
            <a:fillRect/>
          </a:stretch>
        </p:blipFill>
        <p:spPr>
          <a:xfrm>
            <a:off x="548640" y="1691640"/>
            <a:ext cx="5806440" cy="3310128"/>
          </a:xfrm>
          <a:prstGeom prst="roundRect">
            <a:avLst>
              <a:gd name="adj" fmla="val 6077"/>
            </a:avLst>
          </a:prstGeom>
          <a:ln w="45720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7" name="welcome card"/>
          <p:cNvSpPr/>
          <p:nvPr/>
        </p:nvSpPr>
        <p:spPr>
          <a:xfrm>
            <a:off x="548640" y="5166360"/>
            <a:ext cx="5806440" cy="1097280"/>
          </a:xfrm>
          <a:prstGeom prst="roundRect">
            <a:avLst>
              <a:gd name="adj" fmla="val 20833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8" name="welcome text" descr="Я Костик — ваш экскурсовод. Выбирайте зал — и вперёд!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5148072"/>
            <a:ext cx="3694176" cy="1133856"/>
          </a:xfrm>
          <a:prstGeom prst="rect">
            <a:avLst/>
          </a:prstGeom>
        </p:spPr>
      </p:pic>
      <p:pic>
        <p:nvPicPr>
          <p:cNvPr id="9" name="!!mascot" descr="Костик — весёлый скелетик-экскурсовод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33775" y="3291840"/>
            <a:ext cx="1996690" cy="3383280"/>
          </a:xfrm>
          <a:prstGeom prst="rect">
            <a:avLst/>
          </a:prstGeom>
        </p:spPr>
      </p:pic>
      <p:pic>
        <p:nvPicPr>
          <p:cNvPr id="10" name="!!hall1" descr="Зал 1: Скелет — опора тела"/>
          <p:cNvPicPr>
            <a:picLocks noChangeAspect="1"/>
          </p:cNvPicPr>
          <p:nvPr/>
        </p:nvPicPr>
        <p:blipFill>
          <a:blip r:embed="rId9"/>
          <a:srcRect l="1578" r="1578"/>
          <a:stretch>
            <a:fillRect/>
          </a:stretch>
        </p:blipFill>
        <p:spPr>
          <a:xfrm>
            <a:off x="6675120" y="1691640"/>
            <a:ext cx="2404872" cy="1389888"/>
          </a:xfrm>
          <a:prstGeom prst="roundRect">
            <a:avLst>
              <a:gd name="adj" fmla="val 13157"/>
            </a:avLst>
          </a:prstGeom>
          <a:ln w="36576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11" name="hall1 num" descr="ЗАЛ 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1424" y="2331720"/>
            <a:ext cx="2139696" cy="310896"/>
          </a:xfrm>
          <a:prstGeom prst="rect">
            <a:avLst/>
          </a:prstGeom>
        </p:spPr>
      </p:pic>
      <p:sp>
        <p:nvSpPr>
          <p:cNvPr id="12" name="hall1 name"/>
          <p:cNvSpPr txBox="1"/>
          <p:nvPr/>
        </p:nvSpPr>
        <p:spPr>
          <a:xfrm>
            <a:off x="6839712" y="258775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1400" b="1" i="0" lang="ru-RU">
                <a:solidFill>
                  <a:srgbClr val="FFFFFF"/>
                </a:solidFill>
                <a:latin typeface="Arial"/>
                <a:cs typeface="Arial"/>
              </a:rPr>
              <a:t>Скелет — опора тела</a:t>
            </a:r>
          </a:p>
        </p:txBody>
      </p:sp>
      <p:sp>
        <p:nvSpPr>
          <p:cNvPr id="13" name="hall1 link">
            <a:hlinkClick action="ppaction://hlinksldjump" r:id="rId11"/>
          </p:cNvPr>
          <p:cNvSpPr/>
          <p:nvPr/>
        </p:nvSpPr>
        <p:spPr>
          <a:xfrm>
            <a:off x="6675120" y="1691640"/>
            <a:ext cx="2404872" cy="138988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!!hall2" descr="Зал 2: Из чего состоит скелет"/>
          <p:cNvPicPr>
            <a:picLocks noChangeAspect="1"/>
          </p:cNvPicPr>
          <p:nvPr/>
        </p:nvPicPr>
        <p:blipFill>
          <a:blip r:embed="rId12"/>
          <a:srcRect l="1578" r="1578"/>
          <a:stretch>
            <a:fillRect/>
          </a:stretch>
        </p:blipFill>
        <p:spPr>
          <a:xfrm>
            <a:off x="9208008" y="1691640"/>
            <a:ext cx="2404872" cy="1389888"/>
          </a:xfrm>
          <a:prstGeom prst="roundRect">
            <a:avLst>
              <a:gd name="adj" fmla="val 13157"/>
            </a:avLst>
          </a:prstGeom>
          <a:ln w="36576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15" name="hall2 num" descr="ЗАЛ 2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54312" y="2331720"/>
            <a:ext cx="2139696" cy="310896"/>
          </a:xfrm>
          <a:prstGeom prst="rect">
            <a:avLst/>
          </a:prstGeom>
        </p:spPr>
      </p:pic>
      <p:sp>
        <p:nvSpPr>
          <p:cNvPr id="16" name="hall2 name"/>
          <p:cNvSpPr txBox="1"/>
          <p:nvPr/>
        </p:nvSpPr>
        <p:spPr>
          <a:xfrm>
            <a:off x="9372600" y="258775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1400" b="1" i="0" lang="ru-RU">
                <a:solidFill>
                  <a:srgbClr val="FFFFFF"/>
                </a:solidFill>
                <a:latin typeface="Arial"/>
                <a:cs typeface="Arial"/>
              </a:rPr>
              <a:t>Из чего состоит скелет</a:t>
            </a:r>
          </a:p>
        </p:txBody>
      </p:sp>
      <p:sp>
        <p:nvSpPr>
          <p:cNvPr id="17" name="hall2 link">
            <a:hlinkClick action="ppaction://hlinksldjump" r:id="rId14"/>
          </p:cNvPr>
          <p:cNvSpPr/>
          <p:nvPr/>
        </p:nvSpPr>
        <p:spPr>
          <a:xfrm>
            <a:off x="9208008" y="1691640"/>
            <a:ext cx="2404872" cy="138988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!!hall3" descr="Зал 3: Суставы"/>
          <p:cNvPicPr>
            <a:picLocks noChangeAspect="1"/>
          </p:cNvPicPr>
          <p:nvPr/>
        </p:nvPicPr>
        <p:blipFill>
          <a:blip r:embed="rId15"/>
          <a:srcRect l="1578" r="1578"/>
          <a:stretch>
            <a:fillRect/>
          </a:stretch>
        </p:blipFill>
        <p:spPr>
          <a:xfrm>
            <a:off x="6675120" y="3246120"/>
            <a:ext cx="2404872" cy="1389888"/>
          </a:xfrm>
          <a:prstGeom prst="roundRect">
            <a:avLst>
              <a:gd name="adj" fmla="val 13157"/>
            </a:avLst>
          </a:prstGeom>
          <a:ln w="36576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19" name="hall3 num" descr="ЗАЛ 3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21424" y="3886200"/>
            <a:ext cx="2139696" cy="310896"/>
          </a:xfrm>
          <a:prstGeom prst="rect">
            <a:avLst/>
          </a:prstGeom>
        </p:spPr>
      </p:pic>
      <p:sp>
        <p:nvSpPr>
          <p:cNvPr id="20" name="hall3 name"/>
          <p:cNvSpPr txBox="1"/>
          <p:nvPr/>
        </p:nvSpPr>
        <p:spPr>
          <a:xfrm>
            <a:off x="6839712" y="414223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1400" b="1" i="0" lang="ru-RU">
                <a:solidFill>
                  <a:srgbClr val="FFFFFF"/>
                </a:solidFill>
                <a:latin typeface="Arial"/>
                <a:cs typeface="Arial"/>
              </a:rPr>
              <a:t>Суставы</a:t>
            </a:r>
          </a:p>
        </p:txBody>
      </p:sp>
      <p:sp>
        <p:nvSpPr>
          <p:cNvPr id="21" name="hall3 link">
            <a:hlinkClick action="ppaction://hlinksldjump" r:id="rId17"/>
          </p:cNvPr>
          <p:cNvSpPr/>
          <p:nvPr/>
        </p:nvSpPr>
        <p:spPr>
          <a:xfrm>
            <a:off x="6675120" y="3246120"/>
            <a:ext cx="2404872" cy="138988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!!hall4" descr="Зал 4: Мышцы"/>
          <p:cNvPicPr>
            <a:picLocks noChangeAspect="1"/>
          </p:cNvPicPr>
          <p:nvPr/>
        </p:nvPicPr>
        <p:blipFill>
          <a:blip r:embed="rId18"/>
          <a:srcRect l="1578" r="1578"/>
          <a:stretch>
            <a:fillRect/>
          </a:stretch>
        </p:blipFill>
        <p:spPr>
          <a:xfrm>
            <a:off x="9208008" y="3246120"/>
            <a:ext cx="2404872" cy="1389888"/>
          </a:xfrm>
          <a:prstGeom prst="roundRect">
            <a:avLst>
              <a:gd name="adj" fmla="val 13157"/>
            </a:avLst>
          </a:prstGeom>
          <a:ln w="36576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23" name="hall4 num" descr="ЗАЛ 4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54312" y="3886200"/>
            <a:ext cx="2139696" cy="310896"/>
          </a:xfrm>
          <a:prstGeom prst="rect">
            <a:avLst/>
          </a:prstGeom>
        </p:spPr>
      </p:pic>
      <p:sp>
        <p:nvSpPr>
          <p:cNvPr id="24" name="hall4 name"/>
          <p:cNvSpPr txBox="1"/>
          <p:nvPr/>
        </p:nvSpPr>
        <p:spPr>
          <a:xfrm>
            <a:off x="9372600" y="414223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1400" b="1" i="0" lang="ru-RU">
                <a:solidFill>
                  <a:srgbClr val="FFFFFF"/>
                </a:solidFill>
                <a:latin typeface="Arial"/>
                <a:cs typeface="Arial"/>
              </a:rPr>
              <a:t>Мышцы</a:t>
            </a:r>
          </a:p>
        </p:txBody>
      </p:sp>
      <p:sp>
        <p:nvSpPr>
          <p:cNvPr id="25" name="hall4 link">
            <a:hlinkClick action="ppaction://hlinksldjump" r:id="rId20"/>
          </p:cNvPr>
          <p:cNvSpPr/>
          <p:nvPr/>
        </p:nvSpPr>
        <p:spPr>
          <a:xfrm>
            <a:off x="9208008" y="3246120"/>
            <a:ext cx="2404872" cy="138988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!!hall5" descr="Зал 5: Осанка"/>
          <p:cNvPicPr>
            <a:picLocks noChangeAspect="1"/>
          </p:cNvPicPr>
          <p:nvPr/>
        </p:nvPicPr>
        <p:blipFill>
          <a:blip r:embed="rId21"/>
          <a:srcRect l="1578" r="1578"/>
          <a:stretch>
            <a:fillRect/>
          </a:stretch>
        </p:blipFill>
        <p:spPr>
          <a:xfrm>
            <a:off x="6675120" y="4800600"/>
            <a:ext cx="2404872" cy="1389888"/>
          </a:xfrm>
          <a:prstGeom prst="roundRect">
            <a:avLst>
              <a:gd name="adj" fmla="val 13157"/>
            </a:avLst>
          </a:prstGeom>
          <a:ln w="36576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27" name="hall5 num" descr="ЗАЛ 5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821424" y="5440680"/>
            <a:ext cx="2139696" cy="310896"/>
          </a:xfrm>
          <a:prstGeom prst="rect">
            <a:avLst/>
          </a:prstGeom>
        </p:spPr>
      </p:pic>
      <p:sp>
        <p:nvSpPr>
          <p:cNvPr id="28" name="hall5 name"/>
          <p:cNvSpPr txBox="1"/>
          <p:nvPr/>
        </p:nvSpPr>
        <p:spPr>
          <a:xfrm>
            <a:off x="6839712" y="569671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1400" b="1" i="0" lang="ru-RU">
                <a:solidFill>
                  <a:srgbClr val="FFFFFF"/>
                </a:solidFill>
                <a:latin typeface="Arial"/>
                <a:cs typeface="Arial"/>
              </a:rPr>
              <a:t>Осанка</a:t>
            </a:r>
          </a:p>
        </p:txBody>
      </p:sp>
      <p:sp>
        <p:nvSpPr>
          <p:cNvPr id="29" name="hall5 link">
            <a:hlinkClick action="ppaction://hlinksldjump" r:id="rId23"/>
          </p:cNvPr>
          <p:cNvSpPr/>
          <p:nvPr/>
        </p:nvSpPr>
        <p:spPr>
          <a:xfrm>
            <a:off x="6675120" y="4800600"/>
            <a:ext cx="2404872" cy="138988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!!hall6" descr="Зал 6: Музей рекордов"/>
          <p:cNvPicPr>
            <a:picLocks noChangeAspect="1"/>
          </p:cNvPicPr>
          <p:nvPr/>
        </p:nvPicPr>
        <p:blipFill>
          <a:blip r:embed="rId24"/>
          <a:srcRect l="1578" r="1578"/>
          <a:stretch>
            <a:fillRect/>
          </a:stretch>
        </p:blipFill>
        <p:spPr>
          <a:xfrm>
            <a:off x="9208008" y="4800600"/>
            <a:ext cx="2404872" cy="1389888"/>
          </a:xfrm>
          <a:prstGeom prst="roundRect">
            <a:avLst>
              <a:gd name="adj" fmla="val 13157"/>
            </a:avLst>
          </a:prstGeom>
          <a:ln w="36576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31" name="hall6 num" descr="ЗАЛ 6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354312" y="5440680"/>
            <a:ext cx="2139696" cy="310896"/>
          </a:xfrm>
          <a:prstGeom prst="rect">
            <a:avLst/>
          </a:prstGeom>
        </p:spPr>
      </p:pic>
      <p:sp>
        <p:nvSpPr>
          <p:cNvPr id="32" name="hall6 name"/>
          <p:cNvSpPr txBox="1"/>
          <p:nvPr/>
        </p:nvSpPr>
        <p:spPr>
          <a:xfrm>
            <a:off x="9372600" y="569671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1400" b="1" i="0" lang="ru-RU">
                <a:solidFill>
                  <a:srgbClr val="FFFFFF"/>
                </a:solidFill>
                <a:latin typeface="Arial"/>
                <a:cs typeface="Arial"/>
              </a:rPr>
              <a:t>Музей рекордов</a:t>
            </a:r>
          </a:p>
        </p:txBody>
      </p:sp>
      <p:sp>
        <p:nvSpPr>
          <p:cNvPr id="33" name="hall6 link">
            <a:hlinkClick action="ppaction://hlinksldjump" r:id="rId26"/>
          </p:cNvPr>
          <p:cNvSpPr/>
          <p:nvPr/>
        </p:nvSpPr>
        <p:spPr>
          <a:xfrm>
            <a:off x="9208008" y="4800600"/>
            <a:ext cx="2404872" cy="138988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doors dir="ver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6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3"/>
                                          </p:val>
                                        </p:tav>
                                        <p:tav tm="45000">
                                          <p:val>
                                            <p:strVal val="#ppt_y"/>
                                          </p:val>
                                        </p:tav>
                                        <p:tav tm="62000">
                                          <p:val>
                                            <p:strVal val="#ppt_y-0.06"/>
                                          </p:val>
                                        </p:tav>
                                        <p:tav tm="78000">
                                          <p:val>
                                            <p:strVal val="#ppt_y"/>
                                          </p:val>
                                        </p:tav>
                                        <p:tav tm="90000">
                                          <p:val>
                                            <p:strVal val="#ppt_y-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200"/>
                            </p:stCondLst>
                            <p:childTnLst>
                              <p:par>
                                <p:cTn id="26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24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24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24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24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6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4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3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24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2" grpId="0" animBg="1"/>
      <p:bldP spid="16" grpId="0" animBg="1"/>
      <p:bldP spid="20" grpId="0" animBg="1"/>
      <p:bldP spid="24" grpId="0" animBg="1"/>
      <p:bldP spid="28" grpId="0" animBg="1"/>
      <p:bldP spid="32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sky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3BA7F5"/>
                </a:solidFill>
                <a:latin typeface="Arial"/>
                <a:cs typeface="Arial"/>
              </a:rPr>
              <a:t>ЗАЛ 1  ·  ВИРТУАЛЬНАЯ ЭКСКУРСИЯ</a:t>
            </a:r>
          </a:p>
        </p:txBody>
      </p:sp>
      <p:pic>
        <p:nvPicPr>
          <p:cNvPr id="4" name="Title" descr="Скелет — опора тел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!!nav museum" descr="МУЗЕЙ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182880"/>
            <a:ext cx="1435608" cy="694944"/>
          </a:xfrm>
          <a:prstGeom prst="rect">
            <a:avLst/>
          </a:prstGeom>
        </p:spPr>
      </p:pic>
      <p:pic>
        <p:nvPicPr>
          <p:cNvPr id="7" name="!!hall1" descr="Палатка без каркаса упала, а палатка с каркасом стоит"/>
          <p:cNvPicPr>
            <a:picLocks noChangeAspect="1"/>
          </p:cNvPicPr>
          <p:nvPr/>
        </p:nvPicPr>
        <p:blipFill>
          <a:blip r:embed="rId8"/>
          <a:srcRect l="12018" r="2018"/>
          <a:stretch>
            <a:fillRect/>
          </a:stretch>
        </p:blipFill>
        <p:spPr>
          <a:xfrm>
            <a:off x="548640" y="1691640"/>
            <a:ext cx="6035040" cy="3520440"/>
          </a:xfrm>
          <a:prstGeom prst="roundRect">
            <a:avLst>
              <a:gd name="adj" fmla="val 5714"/>
            </a:avLst>
          </a:prstGeom>
          <a:ln w="45720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8" name="tent caption" descr="Без каркаса палатка падает. Без скелета мы не смогли бы даже стоять!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0352" y="5303520"/>
            <a:ext cx="6071616" cy="813816"/>
          </a:xfrm>
          <a:prstGeom prst="rect">
            <a:avLst/>
          </a:prstGeom>
        </p:spPr>
      </p:pic>
      <p:sp>
        <p:nvSpPr>
          <p:cNvPr id="9" name="definition card"/>
          <p:cNvSpPr/>
          <p:nvPr/>
        </p:nvSpPr>
        <p:spPr>
          <a:xfrm>
            <a:off x="6903720" y="1691640"/>
            <a:ext cx="4736592" cy="2148840"/>
          </a:xfrm>
          <a:prstGeom prst="roundRect">
            <a:avLst>
              <a:gd name="adj" fmla="val 10638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0" name="definition"/>
          <p:cNvSpPr txBox="1"/>
          <p:nvPr/>
        </p:nvSpPr>
        <p:spPr>
          <a:xfrm>
            <a:off x="7178040" y="1783080"/>
            <a:ext cx="4251960" cy="1965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1" i="0" lang="ru-RU">
                <a:solidFill>
                  <a:srgbClr val="6C5CE7"/>
                </a:solidFill>
                <a:latin typeface="Arial"/>
                <a:cs typeface="Arial"/>
              </a:rPr>
              <a:t>Скелет</a:t>
            </a:r>
            <a:r>
              <a:rPr sz="1700" b="1" i="0" lang="ru-RU">
                <a:solidFill>
                  <a:srgbClr val="2B2A5A"/>
                </a:solidFill>
                <a:latin typeface="Arial"/>
                <a:cs typeface="Arial"/>
              </a:rPr>
              <a:t> — это прочный каркас тела из костей. Он держит форму тела, защищает внутренние органы и вместе с мышцами помогает двигаться.</a:t>
            </a:r>
          </a:p>
        </p:txBody>
      </p:sp>
      <p:sp>
        <p:nvSpPr>
          <p:cNvPr id="11" name="stat adult"/>
          <p:cNvSpPr/>
          <p:nvPr/>
        </p:nvSpPr>
        <p:spPr>
          <a:xfrm>
            <a:off x="6903720" y="4023360"/>
            <a:ext cx="2276856" cy="1920240"/>
          </a:xfrm>
          <a:prstGeom prst="roundRect">
            <a:avLst>
              <a:gd name="adj" fmla="val 11904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2" name="stat adult num" descr="20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31152" y="4142232"/>
            <a:ext cx="2221992" cy="859536"/>
          </a:xfrm>
          <a:prstGeom prst="rect">
            <a:avLst/>
          </a:prstGeom>
        </p:spPr>
      </p:pic>
      <p:sp>
        <p:nvSpPr>
          <p:cNvPr id="13" name="stat adult label"/>
          <p:cNvSpPr txBox="1"/>
          <p:nvPr/>
        </p:nvSpPr>
        <p:spPr>
          <a:xfrm>
            <a:off x="7086600" y="4983480"/>
            <a:ext cx="19202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костей у взрослого человека</a:t>
            </a:r>
          </a:p>
        </p:txBody>
      </p:sp>
      <p:sp>
        <p:nvSpPr>
          <p:cNvPr id="14" name="stat baby"/>
          <p:cNvSpPr/>
          <p:nvPr/>
        </p:nvSpPr>
        <p:spPr>
          <a:xfrm>
            <a:off x="9363456" y="4023360"/>
            <a:ext cx="2276856" cy="1920240"/>
          </a:xfrm>
          <a:prstGeom prst="roundRect">
            <a:avLst>
              <a:gd name="adj" fmla="val 11904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5" name="stat baby num" descr="≈30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90888" y="4142232"/>
            <a:ext cx="2221992" cy="859536"/>
          </a:xfrm>
          <a:prstGeom prst="rect">
            <a:avLst/>
          </a:prstGeom>
        </p:spPr>
      </p:pic>
      <p:sp>
        <p:nvSpPr>
          <p:cNvPr id="16" name="stat baby label"/>
          <p:cNvSpPr txBox="1"/>
          <p:nvPr/>
        </p:nvSpPr>
        <p:spPr>
          <a:xfrm>
            <a:off x="9500616" y="4983480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400" b="1" i="0" lang="ru-RU">
                <a:solidFill>
                  <a:srgbClr val="2B2A5A"/>
                </a:solidFill>
                <a:latin typeface="Arial"/>
                <a:cs typeface="Arial"/>
              </a:rPr>
              <a:t>у малыша — потом часть костей срастается</a:t>
            </a:r>
          </a:p>
        </p:txBody>
      </p:sp>
      <p:pic>
        <p:nvPicPr>
          <p:cNvPr id="17" name="!!next" descr="Следующий зал  »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21727" y="5998464"/>
            <a:ext cx="2664889" cy="768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24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27" display="0" masterRel="sameClick">
                                          <p:stCondLst>
                                            <p:cond evt="begin" delay="0">
                                              <p:tn val="22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24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24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24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 animBg="1"/>
      <p:bldP spid="14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lilac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6C5CE7"/>
                </a:solidFill>
                <a:latin typeface="Arial"/>
                <a:cs typeface="Arial"/>
              </a:rPr>
              <a:t>ЗАЛ 2  ·  ВИРТУАЛЬНАЯ ЭКСКУРСИЯ</a:t>
            </a:r>
          </a:p>
        </p:txBody>
      </p:sp>
      <p:pic>
        <p:nvPicPr>
          <p:cNvPr id="4" name="Title" descr="Из чего состоит скелет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!!nav museum" descr="МУЗЕЙ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182880"/>
            <a:ext cx="1435608" cy="694944"/>
          </a:xfrm>
          <a:prstGeom prst="rect">
            <a:avLst/>
          </a:prstGeom>
        </p:spPr>
      </p:pic>
      <p:pic>
        <p:nvPicPr>
          <p:cNvPr id="7" name="hotspot hint" descr="Нажимай на названия — узнаешь секреты костей!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352" y="1444752"/>
            <a:ext cx="7351776" cy="493776"/>
          </a:xfrm>
          <a:prstGeom prst="rect">
            <a:avLst/>
          </a:prstGeom>
        </p:spPr>
      </p:pic>
      <p:pic>
        <p:nvPicPr>
          <p:cNvPr id="8" name="!!hall2" descr="Скелет человека спереди"/>
          <p:cNvPicPr>
            <a:picLocks noChangeAspect="1"/>
          </p:cNvPicPr>
          <p:nvPr/>
        </p:nvPicPr>
        <p:blipFill>
          <a:blip r:embed="rId9"/>
          <a:srcRect t="222" b="222"/>
          <a:stretch>
            <a:fillRect/>
          </a:stretch>
        </p:blipFill>
        <p:spPr>
          <a:xfrm>
            <a:off x="4381348" y="1965960"/>
            <a:ext cx="3429000" cy="4572000"/>
          </a:xfrm>
          <a:prstGeom prst="roundRect">
            <a:avLst>
              <a:gd name="adj" fmla="val 5866"/>
            </a:avLst>
          </a:prstGeom>
          <a:ln w="45720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9" name="part skull" descr="Череп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6154" y="1865376"/>
            <a:ext cx="1382070" cy="713232"/>
          </a:xfrm>
          <a:prstGeom prst="rect">
            <a:avLst/>
          </a:prstGeom>
        </p:spPr>
      </p:pic>
      <p:sp>
        <p:nvSpPr>
          <p:cNvPr id="10" name="info skull"/>
          <p:cNvSpPr/>
          <p:nvPr/>
        </p:nvSpPr>
        <p:spPr>
          <a:xfrm>
            <a:off x="548640" y="2514600"/>
            <a:ext cx="3383280" cy="731520"/>
          </a:xfrm>
          <a:prstGeom prst="roundRect">
            <a:avLst>
              <a:gd name="adj" fmla="val 3125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 wrap="square" lIns="128016" rIns="128016">
            <a:noAutofit/>
          </a:bodyPr>
          <a:lstStyle/>
          <a:p>
            <a:pPr algn="ctr"/>
            <a:r>
              <a:rPr sz="1400" b="1" i="0" lang="ru-RU">
                <a:solidFill>
                  <a:srgbClr val="2B2A5A"/>
                </a:solidFill>
                <a:latin typeface="Arial"/>
                <a:cs typeface="Arial"/>
              </a:rPr>
              <a:t>Защищает головной мозг — как прочный шлем</a:t>
            </a:r>
          </a:p>
        </p:txBody>
      </p:sp>
      <p:cxnSp>
        <p:nvCxnSpPr>
          <p:cNvPr id="11" name="leader skull"/>
          <p:cNvCxnSpPr/>
          <p:nvPr/>
        </p:nvCxnSpPr>
        <p:spPr>
          <a:xfrm>
            <a:off x="3931920" y="2221992"/>
            <a:ext cx="2009623" cy="246888"/>
          </a:xfrm>
          <a:prstGeom prst="line">
            <a:avLst/>
          </a:prstGeom>
          <a:ln w="38100" cap="rnd">
            <a:solidFill>
              <a:srgbClr val="6C5CE7"/>
            </a:solidFill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part ribs" descr="Грудная клетка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13584" y="3163824"/>
            <a:ext cx="2264640" cy="713232"/>
          </a:xfrm>
          <a:prstGeom prst="rect">
            <a:avLst/>
          </a:prstGeom>
        </p:spPr>
      </p:pic>
      <p:sp>
        <p:nvSpPr>
          <p:cNvPr id="13" name="info ribs"/>
          <p:cNvSpPr/>
          <p:nvPr/>
        </p:nvSpPr>
        <p:spPr>
          <a:xfrm>
            <a:off x="548640" y="3813048"/>
            <a:ext cx="3383280" cy="731520"/>
          </a:xfrm>
          <a:prstGeom prst="roundRect">
            <a:avLst>
              <a:gd name="adj" fmla="val 3125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 wrap="square" lIns="128016" rIns="128016">
            <a:noAutofit/>
          </a:bodyPr>
          <a:lstStyle/>
          <a:p>
            <a:pPr algn="ctr"/>
            <a:r>
              <a:rPr sz="1400" b="1" i="0" lang="ru-RU">
                <a:solidFill>
                  <a:srgbClr val="2B2A5A"/>
                </a:solidFill>
                <a:latin typeface="Arial"/>
                <a:cs typeface="Arial"/>
              </a:rPr>
              <a:t>12 пар рёбер берегут сердце и лёгкие</a:t>
            </a:r>
          </a:p>
        </p:txBody>
      </p:sp>
      <p:cxnSp>
        <p:nvCxnSpPr>
          <p:cNvPr id="14" name="leader ribs"/>
          <p:cNvCxnSpPr/>
          <p:nvPr/>
        </p:nvCxnSpPr>
        <p:spPr>
          <a:xfrm flipV="1">
            <a:off x="3931920" y="3383280"/>
            <a:ext cx="1906753" cy="137160"/>
          </a:xfrm>
          <a:prstGeom prst="line">
            <a:avLst/>
          </a:prstGeom>
          <a:ln w="38100" cap="rnd">
            <a:solidFill>
              <a:srgbClr val="FF6B6B"/>
            </a:solidFill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" name="part hand" descr="Кости рук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46587" y="4462272"/>
            <a:ext cx="1731637" cy="713232"/>
          </a:xfrm>
          <a:prstGeom prst="rect">
            <a:avLst/>
          </a:prstGeom>
        </p:spPr>
      </p:pic>
      <p:sp>
        <p:nvSpPr>
          <p:cNvPr id="16" name="info hand"/>
          <p:cNvSpPr/>
          <p:nvPr/>
        </p:nvSpPr>
        <p:spPr>
          <a:xfrm>
            <a:off x="548640" y="5111496"/>
            <a:ext cx="3383280" cy="731520"/>
          </a:xfrm>
          <a:prstGeom prst="roundRect">
            <a:avLst>
              <a:gd name="adj" fmla="val 3125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 wrap="square" lIns="128016" rIns="128016">
            <a:noAutofit/>
          </a:bodyPr>
          <a:lstStyle/>
          <a:p>
            <a:pPr algn="ctr"/>
            <a:r>
              <a:rPr sz="1400" b="1" i="0" lang="ru-RU">
                <a:solidFill>
                  <a:srgbClr val="2B2A5A"/>
                </a:solidFill>
                <a:latin typeface="Arial"/>
                <a:cs typeface="Arial"/>
              </a:rPr>
              <a:t>Берём, пишем, рисуем. В одной кисти 27 косточек!</a:t>
            </a:r>
          </a:p>
        </p:txBody>
      </p:sp>
      <p:cxnSp>
        <p:nvCxnSpPr>
          <p:cNvPr id="17" name="leader hand"/>
          <p:cNvCxnSpPr/>
          <p:nvPr/>
        </p:nvCxnSpPr>
        <p:spPr>
          <a:xfrm flipV="1">
            <a:off x="3931920" y="4526280"/>
            <a:ext cx="1186663" cy="292608"/>
          </a:xfrm>
          <a:prstGeom prst="line">
            <a:avLst/>
          </a:prstGeom>
          <a:ln w="38100" cap="rnd">
            <a:solidFill>
              <a:srgbClr val="3BA7F5"/>
            </a:solidFill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art spine" descr="Позвоночник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10728" y="1865376"/>
            <a:ext cx="2075668" cy="713232"/>
          </a:xfrm>
          <a:prstGeom prst="rect">
            <a:avLst/>
          </a:prstGeom>
        </p:spPr>
      </p:pic>
      <p:sp>
        <p:nvSpPr>
          <p:cNvPr id="19" name="info spine"/>
          <p:cNvSpPr/>
          <p:nvPr/>
        </p:nvSpPr>
        <p:spPr>
          <a:xfrm>
            <a:off x="8257032" y="2514600"/>
            <a:ext cx="3383280" cy="731520"/>
          </a:xfrm>
          <a:prstGeom prst="roundRect">
            <a:avLst>
              <a:gd name="adj" fmla="val 3125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 wrap="square" lIns="128016" rIns="128016">
            <a:noAutofit/>
          </a:bodyPr>
          <a:lstStyle/>
          <a:p>
            <a:pPr algn="ctr"/>
            <a:r>
              <a:rPr sz="1400" b="1" i="0" lang="ru-RU">
                <a:solidFill>
                  <a:srgbClr val="2B2A5A"/>
                </a:solidFill>
                <a:latin typeface="Arial"/>
                <a:cs typeface="Arial"/>
              </a:rPr>
              <a:t>Главная опора тела: 33–34 позвонка, поэтому он гибкий</a:t>
            </a:r>
          </a:p>
        </p:txBody>
      </p:sp>
      <p:cxnSp>
        <p:nvCxnSpPr>
          <p:cNvPr id="20" name="leader spine"/>
          <p:cNvCxnSpPr/>
          <p:nvPr/>
        </p:nvCxnSpPr>
        <p:spPr>
          <a:xfrm flipH="1">
            <a:off x="6112993" y="2221992"/>
            <a:ext cx="2144039" cy="1709928"/>
          </a:xfrm>
          <a:prstGeom prst="line">
            <a:avLst/>
          </a:prstGeom>
          <a:ln w="38100" cap="rnd">
            <a:solidFill>
              <a:srgbClr val="13A386"/>
            </a:solidFill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art pelvis" descr="Кости таза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10728" y="3163824"/>
            <a:ext cx="1812421" cy="713232"/>
          </a:xfrm>
          <a:prstGeom prst="rect">
            <a:avLst/>
          </a:prstGeom>
        </p:spPr>
      </p:pic>
      <p:sp>
        <p:nvSpPr>
          <p:cNvPr id="22" name="info pelvis"/>
          <p:cNvSpPr/>
          <p:nvPr/>
        </p:nvSpPr>
        <p:spPr>
          <a:xfrm>
            <a:off x="8257032" y="3813048"/>
            <a:ext cx="3383280" cy="731520"/>
          </a:xfrm>
          <a:prstGeom prst="roundRect">
            <a:avLst>
              <a:gd name="adj" fmla="val 3125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 wrap="square" lIns="128016" rIns="128016">
            <a:noAutofit/>
          </a:bodyPr>
          <a:lstStyle/>
          <a:p>
            <a:pPr algn="ctr"/>
            <a:r>
              <a:rPr sz="1400" b="1" i="0" lang="ru-RU">
                <a:solidFill>
                  <a:srgbClr val="2B2A5A"/>
                </a:solidFill>
                <a:latin typeface="Arial"/>
                <a:cs typeface="Arial"/>
              </a:rPr>
              <a:t>Опора для позвоночника, к ним крепятся ноги</a:t>
            </a:r>
          </a:p>
        </p:txBody>
      </p:sp>
      <p:cxnSp>
        <p:nvCxnSpPr>
          <p:cNvPr id="23" name="leader pelvis"/>
          <p:cNvCxnSpPr/>
          <p:nvPr/>
        </p:nvCxnSpPr>
        <p:spPr>
          <a:xfrm flipH="1">
            <a:off x="6353023" y="3520440"/>
            <a:ext cx="1904009" cy="731520"/>
          </a:xfrm>
          <a:prstGeom prst="line">
            <a:avLst/>
          </a:prstGeom>
          <a:ln w="38100" cap="rnd">
            <a:solidFill>
              <a:srgbClr val="FF9F43"/>
            </a:solidFill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art legs" descr="Кости ног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10728" y="4462272"/>
            <a:ext cx="1721914" cy="713232"/>
          </a:xfrm>
          <a:prstGeom prst="rect">
            <a:avLst/>
          </a:prstGeom>
        </p:spPr>
      </p:pic>
      <p:sp>
        <p:nvSpPr>
          <p:cNvPr id="25" name="info legs"/>
          <p:cNvSpPr/>
          <p:nvPr/>
        </p:nvSpPr>
        <p:spPr>
          <a:xfrm>
            <a:off x="8257032" y="5111496"/>
            <a:ext cx="3383280" cy="731520"/>
          </a:xfrm>
          <a:prstGeom prst="roundRect">
            <a:avLst>
              <a:gd name="adj" fmla="val 31250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 wrap="square" lIns="128016" rIns="128016">
            <a:noAutofit/>
          </a:bodyPr>
          <a:lstStyle/>
          <a:p>
            <a:pPr algn="ctr"/>
            <a:r>
              <a:rPr sz="1400" b="1" i="0" lang="ru-RU">
                <a:solidFill>
                  <a:srgbClr val="2B2A5A"/>
                </a:solidFill>
                <a:latin typeface="Arial"/>
                <a:cs typeface="Arial"/>
              </a:rPr>
              <a:t>Держат вес тела. Бедренная кость — самая длинная!</a:t>
            </a:r>
          </a:p>
        </p:txBody>
      </p:sp>
      <p:cxnSp>
        <p:nvCxnSpPr>
          <p:cNvPr id="26" name="leader legs"/>
          <p:cNvCxnSpPr/>
          <p:nvPr/>
        </p:nvCxnSpPr>
        <p:spPr>
          <a:xfrm flipH="1">
            <a:off x="6387313" y="4818888"/>
            <a:ext cx="1869719" cy="210312"/>
          </a:xfrm>
          <a:prstGeom prst="line">
            <a:avLst/>
          </a:prstGeom>
          <a:ln w="38100" cap="rnd">
            <a:solidFill>
              <a:srgbClr val="6C5CE7"/>
            </a:solidFill>
            <a:tailEnd type="oval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7" name="!!next" descr="Следующий зал  »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21727" y="5998464"/>
            <a:ext cx="2664889" cy="768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600" advClick="0">
        <p159:morph option="byObject"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00"/>
                            </p:stCondLst>
                            <p:childTnLst>
                              <p:par>
                                <p:cTn id="9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39" display="0" masterRel="sameClick">
                                          <p:stCondLst>
                                            <p:cond evt="begin" delay="0">
                                              <p:tn val="36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8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51" display="0" masterRel="sameClick">
                                          <p:stCondLst>
                                            <p:cond evt="begin" delay="0">
                                              <p:tn val="48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8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seq concurrent="1" nextAc="seek">
              <p:cTn id="5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63" display="0" masterRel="sameClick">
                                          <p:stCondLst>
                                            <p:cond evt="begin" delay="0">
                                              <p:tn val="60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8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75" display="0" masterRel="sameClick">
                                          <p:stCondLst>
                                            <p:cond evt="begin" delay="0">
                                              <p:tn val="72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8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81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2" fill="hold">
                      <p:stCondLst>
                        <p:cond delay="0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8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87" display="0" masterRel="sameClick">
                                          <p:stCondLst>
                                            <p:cond evt="begin" delay="0">
                                              <p:tn val="84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8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93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4" fill="hold">
                      <p:stCondLst>
                        <p:cond delay="0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9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99" display="0" masterRel="sameClick">
                                          <p:stCondLst>
                                            <p:cond evt="begin" delay="0">
                                              <p:tn val="96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8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0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2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</p:childTnLst>
        </p:cTn>
      </p:par>
    </p:tnLst>
    <p:bldLst>
      <p:bldP spid="10" grpId="0" animBg="1"/>
      <p:bldP spid="13" grpId="0" animBg="1"/>
      <p:bldP spid="16" grpId="0" animBg="1"/>
      <p:bldP spid="19" grpId="0" animBg="1"/>
      <p:bldP spid="22" grpId="0" animBg="1"/>
      <p:bldP spid="2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mint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13A386"/>
                </a:solidFill>
                <a:latin typeface="Arial"/>
                <a:cs typeface="Arial"/>
              </a:rPr>
              <a:t>ЗАЛ 3  ·  ВИРТУАЛЬНАЯ ЭКСКУРСИЯ</a:t>
            </a:r>
          </a:p>
        </p:txBody>
      </p:sp>
      <p:pic>
        <p:nvPicPr>
          <p:cNvPr id="4" name="Title" descr="Суставы — «шарниры» скелет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!!nav museum" descr="МУЗЕЙ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182880"/>
            <a:ext cx="1435608" cy="694944"/>
          </a:xfrm>
          <a:prstGeom prst="rect">
            <a:avLst/>
          </a:prstGeom>
        </p:spPr>
      </p:pic>
      <p:pic>
        <p:nvPicPr>
          <p:cNvPr id="7" name="!!hall3" descr="Деревянная кукла-манекен с подвижными суставами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548640" y="1691640"/>
            <a:ext cx="4343400" cy="4343400"/>
          </a:xfrm>
          <a:prstGeom prst="roundRect">
            <a:avLst>
              <a:gd name="adj" fmla="val 4631"/>
            </a:avLst>
          </a:prstGeom>
          <a:ln w="45720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8" name="joints def"/>
          <p:cNvSpPr/>
          <p:nvPr/>
        </p:nvSpPr>
        <p:spPr>
          <a:xfrm>
            <a:off x="5212080" y="1691640"/>
            <a:ext cx="6428232" cy="1371600"/>
          </a:xfrm>
          <a:prstGeom prst="roundRect">
            <a:avLst>
              <a:gd name="adj" fmla="val 16666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" name="joints def text"/>
          <p:cNvSpPr txBox="1"/>
          <p:nvPr/>
        </p:nvSpPr>
        <p:spPr>
          <a:xfrm>
            <a:off x="5486400" y="1737360"/>
            <a:ext cx="5943600" cy="12801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1" i="0" lang="ru-RU">
                <a:solidFill>
                  <a:srgbClr val="13A386"/>
                </a:solidFill>
                <a:latin typeface="Arial"/>
                <a:cs typeface="Arial"/>
              </a:rPr>
              <a:t>Суставы</a:t>
            </a:r>
            <a:r>
              <a:rPr sz="1700" b="1" i="0" lang="ru-RU">
                <a:solidFill>
                  <a:srgbClr val="2B2A5A"/>
                </a:solidFill>
                <a:latin typeface="Arial"/>
                <a:cs typeface="Arial"/>
              </a:rPr>
              <a:t> — подвижные соединения костей. Благодаря им мы сгибаем руки и ноги, поворачиваем голову.</a:t>
            </a:r>
          </a:p>
        </p:txBody>
      </p:sp>
      <p:pic>
        <p:nvPicPr>
          <p:cNvPr id="10" name="try head" descr="Попробуй сам!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93792" y="3136392"/>
            <a:ext cx="6437376" cy="676656"/>
          </a:xfrm>
          <a:prstGeom prst="rect">
            <a:avLst/>
          </a:prstGeom>
        </p:spPr>
      </p:pic>
      <p:sp>
        <p:nvSpPr>
          <p:cNvPr id="11" name="act 1"/>
          <p:cNvSpPr/>
          <p:nvPr/>
        </p:nvSpPr>
        <p:spPr>
          <a:xfrm>
            <a:off x="5212080" y="3886200"/>
            <a:ext cx="3118104" cy="960120"/>
          </a:xfrm>
          <a:prstGeom prst="roundRect">
            <a:avLst>
              <a:gd name="adj" fmla="val 23809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2" name="act photo 1" descr=""/>
          <p:cNvPicPr>
            <a:picLocks noChangeAspect="1"/>
          </p:cNvPicPr>
          <p:nvPr/>
        </p:nvPicPr>
        <p:blipFill>
          <a:blip r:embed="rId8"/>
          <a:srcRect l="58000" r="27000" t="29500" b="55500"/>
          <a:stretch>
            <a:fillRect/>
          </a:stretch>
        </p:blipFill>
        <p:spPr>
          <a:xfrm>
            <a:off x="5340096" y="3995928"/>
            <a:ext cx="740664" cy="740664"/>
          </a:xfrm>
          <a:prstGeom prst="ellipse">
            <a:avLst/>
          </a:prstGeom>
          <a:ln w="45720">
            <a:solidFill>
              <a:srgbClr val="FFFFFF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13" name="act text 1"/>
          <p:cNvSpPr txBox="1"/>
          <p:nvPr/>
        </p:nvSpPr>
        <p:spPr>
          <a:xfrm>
            <a:off x="6217920" y="388620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1" i="0" lang="ru-RU">
                <a:solidFill>
                  <a:srgbClr val="2B2A5A"/>
                </a:solidFill>
                <a:latin typeface="Arial"/>
                <a:cs typeface="Arial"/>
              </a:rPr>
              <a:t>Согни руку в локте</a:t>
            </a:r>
          </a:p>
        </p:txBody>
      </p:sp>
      <p:sp>
        <p:nvSpPr>
          <p:cNvPr id="14" name="act 2"/>
          <p:cNvSpPr/>
          <p:nvPr/>
        </p:nvSpPr>
        <p:spPr>
          <a:xfrm>
            <a:off x="8522208" y="3886200"/>
            <a:ext cx="3118104" cy="960120"/>
          </a:xfrm>
          <a:prstGeom prst="roundRect">
            <a:avLst>
              <a:gd name="adj" fmla="val 23809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5" name="act photo 2" descr=""/>
          <p:cNvPicPr>
            <a:picLocks noChangeAspect="1"/>
          </p:cNvPicPr>
          <p:nvPr/>
        </p:nvPicPr>
        <p:blipFill>
          <a:blip r:embed="rId8"/>
          <a:srcRect l="67500" r="19500" t="42500" b="44500"/>
          <a:stretch>
            <a:fillRect/>
          </a:stretch>
        </p:blipFill>
        <p:spPr>
          <a:xfrm>
            <a:off x="8650224" y="3995928"/>
            <a:ext cx="740664" cy="740664"/>
          </a:xfrm>
          <a:prstGeom prst="ellipse">
            <a:avLst/>
          </a:prstGeom>
          <a:ln w="45720">
            <a:solidFill>
              <a:srgbClr val="FFFFFF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16" name="act text 2"/>
          <p:cNvSpPr txBox="1"/>
          <p:nvPr/>
        </p:nvSpPr>
        <p:spPr>
          <a:xfrm>
            <a:off x="9528048" y="388620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1" i="0" lang="ru-RU">
                <a:solidFill>
                  <a:srgbClr val="2B2A5A"/>
                </a:solidFill>
                <a:latin typeface="Arial"/>
                <a:cs typeface="Arial"/>
              </a:rPr>
              <a:t>Покрути кистью</a:t>
            </a:r>
          </a:p>
        </p:txBody>
      </p:sp>
      <p:sp>
        <p:nvSpPr>
          <p:cNvPr id="17" name="act 3"/>
          <p:cNvSpPr/>
          <p:nvPr/>
        </p:nvSpPr>
        <p:spPr>
          <a:xfrm>
            <a:off x="5212080" y="4983480"/>
            <a:ext cx="3118104" cy="960120"/>
          </a:xfrm>
          <a:prstGeom prst="roundRect">
            <a:avLst>
              <a:gd name="adj" fmla="val 23809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8" name="act photo 3" descr=""/>
          <p:cNvPicPr>
            <a:picLocks noChangeAspect="1"/>
          </p:cNvPicPr>
          <p:nvPr/>
        </p:nvPicPr>
        <p:blipFill>
          <a:blip r:embed="rId8"/>
          <a:srcRect l="31500" r="53500" t="60500" b="24500"/>
          <a:stretch>
            <a:fillRect/>
          </a:stretch>
        </p:blipFill>
        <p:spPr>
          <a:xfrm>
            <a:off x="5340096" y="5093208"/>
            <a:ext cx="740664" cy="740664"/>
          </a:xfrm>
          <a:prstGeom prst="ellipse">
            <a:avLst/>
          </a:prstGeom>
          <a:ln w="45720">
            <a:solidFill>
              <a:srgbClr val="FFFFFF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19" name="act text 3"/>
          <p:cNvSpPr txBox="1"/>
          <p:nvPr/>
        </p:nvSpPr>
        <p:spPr>
          <a:xfrm>
            <a:off x="6217920" y="498348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1" i="0" lang="ru-RU">
                <a:solidFill>
                  <a:srgbClr val="2B2A5A"/>
                </a:solidFill>
                <a:latin typeface="Arial"/>
                <a:cs typeface="Arial"/>
              </a:rPr>
              <a:t>Присядь и встань</a:t>
            </a:r>
          </a:p>
        </p:txBody>
      </p:sp>
      <p:sp>
        <p:nvSpPr>
          <p:cNvPr id="20" name="act 4"/>
          <p:cNvSpPr/>
          <p:nvPr/>
        </p:nvSpPr>
        <p:spPr>
          <a:xfrm>
            <a:off x="8522208" y="4983480"/>
            <a:ext cx="3118104" cy="960120"/>
          </a:xfrm>
          <a:prstGeom prst="roundRect">
            <a:avLst>
              <a:gd name="adj" fmla="val 23809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1" name="act photo 4" descr=""/>
          <p:cNvPicPr>
            <a:picLocks noChangeAspect="1"/>
          </p:cNvPicPr>
          <p:nvPr/>
        </p:nvPicPr>
        <p:blipFill>
          <a:blip r:embed="rId8"/>
          <a:srcRect l="37500" r="43500" t="10500" b="70500"/>
          <a:stretch>
            <a:fillRect/>
          </a:stretch>
        </p:blipFill>
        <p:spPr>
          <a:xfrm>
            <a:off x="8650224" y="5093208"/>
            <a:ext cx="740664" cy="740664"/>
          </a:xfrm>
          <a:prstGeom prst="ellipse">
            <a:avLst/>
          </a:prstGeom>
          <a:ln w="45720">
            <a:solidFill>
              <a:srgbClr val="FFFFFF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22" name="act text 4"/>
          <p:cNvSpPr txBox="1"/>
          <p:nvPr/>
        </p:nvSpPr>
        <p:spPr>
          <a:xfrm>
            <a:off x="9528048" y="4983480"/>
            <a:ext cx="201168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1" i="0" lang="ru-RU">
                <a:solidFill>
                  <a:srgbClr val="2B2A5A"/>
                </a:solidFill>
                <a:latin typeface="Arial"/>
                <a:cs typeface="Arial"/>
              </a:rPr>
              <a:t>Наклони голову</a:t>
            </a:r>
          </a:p>
        </p:txBody>
      </p:sp>
      <p:pic>
        <p:nvPicPr>
          <p:cNvPr id="23" name="!!next" descr="Следующий зал  »">
            <a:hlinkClick action="ppaction://hlinksldjump" r:id="rId11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1727" y="5998464"/>
            <a:ext cx="2664889" cy="768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25" display="0" masterRel="sameClick">
                                          <p:stCondLst>
                                            <p:cond evt="begin" delay="0">
                                              <p:tn val="20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6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44" display="0" masterRel="sameClick">
                                          <p:stCondLst>
                                            <p:cond evt="begin" delay="0">
                                              <p:tn val="39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5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63" display="0" masterRel="sameClick">
                                          <p:stCondLst>
                                            <p:cond evt="begin" delay="0">
                                              <p:tn val="58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4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82" display="0" masterRel="sameClick">
                                          <p:stCondLst>
                                            <p:cond evt="begin" delay="0">
                                              <p:tn val="77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2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3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2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  <p:bldP spid="20" grpId="0" animBg="1"/>
      <p:bldP spid="22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peach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FF6B6B"/>
                </a:solidFill>
                <a:latin typeface="Arial"/>
                <a:cs typeface="Arial"/>
              </a:rPr>
              <a:t>ЗАЛ 4  ·  ВИРТУАЛЬНАЯ ЭКСКУРСИЯ</a:t>
            </a:r>
          </a:p>
        </p:txBody>
      </p:sp>
      <p:pic>
        <p:nvPicPr>
          <p:cNvPr id="4" name="Title" descr="Мышцы — двигатели тел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!!nav museum" descr="МУЗЕЙ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182880"/>
            <a:ext cx="1435608" cy="694944"/>
          </a:xfrm>
          <a:prstGeom prst="rect">
            <a:avLst/>
          </a:prstGeom>
        </p:spPr>
      </p:pic>
      <p:pic>
        <p:nvPicPr>
          <p:cNvPr id="7" name="!!hall4" descr="Рука: мышцы сгибают и разгибают её в локте"/>
          <p:cNvPicPr>
            <a:picLocks noChangeAspect="1"/>
          </p:cNvPicPr>
          <p:nvPr/>
        </p:nvPicPr>
        <p:blipFill>
          <a:blip r:embed="rId8"/>
          <a:srcRect l="222" r="222"/>
          <a:stretch>
            <a:fillRect/>
          </a:stretch>
        </p:blipFill>
        <p:spPr>
          <a:xfrm>
            <a:off x="548640" y="1691640"/>
            <a:ext cx="5120640" cy="3840480"/>
          </a:xfrm>
          <a:prstGeom prst="roundRect">
            <a:avLst>
              <a:gd name="adj" fmla="val 5238"/>
            </a:avLst>
          </a:prstGeom>
          <a:ln w="45720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8" name="biceps label" descr="сгибает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68957" y="2322576"/>
            <a:ext cx="1572768" cy="676656"/>
          </a:xfrm>
          <a:prstGeom prst="rect">
            <a:avLst/>
          </a:prstGeom>
        </p:spPr>
      </p:pic>
      <p:pic>
        <p:nvPicPr>
          <p:cNvPr id="9" name="triceps label" descr="разгибает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7008" y="4358030"/>
            <a:ext cx="1755648" cy="676656"/>
          </a:xfrm>
          <a:prstGeom prst="rect">
            <a:avLst/>
          </a:prstGeom>
        </p:spPr>
      </p:pic>
      <p:sp>
        <p:nvSpPr>
          <p:cNvPr id="10" name="fact 1"/>
          <p:cNvSpPr/>
          <p:nvPr/>
        </p:nvSpPr>
        <p:spPr>
          <a:xfrm>
            <a:off x="5989320" y="1691640"/>
            <a:ext cx="5650992" cy="877824"/>
          </a:xfrm>
          <a:prstGeom prst="roundRect">
            <a:avLst>
              <a:gd name="adj" fmla="val 26041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1" name="fact lead 1" descr="600+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53912" y="1673352"/>
            <a:ext cx="1499616" cy="914400"/>
          </a:xfrm>
          <a:prstGeom prst="rect">
            <a:avLst/>
          </a:prstGeom>
        </p:spPr>
      </p:pic>
      <p:sp>
        <p:nvSpPr>
          <p:cNvPr id="12" name="fact text 1"/>
          <p:cNvSpPr txBox="1"/>
          <p:nvPr/>
        </p:nvSpPr>
        <p:spPr>
          <a:xfrm>
            <a:off x="7635240" y="1691640"/>
            <a:ext cx="3886200" cy="8778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мышц в теле человека — больше шестисот!</a:t>
            </a:r>
          </a:p>
        </p:txBody>
      </p:sp>
      <p:sp>
        <p:nvSpPr>
          <p:cNvPr id="13" name="fact 2"/>
          <p:cNvSpPr/>
          <p:nvPr/>
        </p:nvSpPr>
        <p:spPr>
          <a:xfrm>
            <a:off x="5989320" y="2697480"/>
            <a:ext cx="5650992" cy="877824"/>
          </a:xfrm>
          <a:prstGeom prst="roundRect">
            <a:avLst>
              <a:gd name="adj" fmla="val 26041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4" name="fact photo 2" descr=""/>
          <p:cNvPicPr>
            <a:picLocks noChangeAspect="1"/>
          </p:cNvPicPr>
          <p:nvPr/>
        </p:nvPicPr>
        <p:blipFill>
          <a:blip r:embed="rId8"/>
          <a:srcRect l="48800" r="28800" t="58000" b="12000"/>
          <a:stretch>
            <a:fillRect/>
          </a:stretch>
        </p:blipFill>
        <p:spPr>
          <a:xfrm>
            <a:off x="6144768" y="2807208"/>
            <a:ext cx="658368" cy="658368"/>
          </a:xfrm>
          <a:prstGeom prst="ellipse">
            <a:avLst/>
          </a:prstGeom>
          <a:ln w="45720">
            <a:solidFill>
              <a:srgbClr val="FFFFFF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15" name="fact text 2"/>
          <p:cNvSpPr txBox="1"/>
          <p:nvPr/>
        </p:nvSpPr>
        <p:spPr>
          <a:xfrm>
            <a:off x="6949440" y="2697480"/>
            <a:ext cx="4572000" cy="8778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Мышцы крепятся к костям сухожилиями. Сокращаясь, они тянут кость — и мы двигаемся.</a:t>
            </a:r>
          </a:p>
        </p:txBody>
      </p:sp>
      <p:sp>
        <p:nvSpPr>
          <p:cNvPr id="16" name="fact 3"/>
          <p:cNvSpPr/>
          <p:nvPr/>
        </p:nvSpPr>
        <p:spPr>
          <a:xfrm>
            <a:off x="5989320" y="3703320"/>
            <a:ext cx="5650992" cy="877824"/>
          </a:xfrm>
          <a:prstGeom prst="roundRect">
            <a:avLst>
              <a:gd name="adj" fmla="val 26041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7" name="fact photo 3" descr=""/>
          <p:cNvPicPr>
            <a:picLocks noChangeAspect="1"/>
          </p:cNvPicPr>
          <p:nvPr/>
        </p:nvPicPr>
        <p:blipFill>
          <a:blip r:embed="rId8"/>
          <a:srcRect l="29320" r="39320" t="29000" b="29000"/>
          <a:stretch>
            <a:fillRect/>
          </a:stretch>
        </p:blipFill>
        <p:spPr>
          <a:xfrm>
            <a:off x="6144768" y="3813048"/>
            <a:ext cx="658368" cy="658368"/>
          </a:xfrm>
          <a:prstGeom prst="ellipse">
            <a:avLst/>
          </a:prstGeom>
          <a:ln w="45720">
            <a:solidFill>
              <a:srgbClr val="FFFFFF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18" name="fact text 3"/>
          <p:cNvSpPr txBox="1"/>
          <p:nvPr/>
        </p:nvSpPr>
        <p:spPr>
          <a:xfrm>
            <a:off x="6949440" y="3703320"/>
            <a:ext cx="4572000" cy="8778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Мышцы работают парами: одна сгибает руку, другая — разгибает.</a:t>
            </a:r>
          </a:p>
        </p:txBody>
      </p:sp>
      <p:sp>
        <p:nvSpPr>
          <p:cNvPr id="19" name="fact 4"/>
          <p:cNvSpPr/>
          <p:nvPr/>
        </p:nvSpPr>
        <p:spPr>
          <a:xfrm>
            <a:off x="5989320" y="4709160"/>
            <a:ext cx="5650992" cy="877824"/>
          </a:xfrm>
          <a:prstGeom prst="roundRect">
            <a:avLst>
              <a:gd name="adj" fmla="val 26041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0" name="fact photo 4" descr=""/>
          <p:cNvPicPr>
            <a:picLocks noChangeAspect="1"/>
          </p:cNvPicPr>
          <p:nvPr/>
        </p:nvPicPr>
        <p:blipFill>
          <a:blip r:embed="rId12"/>
          <a:srcRect l="12500" r="12500" t="7941" b="47941"/>
          <a:stretch>
            <a:fillRect/>
          </a:stretch>
        </p:blipFill>
        <p:spPr>
          <a:xfrm>
            <a:off x="6144768" y="4818888"/>
            <a:ext cx="658368" cy="658368"/>
          </a:xfrm>
          <a:prstGeom prst="ellipse">
            <a:avLst/>
          </a:prstGeom>
          <a:ln w="45720">
            <a:solidFill>
              <a:srgbClr val="FFFFFF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21" name="fact text 4"/>
          <p:cNvSpPr txBox="1"/>
          <p:nvPr/>
        </p:nvSpPr>
        <p:spPr>
          <a:xfrm>
            <a:off x="6949440" y="4709160"/>
            <a:ext cx="4572000" cy="8778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Сердце — тоже мышца! Оно работает без отдыха всю жизнь.</a:t>
            </a:r>
          </a:p>
        </p:txBody>
      </p:sp>
      <p:pic>
        <p:nvPicPr>
          <p:cNvPr id="22" name="!!next" descr="Следующий зал  »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21727" y="5998464"/>
            <a:ext cx="2664889" cy="768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sky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FF9F43"/>
                </a:solidFill>
                <a:latin typeface="Arial"/>
                <a:cs typeface="Arial"/>
              </a:rPr>
              <a:t>ЗАЛ 5  ·  ВИРТУАЛЬНАЯ ЭКСКУРСИЯ</a:t>
            </a:r>
          </a:p>
        </p:txBody>
      </p:sp>
      <p:pic>
        <p:nvPicPr>
          <p:cNvPr id="4" name="Title" descr="Осанка: кто сидит правильно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!!nav museum" descr="МУЗЕЙ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182880"/>
            <a:ext cx="1435608" cy="694944"/>
          </a:xfrm>
          <a:prstGeom prst="rect">
            <a:avLst/>
          </a:prstGeom>
        </p:spPr>
      </p:pic>
      <p:pic>
        <p:nvPicPr>
          <p:cNvPr id="7" name="posture def" descr="Осанка — это привычное положение тела, когда мы сидим, стоим и ходим.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352" y="1463040"/>
            <a:ext cx="11128248" cy="493776"/>
          </a:xfrm>
          <a:prstGeom prst="rect">
            <a:avLst/>
          </a:prstGeom>
        </p:spPr>
      </p:pic>
      <p:pic>
        <p:nvPicPr>
          <p:cNvPr id="8" name="posture bad" descr="Мальчик сидит за партой сгорбившись"/>
          <p:cNvPicPr>
            <a:picLocks noChangeAspect="1"/>
          </p:cNvPicPr>
          <p:nvPr/>
        </p:nvPicPr>
        <p:blipFill>
          <a:blip r:embed="rId9"/>
          <a:srcRect l="4639" r="4639"/>
          <a:stretch>
            <a:fillRect/>
          </a:stretch>
        </p:blipFill>
        <p:spPr>
          <a:xfrm>
            <a:off x="2880360" y="2103120"/>
            <a:ext cx="3611880" cy="3611880"/>
          </a:xfrm>
          <a:prstGeom prst="roundRect">
            <a:avLst>
              <a:gd name="adj" fmla="val 5569"/>
            </a:avLst>
          </a:prstGeom>
          <a:ln w="45720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9" name="letter 1" descr="А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05456" y="1755648"/>
            <a:ext cx="896112" cy="896112"/>
          </a:xfrm>
          <a:prstGeom prst="rect">
            <a:avLst/>
          </a:prstGeom>
        </p:spPr>
      </p:pic>
      <p:pic>
        <p:nvPicPr>
          <p:cNvPr id="10" name="!!hall5" descr="Мальчик сидит за партой с прямой спиной"/>
          <p:cNvPicPr>
            <a:picLocks noChangeAspect="1"/>
          </p:cNvPicPr>
          <p:nvPr/>
        </p:nvPicPr>
        <p:blipFill>
          <a:blip r:embed="rId11"/>
          <a:srcRect l="4639" r="4639"/>
          <a:stretch>
            <a:fillRect/>
          </a:stretch>
        </p:blipFill>
        <p:spPr>
          <a:xfrm>
            <a:off x="7269480" y="2103120"/>
            <a:ext cx="3611880" cy="3611880"/>
          </a:xfrm>
          <a:prstGeom prst="roundRect">
            <a:avLst>
              <a:gd name="adj" fmla="val 5569"/>
            </a:avLst>
          </a:prstGeom>
          <a:ln w="45720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11" name="letter 2" descr="Б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94576" y="1755648"/>
            <a:ext cx="896112" cy="896112"/>
          </a:xfrm>
          <a:prstGeom prst="rect">
            <a:avLst/>
          </a:prstGeom>
        </p:spPr>
      </p:pic>
      <p:pic>
        <p:nvPicPr>
          <p:cNvPr id="12" name="!!mascot" descr="Костик — весёлый скелетик-экскурсовод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504" y="4023360"/>
            <a:ext cx="1063631" cy="2651760"/>
          </a:xfrm>
          <a:prstGeom prst="rect">
            <a:avLst/>
          </a:prstGeom>
        </p:spPr>
      </p:pic>
      <p:sp>
        <p:nvSpPr>
          <p:cNvPr id="13" name="frame posture_bad"/>
          <p:cNvSpPr/>
          <p:nvPr/>
        </p:nvSpPr>
        <p:spPr>
          <a:xfrm>
            <a:off x="2816352" y="2039112"/>
            <a:ext cx="3739896" cy="3739896"/>
          </a:xfrm>
          <a:prstGeom prst="roundRect">
            <a:avLst>
              <a:gd name="adj" fmla="val 6845"/>
            </a:avLst>
          </a:prstGeom>
          <a:noFill/>
          <a:ln w="91440">
            <a:solidFill>
              <a:srgbClr val="F0505A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badge posture_bad" descr="Неправильно! Спина согнута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48572" y="5221224"/>
            <a:ext cx="3875457" cy="841248"/>
          </a:xfrm>
          <a:prstGeom prst="rect">
            <a:avLst/>
          </a:prstGeom>
        </p:spPr>
      </p:pic>
      <p:sp>
        <p:nvSpPr>
          <p:cNvPr id="15" name="click posture_bad"/>
          <p:cNvSpPr/>
          <p:nvPr/>
        </p:nvSpPr>
        <p:spPr>
          <a:xfrm>
            <a:off x="2880360" y="2103120"/>
            <a:ext cx="3611880" cy="361188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frame posture_good"/>
          <p:cNvSpPr/>
          <p:nvPr/>
        </p:nvSpPr>
        <p:spPr>
          <a:xfrm>
            <a:off x="7205472" y="2039112"/>
            <a:ext cx="3739896" cy="3739896"/>
          </a:xfrm>
          <a:prstGeom prst="roundRect">
            <a:avLst>
              <a:gd name="adj" fmla="val 6845"/>
            </a:avLst>
          </a:prstGeom>
          <a:noFill/>
          <a:ln w="91440">
            <a:solidFill>
              <a:srgbClr val="22B573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badge posture_good" descr="Правильно! Спина прямая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281817" y="5221224"/>
            <a:ext cx="3587206" cy="841248"/>
          </a:xfrm>
          <a:prstGeom prst="rect">
            <a:avLst/>
          </a:prstGeom>
        </p:spPr>
      </p:pic>
      <p:sp>
        <p:nvSpPr>
          <p:cNvPr id="18" name="click posture_good"/>
          <p:cNvSpPr/>
          <p:nvPr/>
        </p:nvSpPr>
        <p:spPr>
          <a:xfrm>
            <a:off x="7269480" y="2103120"/>
            <a:ext cx="3611880" cy="361188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!!next" descr="Правила осанки  »">
            <a:hlinkClick action="ppaction://hlinksldjump" r:id="rId17"/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12262" y="5998464"/>
            <a:ext cx="2674354" cy="768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600" advClick="0">
        <p159:morph option="byObject"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950"/>
                            </p:stCondLst>
                            <p:childTnLst>
                              <p:par>
                                <p:cTn id="19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29" display="0" masterRel="sameClick">
                                          <p:stCondLst>
                                            <p:cond evt="begin" delay="0">
                                              <p:tn val="26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8" name="wrong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600"/>
                            </p:stCondLst>
                            <p:childTnLst>
                              <p:par>
                                <p:cTn id="36" presetID="32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37" dur="1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38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480000">
                                      <p:cBhvr>
                                        <p:cTn id="39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40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41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42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3" fill="hold">
                      <p:stCondLst>
                        <p:cond delay="0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50" display="0" masterRel="sameClick">
                                          <p:stCondLst>
                                            <p:cond evt="begin" delay="0">
                                              <p:tn val="4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9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1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24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700"/>
                            </p:stCondLst>
                            <p:childTnLst>
                              <p:par>
                                <p:cTn id="57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8" dur="30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mint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FF9F43"/>
                </a:solidFill>
                <a:latin typeface="Arial"/>
                <a:cs typeface="Arial"/>
              </a:rPr>
              <a:t>ЗАЛ 5  ·  ВИРТУАЛЬНАЯ ЭКСКУРСИЯ</a:t>
            </a:r>
          </a:p>
        </p:txBody>
      </p:sp>
      <p:pic>
        <p:nvPicPr>
          <p:cNvPr id="4" name="Title" descr="Как сохранить правильную осанку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!!nav museum" descr="МУЗЕЙ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182880"/>
            <a:ext cx="1435608" cy="694944"/>
          </a:xfrm>
          <a:prstGeom prst="rect">
            <a:avLst/>
          </a:prstGeom>
        </p:spPr>
      </p:pic>
      <p:pic>
        <p:nvPicPr>
          <p:cNvPr id="7" name="!!mascot" descr="Костик — весёлый скелетик-экскурсовод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1408" y="1874520"/>
            <a:ext cx="2869104" cy="4754880"/>
          </a:xfrm>
          <a:prstGeom prst="rect">
            <a:avLst/>
          </a:prstGeom>
        </p:spPr>
      </p:pic>
      <p:sp>
        <p:nvSpPr>
          <p:cNvPr id="8" name="rule 1"/>
          <p:cNvSpPr/>
          <p:nvPr/>
        </p:nvSpPr>
        <p:spPr>
          <a:xfrm>
            <a:off x="3977640" y="1691640"/>
            <a:ext cx="3739896" cy="2057400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9" name="rule num 1" descr="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33672" y="1783080"/>
            <a:ext cx="950976" cy="950976"/>
          </a:xfrm>
          <a:prstGeom prst="rect">
            <a:avLst/>
          </a:prstGeom>
        </p:spPr>
      </p:pic>
      <p:pic>
        <p:nvPicPr>
          <p:cNvPr id="10" name="rule word 1" descr="правило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56632" y="2020824"/>
            <a:ext cx="2505456" cy="493776"/>
          </a:xfrm>
          <a:prstGeom prst="rect">
            <a:avLst/>
          </a:prstGeom>
        </p:spPr>
      </p:pic>
      <p:sp>
        <p:nvSpPr>
          <p:cNvPr id="11" name="rule text 1"/>
          <p:cNvSpPr txBox="1"/>
          <p:nvPr/>
        </p:nvSpPr>
        <p:spPr>
          <a:xfrm>
            <a:off x="4251960" y="2743200"/>
            <a:ext cx="324612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 lang="ru-RU">
                <a:solidFill>
                  <a:srgbClr val="2B2A5A"/>
                </a:solidFill>
                <a:latin typeface="Arial"/>
                <a:cs typeface="Arial"/>
              </a:rPr>
              <a:t>Сиди прямо: спина касается спинки стула, ноги стоят на полу</a:t>
            </a:r>
          </a:p>
        </p:txBody>
      </p:sp>
      <p:sp>
        <p:nvSpPr>
          <p:cNvPr id="12" name="rule 2"/>
          <p:cNvSpPr/>
          <p:nvPr/>
        </p:nvSpPr>
        <p:spPr>
          <a:xfrm>
            <a:off x="7900416" y="1691640"/>
            <a:ext cx="3739896" cy="2057400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3" name="rule num 2" descr="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56448" y="1783080"/>
            <a:ext cx="950976" cy="950976"/>
          </a:xfrm>
          <a:prstGeom prst="rect">
            <a:avLst/>
          </a:prstGeom>
        </p:spPr>
      </p:pic>
      <p:pic>
        <p:nvPicPr>
          <p:cNvPr id="14" name="rule word 2" descr="правило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79408" y="2020824"/>
            <a:ext cx="2505456" cy="493776"/>
          </a:xfrm>
          <a:prstGeom prst="rect">
            <a:avLst/>
          </a:prstGeom>
        </p:spPr>
      </p:pic>
      <p:sp>
        <p:nvSpPr>
          <p:cNvPr id="15" name="rule text 2"/>
          <p:cNvSpPr txBox="1"/>
          <p:nvPr/>
        </p:nvSpPr>
        <p:spPr>
          <a:xfrm>
            <a:off x="8174736" y="2743200"/>
            <a:ext cx="324612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 lang="ru-RU">
                <a:solidFill>
                  <a:srgbClr val="2B2A5A"/>
                </a:solidFill>
                <a:latin typeface="Arial"/>
                <a:cs typeface="Arial"/>
              </a:rPr>
              <a:t>Носи рюкзак на двух плечах, а не в одной руке</a:t>
            </a:r>
          </a:p>
        </p:txBody>
      </p:sp>
      <p:sp>
        <p:nvSpPr>
          <p:cNvPr id="16" name="rule 3"/>
          <p:cNvSpPr/>
          <p:nvPr/>
        </p:nvSpPr>
        <p:spPr>
          <a:xfrm>
            <a:off x="3977640" y="3931920"/>
            <a:ext cx="3739896" cy="2057400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7" name="rule num 3" descr="3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33672" y="4023360"/>
            <a:ext cx="950976" cy="950976"/>
          </a:xfrm>
          <a:prstGeom prst="rect">
            <a:avLst/>
          </a:prstGeom>
        </p:spPr>
      </p:pic>
      <p:pic>
        <p:nvPicPr>
          <p:cNvPr id="18" name="rule word 3" descr="правило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56632" y="4261104"/>
            <a:ext cx="2505456" cy="493776"/>
          </a:xfrm>
          <a:prstGeom prst="rect">
            <a:avLst/>
          </a:prstGeom>
        </p:spPr>
      </p:pic>
      <p:sp>
        <p:nvSpPr>
          <p:cNvPr id="19" name="rule text 3"/>
          <p:cNvSpPr txBox="1"/>
          <p:nvPr/>
        </p:nvSpPr>
        <p:spPr>
          <a:xfrm>
            <a:off x="4251960" y="4983480"/>
            <a:ext cx="324612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 lang="ru-RU">
                <a:solidFill>
                  <a:srgbClr val="2B2A5A"/>
                </a:solidFill>
                <a:latin typeface="Arial"/>
                <a:cs typeface="Arial"/>
              </a:rPr>
              <a:t>Спи на ровной постели с невысокой подушкой</a:t>
            </a:r>
          </a:p>
        </p:txBody>
      </p:sp>
      <p:sp>
        <p:nvSpPr>
          <p:cNvPr id="20" name="rule 4"/>
          <p:cNvSpPr/>
          <p:nvPr/>
        </p:nvSpPr>
        <p:spPr>
          <a:xfrm>
            <a:off x="7900416" y="3931920"/>
            <a:ext cx="3739896" cy="2057400"/>
          </a:xfrm>
          <a:prstGeom prst="roundRect">
            <a:avLst>
              <a:gd name="adj" fmla="val 11111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1" name="rule num 4" descr="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56448" y="4023360"/>
            <a:ext cx="950976" cy="950976"/>
          </a:xfrm>
          <a:prstGeom prst="rect">
            <a:avLst/>
          </a:prstGeom>
        </p:spPr>
      </p:pic>
      <p:pic>
        <p:nvPicPr>
          <p:cNvPr id="22" name="rule word 4" descr="правило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79408" y="4261104"/>
            <a:ext cx="2505456" cy="493776"/>
          </a:xfrm>
          <a:prstGeom prst="rect">
            <a:avLst/>
          </a:prstGeom>
        </p:spPr>
      </p:pic>
      <p:sp>
        <p:nvSpPr>
          <p:cNvPr id="23" name="rule text 4"/>
          <p:cNvSpPr txBox="1"/>
          <p:nvPr/>
        </p:nvSpPr>
        <p:spPr>
          <a:xfrm>
            <a:off x="8174736" y="4983480"/>
            <a:ext cx="324612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 lang="ru-RU">
                <a:solidFill>
                  <a:srgbClr val="2B2A5A"/>
                </a:solidFill>
                <a:latin typeface="Arial"/>
                <a:cs typeface="Arial"/>
              </a:rPr>
              <a:t>Каждый день делай зарядку и больше двигайся</a:t>
            </a:r>
          </a:p>
        </p:txBody>
      </p:sp>
      <p:pic>
        <p:nvPicPr>
          <p:cNvPr id="24" name="!!next" descr="Следующий зал  »">
            <a:hlinkClick action="ppaction://hlinksldjump" r:id="rId18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21727" y="5998464"/>
            <a:ext cx="2664889" cy="768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3"/>
                                          </p:val>
                                        </p:tav>
                                        <p:tav tm="45000">
                                          <p:val>
                                            <p:strVal val="#ppt_y"/>
                                          </p:val>
                                        </p:tav>
                                        <p:tav tm="62000">
                                          <p:val>
                                            <p:strVal val="#ppt_y-0.06"/>
                                          </p:val>
                                        </p:tav>
                                        <p:tav tm="78000">
                                          <p:val>
                                            <p:strVal val="#ppt_y"/>
                                          </p:val>
                                        </p:tav>
                                        <p:tav tm="90000">
                                          <p:val>
                                            <p:strVal val="#ppt_y-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17" display="0" masterRel="sameClick">
                                          <p:stCondLst>
                                            <p:cond evt="begin" delay="0">
                                              <p:tn val="12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9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36"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9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55" display="0" masterRel="sameClick">
                                          <p:stCondLst>
                                            <p:cond evt="begin" delay="0">
                                              <p:tn val="50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9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74" display="0" masterRel="sameClick">
                                          <p:stCondLst>
                                            <p:cond evt="begin" delay="0">
                                              <p:tn val="69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9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2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2" grpId="0" animBg="1"/>
      <p:bldP spid="15" grpId="0" animBg="1"/>
      <p:bldP spid="16" grpId="0" animBg="1"/>
      <p:bldP spid="19" grpId="0" animBg="1"/>
      <p:bldP spid="20" grpId="0" animBg="1"/>
      <p:bldP spid="23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sun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E39B00"/>
                </a:solidFill>
                <a:latin typeface="Arial"/>
                <a:cs typeface="Arial"/>
              </a:rPr>
              <a:t>ЗАЛ 6  ·  ВИРТУАЛЬНАЯ ЭКСКУРСИЯ</a:t>
            </a:r>
          </a:p>
        </p:txBody>
      </p:sp>
      <p:pic>
        <p:nvPicPr>
          <p:cNvPr id="4" name="Title" descr="Музей рекордов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!!nav museum" descr="МУЗЕЙ">
            <a:hlinkClick action="ppaction://hlinksldjump"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1976" y="182880"/>
            <a:ext cx="1435608" cy="694944"/>
          </a:xfrm>
          <a:prstGeom prst="rect">
            <a:avLst/>
          </a:prstGeom>
        </p:spPr>
      </p:pic>
      <p:pic>
        <p:nvPicPr>
          <p:cNvPr id="7" name="!!hall6" descr="Лупа над крошечной косточкой и длинная бедренная кость"/>
          <p:cNvPicPr>
            <a:picLocks noChangeAspect="1"/>
          </p:cNvPicPr>
          <p:nvPr/>
        </p:nvPicPr>
        <p:blipFill>
          <a:blip r:embed="rId8"/>
          <a:srcRect l="4639" r="4639"/>
          <a:stretch>
            <a:fillRect/>
          </a:stretch>
        </p:blipFill>
        <p:spPr>
          <a:xfrm>
            <a:off x="548640" y="1691640"/>
            <a:ext cx="4251960" cy="4251960"/>
          </a:xfrm>
          <a:prstGeom prst="roundRect">
            <a:avLst>
              <a:gd name="adj" fmla="val 4731"/>
            </a:avLst>
          </a:prstGeom>
          <a:ln w="45720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8" name="record 1"/>
          <p:cNvSpPr/>
          <p:nvPr/>
        </p:nvSpPr>
        <p:spPr>
          <a:xfrm>
            <a:off x="5120640" y="1691640"/>
            <a:ext cx="3191256" cy="2011680"/>
          </a:xfrm>
          <a:prstGeom prst="roundRect">
            <a:avLst>
              <a:gd name="adj" fmla="val 11363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9" name="record num 1" descr="20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93792" y="1856232"/>
            <a:ext cx="3044952" cy="859536"/>
          </a:xfrm>
          <a:prstGeom prst="rect">
            <a:avLst/>
          </a:prstGeom>
        </p:spPr>
      </p:pic>
      <p:sp>
        <p:nvSpPr>
          <p:cNvPr id="10" name="record text 1"/>
          <p:cNvSpPr txBox="1"/>
          <p:nvPr/>
        </p:nvSpPr>
        <p:spPr>
          <a:xfrm>
            <a:off x="5349240" y="2743200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костей в скелете взрослого человека</a:t>
            </a:r>
          </a:p>
        </p:txBody>
      </p:sp>
      <p:sp>
        <p:nvSpPr>
          <p:cNvPr id="11" name="record 2"/>
          <p:cNvSpPr/>
          <p:nvPr/>
        </p:nvSpPr>
        <p:spPr>
          <a:xfrm>
            <a:off x="8449056" y="1691640"/>
            <a:ext cx="3191256" cy="2011680"/>
          </a:xfrm>
          <a:prstGeom prst="roundRect">
            <a:avLst>
              <a:gd name="adj" fmla="val 11363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2" name="record num 2" descr="600+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22208" y="1856232"/>
            <a:ext cx="3044952" cy="859536"/>
          </a:xfrm>
          <a:prstGeom prst="rect">
            <a:avLst/>
          </a:prstGeom>
        </p:spPr>
      </p:pic>
      <p:sp>
        <p:nvSpPr>
          <p:cNvPr id="13" name="record text 2"/>
          <p:cNvSpPr txBox="1"/>
          <p:nvPr/>
        </p:nvSpPr>
        <p:spPr>
          <a:xfrm>
            <a:off x="8677656" y="2743200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мышц помогают нам двигаться</a:t>
            </a:r>
          </a:p>
        </p:txBody>
      </p:sp>
      <p:sp>
        <p:nvSpPr>
          <p:cNvPr id="14" name="record 3"/>
          <p:cNvSpPr/>
          <p:nvPr/>
        </p:nvSpPr>
        <p:spPr>
          <a:xfrm>
            <a:off x="5120640" y="3931920"/>
            <a:ext cx="3191256" cy="2011680"/>
          </a:xfrm>
          <a:prstGeom prst="roundRect">
            <a:avLst>
              <a:gd name="adj" fmla="val 11363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5" name="record num 3" descr="3 мм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93792" y="4096512"/>
            <a:ext cx="3044952" cy="859536"/>
          </a:xfrm>
          <a:prstGeom prst="rect">
            <a:avLst/>
          </a:prstGeom>
        </p:spPr>
      </p:pic>
      <p:sp>
        <p:nvSpPr>
          <p:cNvPr id="16" name="record text 3"/>
          <p:cNvSpPr txBox="1"/>
          <p:nvPr/>
        </p:nvSpPr>
        <p:spPr>
          <a:xfrm>
            <a:off x="5349240" y="4983480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длина стремечка — самой маленькой косточки (она в ухе)</a:t>
            </a:r>
          </a:p>
        </p:txBody>
      </p:sp>
      <p:sp>
        <p:nvSpPr>
          <p:cNvPr id="17" name="record 4"/>
          <p:cNvSpPr/>
          <p:nvPr/>
        </p:nvSpPr>
        <p:spPr>
          <a:xfrm>
            <a:off x="8449056" y="3931920"/>
            <a:ext cx="3191256" cy="2011680"/>
          </a:xfrm>
          <a:prstGeom prst="roundRect">
            <a:avLst>
              <a:gd name="adj" fmla="val 11363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8" name="record num 4" descr="106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22208" y="4096512"/>
            <a:ext cx="3044952" cy="859536"/>
          </a:xfrm>
          <a:prstGeom prst="rect">
            <a:avLst/>
          </a:prstGeom>
        </p:spPr>
      </p:pic>
      <p:sp>
        <p:nvSpPr>
          <p:cNvPr id="19" name="record text 4"/>
          <p:cNvSpPr txBox="1"/>
          <p:nvPr/>
        </p:nvSpPr>
        <p:spPr>
          <a:xfrm>
            <a:off x="8677656" y="4983480"/>
            <a:ext cx="274320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костей в кистях и стопах — больше половины всех!</a:t>
            </a:r>
          </a:p>
        </p:txBody>
      </p:sp>
      <p:pic>
        <p:nvPicPr>
          <p:cNvPr id="20" name="!!next" descr="Выйти из музея  »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01856" y="5998464"/>
            <a:ext cx="2584760" cy="768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id="9"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5" name="fli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id="24" display="0" masterRel="sameClick">
                                          <p:stCondLst>
                                            <p:cond evt="begin" delay="0">
                                              <p:tn val="20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5" name="fli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6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4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id="39" display="0" masterRel="sameClick">
                                          <p:stCondLst>
                                            <p:cond evt="begin" delay="0">
                                              <p:tn val="3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5" name="fli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24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7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id="54" display="0" masterRel="sameClick">
                                          <p:stCondLst>
                                            <p:cond evt="begin" delay="0">
                                              <p:tn val="50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5" name="fli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24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  <p:bldP spid="17" grpId="0" animBg="1"/>
      <p:bldP spid="19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mint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13846F"/>
                </a:solidFill>
                <a:latin typeface="Arial"/>
                <a:cs typeface="Arial"/>
              </a:rPr>
              <a:t>ФИЗМИНУТКА</a:t>
            </a:r>
          </a:p>
        </p:txBody>
      </p:sp>
      <p:pic>
        <p:nvPicPr>
          <p:cNvPr id="4" name="Title" descr="Разминаем косточки и мышцы!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fizminutka video" descr="Видео-физминутка: учительница показывает упражнения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48640" y="1691640"/>
            <a:ext cx="7589520" cy="4336869"/>
          </a:xfrm>
          <a:prstGeom prst="roundRect">
            <a:avLst/>
          </a:prstGeom>
          <a:ln w="45720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7" name="video tip" descr="Видео играет само и повторяется. Нажми на видео — пауза.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0352" y="6101661"/>
            <a:ext cx="7626096" cy="493776"/>
          </a:xfrm>
          <a:prstGeom prst="rect">
            <a:avLst/>
          </a:prstGeom>
        </p:spPr>
      </p:pic>
      <p:sp>
        <p:nvSpPr>
          <p:cNvPr id="8" name="moves card"/>
          <p:cNvSpPr/>
          <p:nvPr/>
        </p:nvSpPr>
        <p:spPr>
          <a:xfrm>
            <a:off x="8458200" y="1691640"/>
            <a:ext cx="3182112" cy="2697480"/>
          </a:xfrm>
          <a:prstGeom prst="roundRect">
            <a:avLst>
              <a:gd name="adj" fmla="val 8474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9" name="moves head" descr="Повторяй за мной!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68512" y="1810512"/>
            <a:ext cx="2779776" cy="585216"/>
          </a:xfrm>
          <a:prstGeom prst="rect">
            <a:avLst/>
          </a:prstGeom>
        </p:spPr>
      </p:pic>
      <p:sp>
        <p:nvSpPr>
          <p:cNvPr id="10" name="moves list"/>
          <p:cNvSpPr txBox="1"/>
          <p:nvPr/>
        </p:nvSpPr>
        <p:spPr>
          <a:xfrm>
            <a:off x="8686800" y="2423160"/>
            <a:ext cx="2788920" cy="1920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600" b="1" i="0" lang="ru-RU">
                <a:solidFill>
                  <a:srgbClr val="2B2A5A"/>
                </a:solidFill>
                <a:latin typeface="Arial"/>
                <a:cs typeface="Arial"/>
              </a:rPr>
              <a:t>Руки в стороны</a:t>
            </a:r>
          </a:p>
          <a:p>
            <a:pPr algn="l">
              <a:spcBef>
                <a:spcPts val="500"/>
              </a:spcBef>
            </a:pPr>
            <a:r>
              <a:rPr sz="1600" b="1" i="0" lang="ru-RU">
                <a:solidFill>
                  <a:srgbClr val="2B2A5A"/>
                </a:solidFill>
                <a:latin typeface="Arial"/>
                <a:cs typeface="Arial"/>
              </a:rPr>
              <a:t>Наклоны вправо и влево</a:t>
            </a:r>
          </a:p>
          <a:p>
            <a:pPr algn="l">
              <a:spcBef>
                <a:spcPts val="500"/>
              </a:spcBef>
            </a:pPr>
            <a:r>
              <a:rPr sz="1600" b="1" i="0" lang="ru-RU">
                <a:solidFill>
                  <a:srgbClr val="2B2A5A"/>
                </a:solidFill>
                <a:latin typeface="Arial"/>
                <a:cs typeface="Arial"/>
              </a:rPr>
              <a:t>Руки вверх — потянулись!</a:t>
            </a:r>
          </a:p>
          <a:p>
            <a:pPr algn="l">
              <a:spcBef>
                <a:spcPts val="500"/>
              </a:spcBef>
            </a:pPr>
            <a:r>
              <a:rPr sz="1600" b="1" i="0" lang="ru-RU">
                <a:solidFill>
                  <a:srgbClr val="2B2A5A"/>
                </a:solidFill>
                <a:latin typeface="Arial"/>
                <a:cs typeface="Arial"/>
              </a:rPr>
              <a:t>Присели — встали</a:t>
            </a:r>
          </a:p>
        </p:txBody>
      </p:sp>
      <p:pic>
        <p:nvPicPr>
          <p:cNvPr id="11" name="!!mascot" descr="Костик — весёлый скелетик-экскурсовод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86047" y="4389120"/>
            <a:ext cx="1344706" cy="2286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ferris dir="l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14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video>
              <p:cMediaNode vol="80000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lilac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6C5CE7"/>
                </a:solidFill>
                <a:latin typeface="Arial"/>
                <a:cs typeface="Arial"/>
              </a:rPr>
              <a:t>ИНТЕРАКТИВНЫЕ ИГРЫ</a:t>
            </a:r>
          </a:p>
        </p:txBody>
      </p:sp>
      <p:pic>
        <p:nvPicPr>
          <p:cNvPr id="4" name="Title" descr="Проверь себя!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!!mascot" descr="Костик — весёлый скелетик-экскурсовод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418" y="1965960"/>
            <a:ext cx="1870524" cy="4663440"/>
          </a:xfrm>
          <a:prstGeom prst="rect">
            <a:avLst/>
          </a:prstGeom>
        </p:spPr>
      </p:pic>
      <p:sp>
        <p:nvSpPr>
          <p:cNvPr id="7" name="game 1"/>
          <p:cNvSpPr/>
          <p:nvPr/>
        </p:nvSpPr>
        <p:spPr>
          <a:xfrm>
            <a:off x="4023360" y="1737360"/>
            <a:ext cx="7616952" cy="1298448"/>
          </a:xfrm>
          <a:prstGeom prst="roundRect">
            <a:avLst>
              <a:gd name="adj" fmla="val 17605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8" name="game photo 1" descr=""/>
          <p:cNvPicPr>
            <a:picLocks noChangeAspect="1"/>
          </p:cNvPicPr>
          <p:nvPr/>
        </p:nvPicPr>
        <p:blipFill>
          <a:blip r:embed="rId7"/>
          <a:srcRect l="5051" r="45051" t="17500" b="27500"/>
          <a:stretch>
            <a:fillRect/>
          </a:stretch>
        </p:blipFill>
        <p:spPr>
          <a:xfrm>
            <a:off x="4187952" y="1883664"/>
            <a:ext cx="1005840" cy="1005840"/>
          </a:xfrm>
          <a:prstGeom prst="ellipse">
            <a:avLst/>
          </a:prstGeom>
          <a:ln w="45720">
            <a:solidFill>
              <a:srgbClr val="FFFFFF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9" name="game title 1" descr="Викторина «Знаток скелета»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76672" y="1901952"/>
            <a:ext cx="4608576" cy="539496"/>
          </a:xfrm>
          <a:prstGeom prst="rect">
            <a:avLst/>
          </a:prstGeom>
        </p:spPr>
      </p:pic>
      <p:sp>
        <p:nvSpPr>
          <p:cNvPr id="10" name="game sub 1"/>
          <p:cNvSpPr txBox="1"/>
          <p:nvPr/>
        </p:nvSpPr>
        <p:spPr>
          <a:xfrm>
            <a:off x="5394960" y="246888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 lang="ru-RU">
                <a:solidFill>
                  <a:srgbClr val="6B6A8E"/>
                </a:solidFill>
                <a:latin typeface="Arial"/>
                <a:cs typeface="Arial"/>
              </a:rPr>
              <a:t>5 вопросов — выбери верный ответ</a:t>
            </a:r>
          </a:p>
        </p:txBody>
      </p:sp>
      <p:pic>
        <p:nvPicPr>
          <p:cNvPr id="11" name="game go 1" descr="ИГРАТЬ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03536" y="1984248"/>
            <a:ext cx="1572768" cy="804672"/>
          </a:xfrm>
          <a:prstGeom prst="rect">
            <a:avLst/>
          </a:prstGeom>
        </p:spPr>
      </p:pic>
      <p:sp>
        <p:nvSpPr>
          <p:cNvPr id="12" name="game link 1">
            <a:hlinkClick action="ppaction://hlinksldjump" r:id="rId10"/>
          </p:cNvPr>
          <p:cNvSpPr/>
          <p:nvPr/>
        </p:nvSpPr>
        <p:spPr>
          <a:xfrm>
            <a:off x="4023360" y="1737360"/>
            <a:ext cx="7616952" cy="129844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game 2"/>
          <p:cNvSpPr/>
          <p:nvPr/>
        </p:nvSpPr>
        <p:spPr>
          <a:xfrm>
            <a:off x="4023360" y="3218688"/>
            <a:ext cx="7616952" cy="1298448"/>
          </a:xfrm>
          <a:prstGeom prst="roundRect">
            <a:avLst>
              <a:gd name="adj" fmla="val 17605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4" name="game photo 2" descr=""/>
          <p:cNvPicPr>
            <a:picLocks noChangeAspect="1"/>
          </p:cNvPicPr>
          <p:nvPr/>
        </p:nvPicPr>
        <p:blipFill>
          <a:blip r:embed="rId11"/>
          <a:srcRect l="29000" r="29000" t="13320" b="55320"/>
          <a:stretch>
            <a:fillRect/>
          </a:stretch>
        </p:blipFill>
        <p:spPr>
          <a:xfrm>
            <a:off x="4187952" y="3364992"/>
            <a:ext cx="1005840" cy="1005840"/>
          </a:xfrm>
          <a:prstGeom prst="ellipse">
            <a:avLst/>
          </a:prstGeom>
          <a:ln w="45720">
            <a:solidFill>
              <a:srgbClr val="FFFFFF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15" name="game title 2" descr="Игра «Кто кого защищает?»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76672" y="3383280"/>
            <a:ext cx="4608576" cy="539496"/>
          </a:xfrm>
          <a:prstGeom prst="rect">
            <a:avLst/>
          </a:prstGeom>
        </p:spPr>
      </p:pic>
      <p:sp>
        <p:nvSpPr>
          <p:cNvPr id="16" name="game sub 2"/>
          <p:cNvSpPr txBox="1"/>
          <p:nvPr/>
        </p:nvSpPr>
        <p:spPr>
          <a:xfrm>
            <a:off x="5394960" y="395020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 lang="ru-RU">
                <a:solidFill>
                  <a:srgbClr val="6B6A8E"/>
                </a:solidFill>
                <a:latin typeface="Arial"/>
                <a:cs typeface="Arial"/>
              </a:rPr>
              <a:t>Соедини кость и орган, который она бережёт</a:t>
            </a:r>
          </a:p>
        </p:txBody>
      </p:sp>
      <p:pic>
        <p:nvPicPr>
          <p:cNvPr id="17" name="game go 2" descr="ИГРАТЬ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03536" y="3465576"/>
            <a:ext cx="1572768" cy="804672"/>
          </a:xfrm>
          <a:prstGeom prst="rect">
            <a:avLst/>
          </a:prstGeom>
        </p:spPr>
      </p:pic>
      <p:sp>
        <p:nvSpPr>
          <p:cNvPr id="18" name="game link 2">
            <a:hlinkClick action="ppaction://hlinksldjump" r:id="rId14"/>
          </p:cNvPr>
          <p:cNvSpPr/>
          <p:nvPr/>
        </p:nvSpPr>
        <p:spPr>
          <a:xfrm>
            <a:off x="4023360" y="3218688"/>
            <a:ext cx="7616952" cy="129844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game 3"/>
          <p:cNvSpPr/>
          <p:nvPr/>
        </p:nvSpPr>
        <p:spPr>
          <a:xfrm>
            <a:off x="4023360" y="4700016"/>
            <a:ext cx="7616952" cy="1298448"/>
          </a:xfrm>
          <a:prstGeom prst="roundRect">
            <a:avLst>
              <a:gd name="adj" fmla="val 17605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0" name="game photo 3" descr=""/>
          <p:cNvPicPr>
            <a:picLocks noChangeAspect="1"/>
          </p:cNvPicPr>
          <p:nvPr/>
        </p:nvPicPr>
        <p:blipFill>
          <a:blip r:embed="rId15"/>
          <a:srcRect l="22932" r="22932" b="10000"/>
          <a:stretch>
            <a:fillRect/>
          </a:stretch>
        </p:blipFill>
        <p:spPr>
          <a:xfrm>
            <a:off x="4187952" y="4846320"/>
            <a:ext cx="1005840" cy="1005840"/>
          </a:xfrm>
          <a:prstGeom prst="ellipse">
            <a:avLst/>
          </a:prstGeom>
          <a:ln w="45720">
            <a:solidFill>
              <a:srgbClr val="FFFFFF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21" name="game title 3" descr="Игра «Верю — не верю»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76672" y="4864608"/>
            <a:ext cx="4608576" cy="539496"/>
          </a:xfrm>
          <a:prstGeom prst="rect">
            <a:avLst/>
          </a:prstGeom>
        </p:spPr>
      </p:pic>
      <p:sp>
        <p:nvSpPr>
          <p:cNvPr id="22" name="game sub 3"/>
          <p:cNvSpPr txBox="1"/>
          <p:nvPr/>
        </p:nvSpPr>
        <p:spPr>
          <a:xfrm>
            <a:off x="5394960" y="543153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 lang="ru-RU">
                <a:solidFill>
                  <a:srgbClr val="6B6A8E"/>
                </a:solidFill>
                <a:latin typeface="Arial"/>
                <a:cs typeface="Arial"/>
              </a:rPr>
              <a:t>Переверни карточку и проверь</a:t>
            </a:r>
          </a:p>
        </p:txBody>
      </p:sp>
      <p:pic>
        <p:nvPicPr>
          <p:cNvPr id="23" name="game go 3" descr="ИГРАТЬ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03536" y="4946904"/>
            <a:ext cx="1572768" cy="804672"/>
          </a:xfrm>
          <a:prstGeom prst="rect">
            <a:avLst/>
          </a:prstGeom>
        </p:spPr>
      </p:pic>
      <p:sp>
        <p:nvSpPr>
          <p:cNvPr id="24" name="game link 3">
            <a:hlinkClick action="ppaction://hlinksldjump" r:id="rId18"/>
          </p:cNvPr>
          <p:cNvSpPr/>
          <p:nvPr/>
        </p:nvSpPr>
        <p:spPr>
          <a:xfrm>
            <a:off x="4023360" y="4700016"/>
            <a:ext cx="7616952" cy="1298448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switch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70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2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6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2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6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8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2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2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3" grpId="0" animBg="1"/>
      <p:bldP spid="16" grpId="0" animBg="1"/>
      <p:bldP spid="19" grpId="0" animBg="1"/>
      <p:bldP spid="22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lilac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6C5CE7"/>
                </a:solidFill>
                <a:latin typeface="Arial"/>
                <a:cs typeface="Arial"/>
              </a:rPr>
              <a:t>ВИКТОРИНА  ·  ВОПРОС 1 ИЗ 5</a:t>
            </a:r>
          </a:p>
        </p:txBody>
      </p:sp>
      <p:pic>
        <p:nvPicPr>
          <p:cNvPr id="4" name="Title" descr="Что служит опорой нашего тела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729216" cy="104241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mascot think" descr="Костик — весёлый скелетик-экскурсовод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307" y="4480560"/>
            <a:ext cx="898585" cy="2240280"/>
          </a:xfrm>
          <a:prstGeom prst="rect">
            <a:avLst/>
          </a:prstGeom>
        </p:spPr>
      </p:pic>
      <p:pic>
        <p:nvPicPr>
          <p:cNvPr id="7" name="mascot joy" descr="Костик — весёлый скелетик-экскурсовод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161" y="4389120"/>
            <a:ext cx="1566879" cy="2331720"/>
          </a:xfrm>
          <a:prstGeom prst="rect">
            <a:avLst/>
          </a:prstGeom>
        </p:spPr>
      </p:pic>
      <p:pic>
        <p:nvPicPr>
          <p:cNvPr id="8" name="bubble ask" descr="Выбери правильный ответ!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9736" y="4928616"/>
            <a:ext cx="4498848" cy="1161288"/>
          </a:xfrm>
          <a:prstGeom prst="rect">
            <a:avLst/>
          </a:prstGeom>
        </p:spPr>
      </p:pic>
      <p:pic>
        <p:nvPicPr>
          <p:cNvPr id="9" name="bubble wrong" descr="Ой! Подумай ещё раз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928616"/>
            <a:ext cx="4498848" cy="1161288"/>
          </a:xfrm>
          <a:prstGeom prst="rect">
            <a:avLst/>
          </a:prstGeom>
        </p:spPr>
      </p:pic>
      <p:pic>
        <p:nvPicPr>
          <p:cNvPr id="10" name="bubble right" descr="Верно! Молодец!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59736" y="4928616"/>
            <a:ext cx="4498848" cy="1161288"/>
          </a:xfrm>
          <a:prstGeom prst="rect">
            <a:avLst/>
          </a:prstGeom>
        </p:spPr>
      </p:pic>
      <p:sp>
        <p:nvSpPr>
          <p:cNvPr id="11" name="answer А"/>
          <p:cNvSpPr/>
          <p:nvPr/>
        </p:nvSpPr>
        <p:spPr>
          <a:xfrm>
            <a:off x="548640" y="2057400"/>
            <a:ext cx="3429000" cy="2331720"/>
          </a:xfrm>
          <a:prstGeom prst="roundRect">
            <a:avLst>
              <a:gd name="adj" fmla="val 9803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2" name="letter А" descr="А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672" y="2176272"/>
            <a:ext cx="768096" cy="768096"/>
          </a:xfrm>
          <a:prstGeom prst="rect">
            <a:avLst/>
          </a:prstGeom>
        </p:spPr>
      </p:pic>
      <p:pic>
        <p:nvPicPr>
          <p:cNvPr id="13" name="answer text А" descr="Кожа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952" y="2907792"/>
            <a:ext cx="3008376" cy="1271016"/>
          </a:xfrm>
          <a:prstGeom prst="rect">
            <a:avLst/>
          </a:prstGeom>
        </p:spPr>
      </p:pic>
      <p:pic>
        <p:nvPicPr>
          <p:cNvPr id="14" name="result А" descr="Не то!&#10;Кожа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2336" y="1911096"/>
            <a:ext cx="3721608" cy="2624328"/>
          </a:xfrm>
          <a:prstGeom prst="rect">
            <a:avLst/>
          </a:prstGeom>
        </p:spPr>
      </p:pic>
      <p:sp>
        <p:nvSpPr>
          <p:cNvPr id="15" name="answer Б"/>
          <p:cNvSpPr/>
          <p:nvPr/>
        </p:nvSpPr>
        <p:spPr>
          <a:xfrm>
            <a:off x="4379976" y="2057400"/>
            <a:ext cx="3429000" cy="2331720"/>
          </a:xfrm>
          <a:prstGeom prst="roundRect">
            <a:avLst>
              <a:gd name="adj" fmla="val 9803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6" name="letter Б" descr="Б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36008" y="2176272"/>
            <a:ext cx="768096" cy="768096"/>
          </a:xfrm>
          <a:prstGeom prst="rect">
            <a:avLst/>
          </a:prstGeom>
        </p:spPr>
      </p:pic>
      <p:pic>
        <p:nvPicPr>
          <p:cNvPr id="17" name="answer text Б" descr="Скелет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90288" y="2907792"/>
            <a:ext cx="3008376" cy="1271016"/>
          </a:xfrm>
          <a:prstGeom prst="rect">
            <a:avLst/>
          </a:prstGeom>
        </p:spPr>
      </p:pic>
      <p:pic>
        <p:nvPicPr>
          <p:cNvPr id="18" name="result Б" descr="Верно!&#10;Скелет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33672" y="1911096"/>
            <a:ext cx="3721608" cy="2624328"/>
          </a:xfrm>
          <a:prstGeom prst="rect">
            <a:avLst/>
          </a:prstGeom>
        </p:spPr>
      </p:pic>
      <p:sp>
        <p:nvSpPr>
          <p:cNvPr id="19" name="answer В"/>
          <p:cNvSpPr/>
          <p:nvPr/>
        </p:nvSpPr>
        <p:spPr>
          <a:xfrm>
            <a:off x="8211312" y="2057400"/>
            <a:ext cx="3429000" cy="2331720"/>
          </a:xfrm>
          <a:prstGeom prst="roundRect">
            <a:avLst>
              <a:gd name="adj" fmla="val 9803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0" name="letter В" descr="В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67344" y="2176272"/>
            <a:ext cx="768096" cy="768096"/>
          </a:xfrm>
          <a:prstGeom prst="rect">
            <a:avLst/>
          </a:prstGeom>
        </p:spPr>
      </p:pic>
      <p:pic>
        <p:nvPicPr>
          <p:cNvPr id="21" name="answer text В" descr="Сердце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21624" y="2907792"/>
            <a:ext cx="3008376" cy="1271016"/>
          </a:xfrm>
          <a:prstGeom prst="rect">
            <a:avLst/>
          </a:prstGeom>
        </p:spPr>
      </p:pic>
      <p:pic>
        <p:nvPicPr>
          <p:cNvPr id="22" name="result В" descr="Не то!&#10;Сердце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65008" y="1911096"/>
            <a:ext cx="3721608" cy="2624328"/>
          </a:xfrm>
          <a:prstGeom prst="rect">
            <a:avLst/>
          </a:prstGeom>
        </p:spPr>
      </p:pic>
      <p:pic>
        <p:nvPicPr>
          <p:cNvPr id="23" name="!!next" descr="Следующий вопрос  »">
            <a:hlinkClick action="ppaction://hlinksldjump" r:id="rId21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67397" y="5907024"/>
            <a:ext cx="3019219" cy="768096"/>
          </a:xfrm>
          <a:prstGeom prst="rect">
            <a:avLst/>
          </a:prstGeom>
        </p:spPr>
      </p:pic>
      <p:sp>
        <p:nvSpPr>
          <p:cNvPr id="24" name="choose wrong"/>
          <p:cNvSpPr/>
          <p:nvPr/>
        </p:nvSpPr>
        <p:spPr>
          <a:xfrm>
            <a:off x="548640" y="2057400"/>
            <a:ext cx="3429000" cy="23317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choose right"/>
          <p:cNvSpPr/>
          <p:nvPr/>
        </p:nvSpPr>
        <p:spPr>
          <a:xfrm>
            <a:off x="4379976" y="2057400"/>
            <a:ext cx="3429000" cy="23317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choose wrong"/>
          <p:cNvSpPr/>
          <p:nvPr/>
        </p:nvSpPr>
        <p:spPr>
          <a:xfrm>
            <a:off x="8211312" y="2057400"/>
            <a:ext cx="3429000" cy="23317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 advClick="0">
        <p14:prism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8"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wrong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15" presetID="32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16" dur="1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17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480000">
                                      <p:cBhvr>
                                        <p:cTn id="18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19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0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4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33" display="0" masterRel="sameClick">
                                          <p:stCondLst>
                                            <p:cond evt="begin" delay="0">
                                              <p:tn val="28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26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3"/>
                                          </p:val>
                                        </p:tav>
                                        <p:tav tm="45000">
                                          <p:val>
                                            <p:strVal val="#ppt_y"/>
                                          </p:val>
                                        </p:tav>
                                        <p:tav tm="62000">
                                          <p:val>
                                            <p:strVal val="#ppt_y-0.06"/>
                                          </p:val>
                                        </p:tav>
                                        <p:tav tm="78000">
                                          <p:val>
                                            <p:strVal val="#ppt_y"/>
                                          </p:val>
                                        </p:tav>
                                        <p:tav tm="90000">
                                          <p:val>
                                            <p:strVal val="#ppt_y-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27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58" display="0" masterRel="sameClick">
                                          <p:stCondLst>
                                            <p:cond evt="begin" delay="0">
                                              <p:tn val="5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wrong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53" presetClass="entr" presetSubtype="16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1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00"/>
                            </p:stCondLst>
                            <p:childTnLst>
                              <p:par>
                                <p:cTn id="65" presetID="32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66" dur="1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67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480000">
                                      <p:cBhvr>
                                        <p:cTn id="68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69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70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400"/>
                            </p:stCondLst>
                            <p:childTnLst>
                              <p:par>
                                <p:cTn id="72" presetID="10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lilac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6C5CE7"/>
                </a:solidFill>
                <a:latin typeface="Arial"/>
                <a:cs typeface="Arial"/>
              </a:rPr>
              <a:t>ВИКТОРИНА  ·  ВОПРОС 2 ИЗ 5</a:t>
            </a:r>
          </a:p>
        </p:txBody>
      </p:sp>
      <p:pic>
        <p:nvPicPr>
          <p:cNvPr id="4" name="Title" descr="Какие кости защищают головной мозг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729216" cy="104241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mascot think" descr="Костик — весёлый скелетик-экскурсовод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307" y="4480560"/>
            <a:ext cx="898585" cy="2240280"/>
          </a:xfrm>
          <a:prstGeom prst="rect">
            <a:avLst/>
          </a:prstGeom>
        </p:spPr>
      </p:pic>
      <p:pic>
        <p:nvPicPr>
          <p:cNvPr id="7" name="mascot joy" descr="Костик — весёлый скелетик-экскурсовод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161" y="4389120"/>
            <a:ext cx="1566879" cy="2331720"/>
          </a:xfrm>
          <a:prstGeom prst="rect">
            <a:avLst/>
          </a:prstGeom>
        </p:spPr>
      </p:pic>
      <p:pic>
        <p:nvPicPr>
          <p:cNvPr id="8" name="bubble ask" descr="Выбери правильный ответ!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9736" y="4928616"/>
            <a:ext cx="4498848" cy="1161288"/>
          </a:xfrm>
          <a:prstGeom prst="rect">
            <a:avLst/>
          </a:prstGeom>
        </p:spPr>
      </p:pic>
      <p:pic>
        <p:nvPicPr>
          <p:cNvPr id="9" name="bubble wrong" descr="Ой! Подумай ещё раз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928616"/>
            <a:ext cx="4498848" cy="1161288"/>
          </a:xfrm>
          <a:prstGeom prst="rect">
            <a:avLst/>
          </a:prstGeom>
        </p:spPr>
      </p:pic>
      <p:pic>
        <p:nvPicPr>
          <p:cNvPr id="10" name="bubble right" descr="Верно! Молодец!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59736" y="4928616"/>
            <a:ext cx="4498848" cy="1161288"/>
          </a:xfrm>
          <a:prstGeom prst="rect">
            <a:avLst/>
          </a:prstGeom>
        </p:spPr>
      </p:pic>
      <p:sp>
        <p:nvSpPr>
          <p:cNvPr id="11" name="answer А"/>
          <p:cNvSpPr/>
          <p:nvPr/>
        </p:nvSpPr>
        <p:spPr>
          <a:xfrm>
            <a:off x="548640" y="2057400"/>
            <a:ext cx="3429000" cy="2331720"/>
          </a:xfrm>
          <a:prstGeom prst="roundRect">
            <a:avLst>
              <a:gd name="adj" fmla="val 9803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2" name="letter А" descr="А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672" y="2176272"/>
            <a:ext cx="768096" cy="768096"/>
          </a:xfrm>
          <a:prstGeom prst="rect">
            <a:avLst/>
          </a:prstGeom>
        </p:spPr>
      </p:pic>
      <p:pic>
        <p:nvPicPr>
          <p:cNvPr id="13" name="answer text А" descr="Череп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952" y="2907792"/>
            <a:ext cx="3008376" cy="1271016"/>
          </a:xfrm>
          <a:prstGeom prst="rect">
            <a:avLst/>
          </a:prstGeom>
        </p:spPr>
      </p:pic>
      <p:pic>
        <p:nvPicPr>
          <p:cNvPr id="14" name="result А" descr="Верно!&#10;Череп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2336" y="1911096"/>
            <a:ext cx="3721608" cy="2624328"/>
          </a:xfrm>
          <a:prstGeom prst="rect">
            <a:avLst/>
          </a:prstGeom>
        </p:spPr>
      </p:pic>
      <p:sp>
        <p:nvSpPr>
          <p:cNvPr id="15" name="answer Б"/>
          <p:cNvSpPr/>
          <p:nvPr/>
        </p:nvSpPr>
        <p:spPr>
          <a:xfrm>
            <a:off x="4379976" y="2057400"/>
            <a:ext cx="3429000" cy="2331720"/>
          </a:xfrm>
          <a:prstGeom prst="roundRect">
            <a:avLst>
              <a:gd name="adj" fmla="val 9803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6" name="letter Б" descr="Б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36008" y="2176272"/>
            <a:ext cx="768096" cy="768096"/>
          </a:xfrm>
          <a:prstGeom prst="rect">
            <a:avLst/>
          </a:prstGeom>
        </p:spPr>
      </p:pic>
      <p:pic>
        <p:nvPicPr>
          <p:cNvPr id="17" name="answer text Б" descr="Рёбра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90288" y="2907792"/>
            <a:ext cx="3008376" cy="1271016"/>
          </a:xfrm>
          <a:prstGeom prst="rect">
            <a:avLst/>
          </a:prstGeom>
        </p:spPr>
      </p:pic>
      <p:pic>
        <p:nvPicPr>
          <p:cNvPr id="18" name="result Б" descr="Не то!&#10;Рёбра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33672" y="1911096"/>
            <a:ext cx="3721608" cy="2624328"/>
          </a:xfrm>
          <a:prstGeom prst="rect">
            <a:avLst/>
          </a:prstGeom>
        </p:spPr>
      </p:pic>
      <p:sp>
        <p:nvSpPr>
          <p:cNvPr id="19" name="answer В"/>
          <p:cNvSpPr/>
          <p:nvPr/>
        </p:nvSpPr>
        <p:spPr>
          <a:xfrm>
            <a:off x="8211312" y="2057400"/>
            <a:ext cx="3429000" cy="2331720"/>
          </a:xfrm>
          <a:prstGeom prst="roundRect">
            <a:avLst>
              <a:gd name="adj" fmla="val 9803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0" name="letter В" descr="В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67344" y="2176272"/>
            <a:ext cx="768096" cy="768096"/>
          </a:xfrm>
          <a:prstGeom prst="rect">
            <a:avLst/>
          </a:prstGeom>
        </p:spPr>
      </p:pic>
      <p:pic>
        <p:nvPicPr>
          <p:cNvPr id="21" name="answer text В" descr="Позвоночник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21624" y="2907792"/>
            <a:ext cx="3008376" cy="1271016"/>
          </a:xfrm>
          <a:prstGeom prst="rect">
            <a:avLst/>
          </a:prstGeom>
        </p:spPr>
      </p:pic>
      <p:pic>
        <p:nvPicPr>
          <p:cNvPr id="22" name="result В" descr="Не то!&#10;Позвоночник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65008" y="1911096"/>
            <a:ext cx="3721608" cy="2624328"/>
          </a:xfrm>
          <a:prstGeom prst="rect">
            <a:avLst/>
          </a:prstGeom>
        </p:spPr>
      </p:pic>
      <p:pic>
        <p:nvPicPr>
          <p:cNvPr id="23" name="!!next" descr="Следующий вопрос  »">
            <a:hlinkClick action="ppaction://hlinksldjump" r:id="rId21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67397" y="5907024"/>
            <a:ext cx="3019219" cy="768096"/>
          </a:xfrm>
          <a:prstGeom prst="rect">
            <a:avLst/>
          </a:prstGeom>
        </p:spPr>
      </p:pic>
      <p:sp>
        <p:nvSpPr>
          <p:cNvPr id="24" name="choose right"/>
          <p:cNvSpPr/>
          <p:nvPr/>
        </p:nvSpPr>
        <p:spPr>
          <a:xfrm>
            <a:off x="548640" y="2057400"/>
            <a:ext cx="3429000" cy="23317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choose wrong"/>
          <p:cNvSpPr/>
          <p:nvPr/>
        </p:nvSpPr>
        <p:spPr>
          <a:xfrm>
            <a:off x="4379976" y="2057400"/>
            <a:ext cx="3429000" cy="23317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choose wrong"/>
          <p:cNvSpPr/>
          <p:nvPr/>
        </p:nvSpPr>
        <p:spPr>
          <a:xfrm>
            <a:off x="8211312" y="2057400"/>
            <a:ext cx="3429000" cy="23317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 advClick="0">
        <p14:prism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10"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6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3"/>
                                          </p:val>
                                        </p:tav>
                                        <p:tav tm="45000">
                                          <p:val>
                                            <p:strVal val="#ppt_y"/>
                                          </p:val>
                                        </p:tav>
                                        <p:tav tm="62000">
                                          <p:val>
                                            <p:strVal val="#ppt_y-0.06"/>
                                          </p:val>
                                        </p:tav>
                                        <p:tav tm="78000">
                                          <p:val>
                                            <p:strVal val="#ppt_y"/>
                                          </p:val>
                                        </p:tav>
                                        <p:tav tm="90000">
                                          <p:val>
                                            <p:strVal val="#ppt_y-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27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35" display="0" masterRel="sameClick">
                                          <p:stCondLst>
                                            <p:cond evt="begin" delay="0">
                                              <p:tn val="32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wrong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1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00"/>
                            </p:stCondLst>
                            <p:childTnLst>
                              <p:par>
                                <p:cTn id="42" presetID="32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43" dur="1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44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480000">
                                      <p:cBhvr>
                                        <p:cTn id="45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46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47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400"/>
                            </p:stCondLst>
                            <p:childTnLst>
                              <p:par>
                                <p:cTn id="4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58" display="0" masterRel="sameClick">
                                          <p:stCondLst>
                                            <p:cond evt="begin" delay="0">
                                              <p:tn val="5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wrong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53" presetClass="entr" presetSubtype="16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1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00"/>
                            </p:stCondLst>
                            <p:childTnLst>
                              <p:par>
                                <p:cTn id="65" presetID="32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66" dur="1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67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480000">
                                      <p:cBhvr>
                                        <p:cTn id="68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69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70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400"/>
                            </p:stCondLst>
                            <p:childTnLst>
                              <p:par>
                                <p:cTn id="72" presetID="10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lilac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6C5CE7"/>
                </a:solidFill>
                <a:latin typeface="Arial"/>
                <a:cs typeface="Arial"/>
              </a:rPr>
              <a:t>ВИКТОРИНА  ·  ВОПРОС 3 ИЗ 5</a:t>
            </a:r>
          </a:p>
        </p:txBody>
      </p:sp>
      <p:pic>
        <p:nvPicPr>
          <p:cNvPr id="4" name="Title" descr="Что защищает грудная клетка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729216" cy="104241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mascot think" descr="Костик — весёлый скелетик-экскурсовод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307" y="4480560"/>
            <a:ext cx="898585" cy="2240280"/>
          </a:xfrm>
          <a:prstGeom prst="rect">
            <a:avLst/>
          </a:prstGeom>
        </p:spPr>
      </p:pic>
      <p:pic>
        <p:nvPicPr>
          <p:cNvPr id="7" name="mascot joy" descr="Костик — весёлый скелетик-экскурсовод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161" y="4389120"/>
            <a:ext cx="1566879" cy="2331720"/>
          </a:xfrm>
          <a:prstGeom prst="rect">
            <a:avLst/>
          </a:prstGeom>
        </p:spPr>
      </p:pic>
      <p:pic>
        <p:nvPicPr>
          <p:cNvPr id="8" name="bubble ask" descr="Выбери правильный ответ!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9736" y="4928616"/>
            <a:ext cx="4498848" cy="1161288"/>
          </a:xfrm>
          <a:prstGeom prst="rect">
            <a:avLst/>
          </a:prstGeom>
        </p:spPr>
      </p:pic>
      <p:pic>
        <p:nvPicPr>
          <p:cNvPr id="9" name="bubble wrong" descr="Ой! Подумай ещё раз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928616"/>
            <a:ext cx="4498848" cy="1161288"/>
          </a:xfrm>
          <a:prstGeom prst="rect">
            <a:avLst/>
          </a:prstGeom>
        </p:spPr>
      </p:pic>
      <p:pic>
        <p:nvPicPr>
          <p:cNvPr id="10" name="bubble right" descr="Верно! Молодец!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59736" y="4928616"/>
            <a:ext cx="4498848" cy="1161288"/>
          </a:xfrm>
          <a:prstGeom prst="rect">
            <a:avLst/>
          </a:prstGeom>
        </p:spPr>
      </p:pic>
      <p:sp>
        <p:nvSpPr>
          <p:cNvPr id="11" name="answer А"/>
          <p:cNvSpPr/>
          <p:nvPr/>
        </p:nvSpPr>
        <p:spPr>
          <a:xfrm>
            <a:off x="548640" y="2057400"/>
            <a:ext cx="3429000" cy="2331720"/>
          </a:xfrm>
          <a:prstGeom prst="roundRect">
            <a:avLst>
              <a:gd name="adj" fmla="val 9803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2" name="letter А" descr="А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672" y="2176272"/>
            <a:ext cx="768096" cy="768096"/>
          </a:xfrm>
          <a:prstGeom prst="rect">
            <a:avLst/>
          </a:prstGeom>
        </p:spPr>
      </p:pic>
      <p:pic>
        <p:nvPicPr>
          <p:cNvPr id="13" name="answer text А" descr="Желудок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952" y="2907792"/>
            <a:ext cx="3008376" cy="1271016"/>
          </a:xfrm>
          <a:prstGeom prst="rect">
            <a:avLst/>
          </a:prstGeom>
        </p:spPr>
      </p:pic>
      <p:pic>
        <p:nvPicPr>
          <p:cNvPr id="14" name="result А" descr="Не то!&#10;Желудок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2336" y="1911096"/>
            <a:ext cx="3721608" cy="2624328"/>
          </a:xfrm>
          <a:prstGeom prst="rect">
            <a:avLst/>
          </a:prstGeom>
        </p:spPr>
      </p:pic>
      <p:sp>
        <p:nvSpPr>
          <p:cNvPr id="15" name="answer Б"/>
          <p:cNvSpPr/>
          <p:nvPr/>
        </p:nvSpPr>
        <p:spPr>
          <a:xfrm>
            <a:off x="4379976" y="2057400"/>
            <a:ext cx="3429000" cy="2331720"/>
          </a:xfrm>
          <a:prstGeom prst="roundRect">
            <a:avLst>
              <a:gd name="adj" fmla="val 9803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6" name="letter Б" descr="Б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36008" y="2176272"/>
            <a:ext cx="768096" cy="768096"/>
          </a:xfrm>
          <a:prstGeom prst="rect">
            <a:avLst/>
          </a:prstGeom>
        </p:spPr>
      </p:pic>
      <p:pic>
        <p:nvPicPr>
          <p:cNvPr id="17" name="answer text Б" descr="Головной мозг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90288" y="2907792"/>
            <a:ext cx="3008376" cy="1271016"/>
          </a:xfrm>
          <a:prstGeom prst="rect">
            <a:avLst/>
          </a:prstGeom>
        </p:spPr>
      </p:pic>
      <p:pic>
        <p:nvPicPr>
          <p:cNvPr id="18" name="result Б" descr="Не то!&#10;Головной мозг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33672" y="1911096"/>
            <a:ext cx="3721608" cy="2624328"/>
          </a:xfrm>
          <a:prstGeom prst="rect">
            <a:avLst/>
          </a:prstGeom>
        </p:spPr>
      </p:pic>
      <p:sp>
        <p:nvSpPr>
          <p:cNvPr id="19" name="answer В"/>
          <p:cNvSpPr/>
          <p:nvPr/>
        </p:nvSpPr>
        <p:spPr>
          <a:xfrm>
            <a:off x="8211312" y="2057400"/>
            <a:ext cx="3429000" cy="2331720"/>
          </a:xfrm>
          <a:prstGeom prst="roundRect">
            <a:avLst>
              <a:gd name="adj" fmla="val 9803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0" name="letter В" descr="В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67344" y="2176272"/>
            <a:ext cx="768096" cy="768096"/>
          </a:xfrm>
          <a:prstGeom prst="rect">
            <a:avLst/>
          </a:prstGeom>
        </p:spPr>
      </p:pic>
      <p:pic>
        <p:nvPicPr>
          <p:cNvPr id="21" name="answer text В" descr="Сердце и лёгкие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21624" y="2907792"/>
            <a:ext cx="3008376" cy="1271016"/>
          </a:xfrm>
          <a:prstGeom prst="rect">
            <a:avLst/>
          </a:prstGeom>
        </p:spPr>
      </p:pic>
      <p:pic>
        <p:nvPicPr>
          <p:cNvPr id="22" name="result В" descr="Верно!&#10;Сердце и лёгкие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65008" y="1911096"/>
            <a:ext cx="3721608" cy="2624328"/>
          </a:xfrm>
          <a:prstGeom prst="rect">
            <a:avLst/>
          </a:prstGeom>
        </p:spPr>
      </p:pic>
      <p:pic>
        <p:nvPicPr>
          <p:cNvPr id="23" name="!!next" descr="Следующий вопрос  »">
            <a:hlinkClick action="ppaction://hlinksldjump" r:id="rId21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67397" y="5907024"/>
            <a:ext cx="3019219" cy="768096"/>
          </a:xfrm>
          <a:prstGeom prst="rect">
            <a:avLst/>
          </a:prstGeom>
        </p:spPr>
      </p:pic>
      <p:sp>
        <p:nvSpPr>
          <p:cNvPr id="24" name="choose wrong"/>
          <p:cNvSpPr/>
          <p:nvPr/>
        </p:nvSpPr>
        <p:spPr>
          <a:xfrm>
            <a:off x="548640" y="2057400"/>
            <a:ext cx="3429000" cy="23317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choose wrong"/>
          <p:cNvSpPr/>
          <p:nvPr/>
        </p:nvSpPr>
        <p:spPr>
          <a:xfrm>
            <a:off x="4379976" y="2057400"/>
            <a:ext cx="3429000" cy="23317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choose right"/>
          <p:cNvSpPr/>
          <p:nvPr/>
        </p:nvSpPr>
        <p:spPr>
          <a:xfrm>
            <a:off x="8211312" y="2057400"/>
            <a:ext cx="3429000" cy="23317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 advClick="0">
        <p14:prism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8"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wrong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15" presetID="32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16" dur="1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17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480000">
                                      <p:cBhvr>
                                        <p:cTn id="18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19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0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4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31" display="0" masterRel="sameClick">
                                          <p:stCondLst>
                                            <p:cond evt="begin" delay="0">
                                              <p:tn val="28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wrong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2" presetID="53" presetClass="entr" presetSubtype="16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1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00"/>
                            </p:stCondLst>
                            <p:childTnLst>
                              <p:par>
                                <p:cTn id="38" presetID="32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39" dur="1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40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480000">
                                      <p:cBhvr>
                                        <p:cTn id="41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42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43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400"/>
                            </p:stCondLst>
                            <p:childTnLst>
                              <p:par>
                                <p:cTn id="45" presetID="10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56"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6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3"/>
                                          </p:val>
                                        </p:tav>
                                        <p:tav tm="45000">
                                          <p:val>
                                            <p:strVal val="#ppt_y"/>
                                          </p:val>
                                        </p:tav>
                                        <p:tav tm="62000">
                                          <p:val>
                                            <p:strVal val="#ppt_y-0.06"/>
                                          </p:val>
                                        </p:tav>
                                        <p:tav tm="78000">
                                          <p:val>
                                            <p:strVal val="#ppt_y"/>
                                          </p:val>
                                        </p:tav>
                                        <p:tav tm="90000">
                                          <p:val>
                                            <p:strVal val="#ppt_y-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27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000"/>
                            </p:stCondLst>
                            <p:childTnLst>
                              <p:par>
                                <p:cTn id="7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lilac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6C5CE7"/>
                </a:solidFill>
                <a:latin typeface="Arial"/>
                <a:cs typeface="Arial"/>
              </a:rPr>
              <a:t>ВИКТОРИНА  ·  ВОПРОС 4 ИЗ 5</a:t>
            </a:r>
          </a:p>
        </p:txBody>
      </p:sp>
      <p:pic>
        <p:nvPicPr>
          <p:cNvPr id="4" name="Title" descr="Сколько мышц в теле человека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729216" cy="104241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mascot think" descr="Костик — весёлый скелетик-экскурсовод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307" y="4480560"/>
            <a:ext cx="898585" cy="2240280"/>
          </a:xfrm>
          <a:prstGeom prst="rect">
            <a:avLst/>
          </a:prstGeom>
        </p:spPr>
      </p:pic>
      <p:pic>
        <p:nvPicPr>
          <p:cNvPr id="7" name="mascot joy" descr="Костик — весёлый скелетик-экскурсовод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161" y="4389120"/>
            <a:ext cx="1566879" cy="2331720"/>
          </a:xfrm>
          <a:prstGeom prst="rect">
            <a:avLst/>
          </a:prstGeom>
        </p:spPr>
      </p:pic>
      <p:pic>
        <p:nvPicPr>
          <p:cNvPr id="8" name="bubble ask" descr="Выбери правильный ответ!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9736" y="4928616"/>
            <a:ext cx="4498848" cy="1161288"/>
          </a:xfrm>
          <a:prstGeom prst="rect">
            <a:avLst/>
          </a:prstGeom>
        </p:spPr>
      </p:pic>
      <p:pic>
        <p:nvPicPr>
          <p:cNvPr id="9" name="bubble wrong" descr="Ой! Подумай ещё раз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928616"/>
            <a:ext cx="4498848" cy="1161288"/>
          </a:xfrm>
          <a:prstGeom prst="rect">
            <a:avLst/>
          </a:prstGeom>
        </p:spPr>
      </p:pic>
      <p:pic>
        <p:nvPicPr>
          <p:cNvPr id="10" name="bubble right" descr="Верно! Молодец!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59736" y="4928616"/>
            <a:ext cx="4498848" cy="1161288"/>
          </a:xfrm>
          <a:prstGeom prst="rect">
            <a:avLst/>
          </a:prstGeom>
        </p:spPr>
      </p:pic>
      <p:sp>
        <p:nvSpPr>
          <p:cNvPr id="11" name="answer А"/>
          <p:cNvSpPr/>
          <p:nvPr/>
        </p:nvSpPr>
        <p:spPr>
          <a:xfrm>
            <a:off x="548640" y="2057400"/>
            <a:ext cx="3429000" cy="2331720"/>
          </a:xfrm>
          <a:prstGeom prst="roundRect">
            <a:avLst>
              <a:gd name="adj" fmla="val 9803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2" name="letter А" descr="А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672" y="2176272"/>
            <a:ext cx="768096" cy="768096"/>
          </a:xfrm>
          <a:prstGeom prst="rect">
            <a:avLst/>
          </a:prstGeom>
        </p:spPr>
      </p:pic>
      <p:pic>
        <p:nvPicPr>
          <p:cNvPr id="13" name="answer text А" descr="Около 6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952" y="2907792"/>
            <a:ext cx="3008376" cy="1271016"/>
          </a:xfrm>
          <a:prstGeom prst="rect">
            <a:avLst/>
          </a:prstGeom>
        </p:spPr>
      </p:pic>
      <p:pic>
        <p:nvPicPr>
          <p:cNvPr id="14" name="result А" descr="Не то!&#10;Около 6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2336" y="1911096"/>
            <a:ext cx="3721608" cy="2624328"/>
          </a:xfrm>
          <a:prstGeom prst="rect">
            <a:avLst/>
          </a:prstGeom>
        </p:spPr>
      </p:pic>
      <p:sp>
        <p:nvSpPr>
          <p:cNvPr id="15" name="answer Б"/>
          <p:cNvSpPr/>
          <p:nvPr/>
        </p:nvSpPr>
        <p:spPr>
          <a:xfrm>
            <a:off x="4379976" y="2057400"/>
            <a:ext cx="3429000" cy="2331720"/>
          </a:xfrm>
          <a:prstGeom prst="roundRect">
            <a:avLst>
              <a:gd name="adj" fmla="val 9803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6" name="letter Б" descr="Б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36008" y="2176272"/>
            <a:ext cx="768096" cy="768096"/>
          </a:xfrm>
          <a:prstGeom prst="rect">
            <a:avLst/>
          </a:prstGeom>
        </p:spPr>
      </p:pic>
      <p:pic>
        <p:nvPicPr>
          <p:cNvPr id="17" name="answer text Б" descr="Больше 600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90288" y="2907792"/>
            <a:ext cx="3008376" cy="1271016"/>
          </a:xfrm>
          <a:prstGeom prst="rect">
            <a:avLst/>
          </a:prstGeom>
        </p:spPr>
      </p:pic>
      <p:pic>
        <p:nvPicPr>
          <p:cNvPr id="18" name="result Б" descr="Верно!&#10;Больше 600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33672" y="1911096"/>
            <a:ext cx="3721608" cy="2624328"/>
          </a:xfrm>
          <a:prstGeom prst="rect">
            <a:avLst/>
          </a:prstGeom>
        </p:spPr>
      </p:pic>
      <p:sp>
        <p:nvSpPr>
          <p:cNvPr id="19" name="answer В"/>
          <p:cNvSpPr/>
          <p:nvPr/>
        </p:nvSpPr>
        <p:spPr>
          <a:xfrm>
            <a:off x="8211312" y="2057400"/>
            <a:ext cx="3429000" cy="2331720"/>
          </a:xfrm>
          <a:prstGeom prst="roundRect">
            <a:avLst>
              <a:gd name="adj" fmla="val 9803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0" name="letter В" descr="В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67344" y="2176272"/>
            <a:ext cx="768096" cy="768096"/>
          </a:xfrm>
          <a:prstGeom prst="rect">
            <a:avLst/>
          </a:prstGeom>
        </p:spPr>
      </p:pic>
      <p:pic>
        <p:nvPicPr>
          <p:cNvPr id="21" name="answer text В" descr="Около 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21624" y="2907792"/>
            <a:ext cx="3008376" cy="1271016"/>
          </a:xfrm>
          <a:prstGeom prst="rect">
            <a:avLst/>
          </a:prstGeom>
        </p:spPr>
      </p:pic>
      <p:pic>
        <p:nvPicPr>
          <p:cNvPr id="22" name="result В" descr="Не то!&#10;Около 6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65008" y="1911096"/>
            <a:ext cx="3721608" cy="2624328"/>
          </a:xfrm>
          <a:prstGeom prst="rect">
            <a:avLst/>
          </a:prstGeom>
        </p:spPr>
      </p:pic>
      <p:pic>
        <p:nvPicPr>
          <p:cNvPr id="23" name="!!next" descr="Следующий вопрос  »">
            <a:hlinkClick action="ppaction://hlinksldjump" r:id="rId21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67397" y="5907024"/>
            <a:ext cx="3019219" cy="768096"/>
          </a:xfrm>
          <a:prstGeom prst="rect">
            <a:avLst/>
          </a:prstGeom>
        </p:spPr>
      </p:pic>
      <p:sp>
        <p:nvSpPr>
          <p:cNvPr id="24" name="choose wrong"/>
          <p:cNvSpPr/>
          <p:nvPr/>
        </p:nvSpPr>
        <p:spPr>
          <a:xfrm>
            <a:off x="548640" y="2057400"/>
            <a:ext cx="3429000" cy="23317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choose right"/>
          <p:cNvSpPr/>
          <p:nvPr/>
        </p:nvSpPr>
        <p:spPr>
          <a:xfrm>
            <a:off x="4379976" y="2057400"/>
            <a:ext cx="3429000" cy="23317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choose wrong"/>
          <p:cNvSpPr/>
          <p:nvPr/>
        </p:nvSpPr>
        <p:spPr>
          <a:xfrm>
            <a:off x="8211312" y="2057400"/>
            <a:ext cx="3429000" cy="23317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 advClick="0">
        <p14:prism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8"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wrong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15" presetID="32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16" dur="1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17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480000">
                                      <p:cBhvr>
                                        <p:cTn id="18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19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20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400"/>
                            </p:stCondLst>
                            <p:childTnLst>
                              <p:par>
                                <p:cTn id="22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33" display="0" masterRel="sameClick">
                                          <p:stCondLst>
                                            <p:cond evt="begin" delay="0">
                                              <p:tn val="28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26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3"/>
                                          </p:val>
                                        </p:tav>
                                        <p:tav tm="45000">
                                          <p:val>
                                            <p:strVal val="#ppt_y"/>
                                          </p:val>
                                        </p:tav>
                                        <p:tav tm="62000">
                                          <p:val>
                                            <p:strVal val="#ppt_y-0.06"/>
                                          </p:val>
                                        </p:tav>
                                        <p:tav tm="78000">
                                          <p:val>
                                            <p:strVal val="#ppt_y"/>
                                          </p:val>
                                        </p:tav>
                                        <p:tav tm="90000">
                                          <p:val>
                                            <p:strVal val="#ppt_y-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27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58" display="0" masterRel="sameClick">
                                          <p:stCondLst>
                                            <p:cond evt="begin" delay="0">
                                              <p:tn val="5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wrong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53" presetClass="entr" presetSubtype="16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1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00"/>
                            </p:stCondLst>
                            <p:childTnLst>
                              <p:par>
                                <p:cTn id="65" presetID="32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66" dur="1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67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480000">
                                      <p:cBhvr>
                                        <p:cTn id="68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69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70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400"/>
                            </p:stCondLst>
                            <p:childTnLst>
                              <p:par>
                                <p:cTn id="72" presetID="10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lilac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6C5CE7"/>
                </a:solidFill>
                <a:latin typeface="Arial"/>
                <a:cs typeface="Arial"/>
              </a:rPr>
              <a:t>ВИКТОРИНА  ·  ВОПРОС 5 ИЗ 5</a:t>
            </a:r>
          </a:p>
        </p:txBody>
      </p:sp>
      <p:pic>
        <p:nvPicPr>
          <p:cNvPr id="4" name="Title" descr="Как называются подвижные соединения костей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729216" cy="104241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mascot think" descr="Костик — весёлый скелетик-экскурсовод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307" y="4480560"/>
            <a:ext cx="898585" cy="2240280"/>
          </a:xfrm>
          <a:prstGeom prst="rect">
            <a:avLst/>
          </a:prstGeom>
        </p:spPr>
      </p:pic>
      <p:pic>
        <p:nvPicPr>
          <p:cNvPr id="7" name="mascot joy" descr="Костик — весёлый скелетик-экскурсовод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161" y="4389120"/>
            <a:ext cx="1566879" cy="2331720"/>
          </a:xfrm>
          <a:prstGeom prst="rect">
            <a:avLst/>
          </a:prstGeom>
        </p:spPr>
      </p:pic>
      <p:pic>
        <p:nvPicPr>
          <p:cNvPr id="8" name="bubble ask" descr="Выбери правильный ответ!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9736" y="4928616"/>
            <a:ext cx="4498848" cy="1161288"/>
          </a:xfrm>
          <a:prstGeom prst="rect">
            <a:avLst/>
          </a:prstGeom>
        </p:spPr>
      </p:pic>
      <p:pic>
        <p:nvPicPr>
          <p:cNvPr id="9" name="bubble wrong" descr="Ой! Подумай ещё раз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928616"/>
            <a:ext cx="4498848" cy="1161288"/>
          </a:xfrm>
          <a:prstGeom prst="rect">
            <a:avLst/>
          </a:prstGeom>
        </p:spPr>
      </p:pic>
      <p:pic>
        <p:nvPicPr>
          <p:cNvPr id="10" name="bubble right" descr="Верно! Молодец!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59736" y="4928616"/>
            <a:ext cx="4498848" cy="1161288"/>
          </a:xfrm>
          <a:prstGeom prst="rect">
            <a:avLst/>
          </a:prstGeom>
        </p:spPr>
      </p:pic>
      <p:sp>
        <p:nvSpPr>
          <p:cNvPr id="11" name="answer А"/>
          <p:cNvSpPr/>
          <p:nvPr/>
        </p:nvSpPr>
        <p:spPr>
          <a:xfrm>
            <a:off x="548640" y="2057400"/>
            <a:ext cx="3429000" cy="2331720"/>
          </a:xfrm>
          <a:prstGeom prst="roundRect">
            <a:avLst>
              <a:gd name="adj" fmla="val 9803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2" name="letter А" descr="А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672" y="2176272"/>
            <a:ext cx="768096" cy="768096"/>
          </a:xfrm>
          <a:prstGeom prst="rect">
            <a:avLst/>
          </a:prstGeom>
        </p:spPr>
      </p:pic>
      <p:pic>
        <p:nvPicPr>
          <p:cNvPr id="13" name="answer text А" descr="Суставы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952" y="2907792"/>
            <a:ext cx="3008376" cy="1271016"/>
          </a:xfrm>
          <a:prstGeom prst="rect">
            <a:avLst/>
          </a:prstGeom>
        </p:spPr>
      </p:pic>
      <p:pic>
        <p:nvPicPr>
          <p:cNvPr id="14" name="result А" descr="Верно!&#10;Суставы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2336" y="1911096"/>
            <a:ext cx="3721608" cy="2624328"/>
          </a:xfrm>
          <a:prstGeom prst="rect">
            <a:avLst/>
          </a:prstGeom>
        </p:spPr>
      </p:pic>
      <p:sp>
        <p:nvSpPr>
          <p:cNvPr id="15" name="answer Б"/>
          <p:cNvSpPr/>
          <p:nvPr/>
        </p:nvSpPr>
        <p:spPr>
          <a:xfrm>
            <a:off x="4379976" y="2057400"/>
            <a:ext cx="3429000" cy="2331720"/>
          </a:xfrm>
          <a:prstGeom prst="roundRect">
            <a:avLst>
              <a:gd name="adj" fmla="val 9803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6" name="letter Б" descr="Б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36008" y="2176272"/>
            <a:ext cx="768096" cy="768096"/>
          </a:xfrm>
          <a:prstGeom prst="rect">
            <a:avLst/>
          </a:prstGeom>
        </p:spPr>
      </p:pic>
      <p:pic>
        <p:nvPicPr>
          <p:cNvPr id="17" name="answer text Б" descr="Мышцы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90288" y="2907792"/>
            <a:ext cx="3008376" cy="1271016"/>
          </a:xfrm>
          <a:prstGeom prst="rect">
            <a:avLst/>
          </a:prstGeom>
        </p:spPr>
      </p:pic>
      <p:pic>
        <p:nvPicPr>
          <p:cNvPr id="18" name="result Б" descr="Не то!&#10;Мышцы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33672" y="1911096"/>
            <a:ext cx="3721608" cy="2624328"/>
          </a:xfrm>
          <a:prstGeom prst="rect">
            <a:avLst/>
          </a:prstGeom>
        </p:spPr>
      </p:pic>
      <p:sp>
        <p:nvSpPr>
          <p:cNvPr id="19" name="answer В"/>
          <p:cNvSpPr/>
          <p:nvPr/>
        </p:nvSpPr>
        <p:spPr>
          <a:xfrm>
            <a:off x="8211312" y="2057400"/>
            <a:ext cx="3429000" cy="2331720"/>
          </a:xfrm>
          <a:prstGeom prst="roundRect">
            <a:avLst>
              <a:gd name="adj" fmla="val 9803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0" name="letter В" descr="В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67344" y="2176272"/>
            <a:ext cx="768096" cy="768096"/>
          </a:xfrm>
          <a:prstGeom prst="rect">
            <a:avLst/>
          </a:prstGeom>
        </p:spPr>
      </p:pic>
      <p:pic>
        <p:nvPicPr>
          <p:cNvPr id="21" name="answer text В" descr="Позвонки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21624" y="2907792"/>
            <a:ext cx="3008376" cy="1271016"/>
          </a:xfrm>
          <a:prstGeom prst="rect">
            <a:avLst/>
          </a:prstGeom>
        </p:spPr>
      </p:pic>
      <p:pic>
        <p:nvPicPr>
          <p:cNvPr id="22" name="result В" descr="Не то!&#10;Позвонки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65008" y="1911096"/>
            <a:ext cx="3721608" cy="2624328"/>
          </a:xfrm>
          <a:prstGeom prst="rect">
            <a:avLst/>
          </a:prstGeom>
        </p:spPr>
      </p:pic>
      <p:pic>
        <p:nvPicPr>
          <p:cNvPr id="23" name="!!next" descr="Следующая игра  »">
            <a:hlinkClick action="ppaction://hlinksldjump" r:id="rId21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035744" y="5907024"/>
            <a:ext cx="2750872" cy="768096"/>
          </a:xfrm>
          <a:prstGeom prst="rect">
            <a:avLst/>
          </a:prstGeom>
        </p:spPr>
      </p:pic>
      <p:sp>
        <p:nvSpPr>
          <p:cNvPr id="24" name="choose right"/>
          <p:cNvSpPr/>
          <p:nvPr/>
        </p:nvSpPr>
        <p:spPr>
          <a:xfrm>
            <a:off x="548640" y="2057400"/>
            <a:ext cx="3429000" cy="23317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choose wrong"/>
          <p:cNvSpPr/>
          <p:nvPr/>
        </p:nvSpPr>
        <p:spPr>
          <a:xfrm>
            <a:off x="4379976" y="2057400"/>
            <a:ext cx="3429000" cy="23317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choose wrong"/>
          <p:cNvSpPr/>
          <p:nvPr/>
        </p:nvSpPr>
        <p:spPr>
          <a:xfrm>
            <a:off x="8211312" y="2057400"/>
            <a:ext cx="3429000" cy="233172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 advClick="0">
        <p14:prism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10"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2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26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3"/>
                                          </p:val>
                                        </p:tav>
                                        <p:tav tm="45000">
                                          <p:val>
                                            <p:strVal val="#ppt_y"/>
                                          </p:val>
                                        </p:tav>
                                        <p:tav tm="62000">
                                          <p:val>
                                            <p:strVal val="#ppt_y-0.06"/>
                                          </p:val>
                                        </p:tav>
                                        <p:tav tm="78000">
                                          <p:val>
                                            <p:strVal val="#ppt_y"/>
                                          </p:val>
                                        </p:tav>
                                        <p:tav tm="90000">
                                          <p:val>
                                            <p:strVal val="#ppt_y-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27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0" fill="hold">
                      <p:stCondLst>
                        <p:cond delay="0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35" display="0" masterRel="sameClick">
                                          <p:stCondLst>
                                            <p:cond evt="begin" delay="0">
                                              <p:tn val="32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wrong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1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00"/>
                            </p:stCondLst>
                            <p:childTnLst>
                              <p:par>
                                <p:cTn id="42" presetID="32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43" dur="1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44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480000">
                                      <p:cBhvr>
                                        <p:cTn id="45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46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47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400"/>
                            </p:stCondLst>
                            <p:childTnLst>
                              <p:par>
                                <p:cTn id="4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58" display="0" masterRel="sameClick">
                                          <p:stCondLst>
                                            <p:cond evt="begin" delay="0">
                                              <p:tn val="5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3" name="wrong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53" presetClass="entr" presetSubtype="16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1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00"/>
                            </p:stCondLst>
                            <p:childTnLst>
                              <p:par>
                                <p:cTn id="65" presetID="32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40000">
                                      <p:cBhvr>
                                        <p:cTn id="66" dur="1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67" dur="200" fill="hold">
                                          <p:stCondLst>
                                            <p:cond delay="1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480000">
                                      <p:cBhvr>
                                        <p:cTn id="68" dur="2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480000">
                                      <p:cBhvr>
                                        <p:cTn id="69" dur="200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70" dur="100" fill="hold">
                                          <p:stCondLst>
                                            <p:cond delay="7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400"/>
                            </p:stCondLst>
                            <p:childTnLst>
                              <p:par>
                                <p:cTn id="72" presetID="10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lilac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FF6B6B"/>
                </a:solidFill>
                <a:latin typeface="Arial"/>
                <a:cs typeface="Arial"/>
              </a:rPr>
              <a:t>ИГРА НА СООТВЕТСТВИЕ</a:t>
            </a:r>
          </a:p>
        </p:txBody>
      </p:sp>
      <p:pic>
        <p:nvPicPr>
          <p:cNvPr id="4" name="Title" descr="Кто кого защищает?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match hint" descr="Назовите пару вслух, а потом нажмите на кость — проверим!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1444752"/>
            <a:ext cx="10552176" cy="539496"/>
          </a:xfrm>
          <a:prstGeom prst="rect">
            <a:avLst/>
          </a:prstGeom>
        </p:spPr>
      </p:pic>
      <p:sp>
        <p:nvSpPr>
          <p:cNvPr id="7" name="organ 1"/>
          <p:cNvSpPr/>
          <p:nvPr/>
        </p:nvSpPr>
        <p:spPr>
          <a:xfrm>
            <a:off x="7982712" y="2194560"/>
            <a:ext cx="3657600" cy="1051560"/>
          </a:xfrm>
          <a:prstGeom prst="roundRect">
            <a:avLst>
              <a:gd name="adj" fmla="val 21739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8" name="organ text 1" descr="Сердце и лёгкие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7032" y="2176272"/>
            <a:ext cx="3236976" cy="1088136"/>
          </a:xfrm>
          <a:prstGeom prst="rect">
            <a:avLst/>
          </a:prstGeom>
        </p:spPr>
      </p:pic>
      <p:sp>
        <p:nvSpPr>
          <p:cNvPr id="9" name="organ ok 1"/>
          <p:cNvSpPr/>
          <p:nvPr/>
        </p:nvSpPr>
        <p:spPr>
          <a:xfrm>
            <a:off x="7918704" y="2130552"/>
            <a:ext cx="3785616" cy="1179576"/>
          </a:xfrm>
          <a:prstGeom prst="roundRect">
            <a:avLst>
              <a:gd name="adj" fmla="val 20930"/>
            </a:avLst>
          </a:prstGeom>
          <a:noFill/>
          <a:ln w="73152">
            <a:solidFill>
              <a:srgbClr val="22B5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rgan 2"/>
          <p:cNvSpPr/>
          <p:nvPr/>
        </p:nvSpPr>
        <p:spPr>
          <a:xfrm>
            <a:off x="7982712" y="3566160"/>
            <a:ext cx="3657600" cy="1051560"/>
          </a:xfrm>
          <a:prstGeom prst="roundRect">
            <a:avLst>
              <a:gd name="adj" fmla="val 21739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1" name="organ text 2" descr="Головной мозг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57032" y="3547872"/>
            <a:ext cx="3236976" cy="1088136"/>
          </a:xfrm>
          <a:prstGeom prst="rect">
            <a:avLst/>
          </a:prstGeom>
        </p:spPr>
      </p:pic>
      <p:sp>
        <p:nvSpPr>
          <p:cNvPr id="12" name="organ ok 2"/>
          <p:cNvSpPr/>
          <p:nvPr/>
        </p:nvSpPr>
        <p:spPr>
          <a:xfrm>
            <a:off x="7918704" y="3502152"/>
            <a:ext cx="3785616" cy="1179576"/>
          </a:xfrm>
          <a:prstGeom prst="roundRect">
            <a:avLst>
              <a:gd name="adj" fmla="val 20930"/>
            </a:avLst>
          </a:prstGeom>
          <a:noFill/>
          <a:ln w="73152">
            <a:solidFill>
              <a:srgbClr val="22B5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rgan 3"/>
          <p:cNvSpPr/>
          <p:nvPr/>
        </p:nvSpPr>
        <p:spPr>
          <a:xfrm>
            <a:off x="7982712" y="4937760"/>
            <a:ext cx="3657600" cy="1051560"/>
          </a:xfrm>
          <a:prstGeom prst="roundRect">
            <a:avLst>
              <a:gd name="adj" fmla="val 21739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4" name="organ text 3" descr="Спинной мозг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57032" y="4919472"/>
            <a:ext cx="3236976" cy="1088136"/>
          </a:xfrm>
          <a:prstGeom prst="rect">
            <a:avLst/>
          </a:prstGeom>
        </p:spPr>
      </p:pic>
      <p:sp>
        <p:nvSpPr>
          <p:cNvPr id="15" name="organ ok 3"/>
          <p:cNvSpPr/>
          <p:nvPr/>
        </p:nvSpPr>
        <p:spPr>
          <a:xfrm>
            <a:off x="7918704" y="4873752"/>
            <a:ext cx="3785616" cy="1179576"/>
          </a:xfrm>
          <a:prstGeom prst="roundRect">
            <a:avLst>
              <a:gd name="adj" fmla="val 20930"/>
            </a:avLst>
          </a:prstGeom>
          <a:noFill/>
          <a:ln w="73152">
            <a:solidFill>
              <a:srgbClr val="22B5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bone card 1"/>
          <p:cNvSpPr/>
          <p:nvPr/>
        </p:nvSpPr>
        <p:spPr>
          <a:xfrm>
            <a:off x="548640" y="2194560"/>
            <a:ext cx="3657600" cy="1051560"/>
          </a:xfrm>
          <a:prstGeom prst="roundRect">
            <a:avLst>
              <a:gd name="adj" fmla="val 21739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7" name="bone photo 1" descr=""/>
          <p:cNvPicPr>
            <a:picLocks noChangeAspect="1"/>
          </p:cNvPicPr>
          <p:nvPr/>
        </p:nvPicPr>
        <p:blipFill>
          <a:blip r:embed="rId10"/>
          <a:srcRect l="38000" r="38000" t="2540" b="79540"/>
          <a:stretch>
            <a:fillRect/>
          </a:stretch>
        </p:blipFill>
        <p:spPr>
          <a:xfrm>
            <a:off x="685800" y="2313432"/>
            <a:ext cx="813816" cy="813816"/>
          </a:xfrm>
          <a:prstGeom prst="ellipse">
            <a:avLst/>
          </a:prstGeom>
          <a:ln w="45720">
            <a:solidFill>
              <a:srgbClr val="6C5CE7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18" name="bone text 1" descr="Череп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7632" y="2176272"/>
            <a:ext cx="2505456" cy="1088136"/>
          </a:xfrm>
          <a:prstGeom prst="rect">
            <a:avLst/>
          </a:prstGeom>
        </p:spPr>
      </p:pic>
      <p:cxnSp>
        <p:nvCxnSpPr>
          <p:cNvPr id="19" name="pair line 1"/>
          <p:cNvCxnSpPr/>
          <p:nvPr/>
        </p:nvCxnSpPr>
        <p:spPr>
          <a:xfrm>
            <a:off x="4279392" y="2720340"/>
            <a:ext cx="3602736" cy="1371600"/>
          </a:xfrm>
          <a:prstGeom prst="line">
            <a:avLst/>
          </a:prstGeom>
          <a:ln w="63500" cap="rnd">
            <a:solidFill>
              <a:srgbClr val="6C5CE7"/>
            </a:solidFill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pick bone 1"/>
          <p:cNvSpPr/>
          <p:nvPr/>
        </p:nvSpPr>
        <p:spPr>
          <a:xfrm>
            <a:off x="548640" y="2194560"/>
            <a:ext cx="3657600" cy="105156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bone card 2"/>
          <p:cNvSpPr/>
          <p:nvPr/>
        </p:nvSpPr>
        <p:spPr>
          <a:xfrm>
            <a:off x="548640" y="3566160"/>
            <a:ext cx="3657600" cy="1051560"/>
          </a:xfrm>
          <a:prstGeom prst="roundRect">
            <a:avLst>
              <a:gd name="adj" fmla="val 21739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2" name="bone photo 2" descr=""/>
          <p:cNvPicPr>
            <a:picLocks noChangeAspect="1"/>
          </p:cNvPicPr>
          <p:nvPr/>
        </p:nvPicPr>
        <p:blipFill>
          <a:blip r:embed="rId10"/>
          <a:srcRect l="32000" r="32000" t="16560" b="56560"/>
          <a:stretch>
            <a:fillRect/>
          </a:stretch>
        </p:blipFill>
        <p:spPr>
          <a:xfrm>
            <a:off x="685800" y="3685032"/>
            <a:ext cx="813816" cy="813816"/>
          </a:xfrm>
          <a:prstGeom prst="ellipse">
            <a:avLst/>
          </a:prstGeom>
          <a:ln w="45720">
            <a:solidFill>
              <a:srgbClr val="FF6B6B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23" name="bone text 2" descr="Грудная клетка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627632" y="3547872"/>
            <a:ext cx="2505456" cy="1088136"/>
          </a:xfrm>
          <a:prstGeom prst="rect">
            <a:avLst/>
          </a:prstGeom>
        </p:spPr>
      </p:pic>
      <p:cxnSp>
        <p:nvCxnSpPr>
          <p:cNvPr id="24" name="pair line 2"/>
          <p:cNvCxnSpPr/>
          <p:nvPr/>
        </p:nvCxnSpPr>
        <p:spPr>
          <a:xfrm flipV="1">
            <a:off x="4279392" y="2720340"/>
            <a:ext cx="3602736" cy="1371600"/>
          </a:xfrm>
          <a:prstGeom prst="line">
            <a:avLst/>
          </a:prstGeom>
          <a:ln w="63500" cap="rnd">
            <a:solidFill>
              <a:srgbClr val="FF6B6B"/>
            </a:solidFill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pick bone 2"/>
          <p:cNvSpPr/>
          <p:nvPr/>
        </p:nvSpPr>
        <p:spPr>
          <a:xfrm>
            <a:off x="548640" y="3566160"/>
            <a:ext cx="3657600" cy="105156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bone card 3"/>
          <p:cNvSpPr/>
          <p:nvPr/>
        </p:nvSpPr>
        <p:spPr>
          <a:xfrm>
            <a:off x="548640" y="4937760"/>
            <a:ext cx="3657600" cy="1051560"/>
          </a:xfrm>
          <a:prstGeom prst="roundRect">
            <a:avLst>
              <a:gd name="adj" fmla="val 21739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7" name="bone photo 3" descr=""/>
          <p:cNvPicPr>
            <a:picLocks noChangeAspect="1"/>
          </p:cNvPicPr>
          <p:nvPr/>
        </p:nvPicPr>
        <p:blipFill>
          <a:blip r:embed="rId10"/>
          <a:srcRect l="35000" r="35000" t="29800" b="47800"/>
          <a:stretch>
            <a:fillRect/>
          </a:stretch>
        </p:blipFill>
        <p:spPr>
          <a:xfrm>
            <a:off x="685800" y="5056632"/>
            <a:ext cx="813816" cy="813816"/>
          </a:xfrm>
          <a:prstGeom prst="ellipse">
            <a:avLst/>
          </a:prstGeom>
          <a:ln w="45720">
            <a:solidFill>
              <a:srgbClr val="13A386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28" name="bone text 3" descr="Позвоночник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27632" y="4919472"/>
            <a:ext cx="2505456" cy="1088136"/>
          </a:xfrm>
          <a:prstGeom prst="rect">
            <a:avLst/>
          </a:prstGeom>
        </p:spPr>
      </p:pic>
      <p:cxnSp>
        <p:nvCxnSpPr>
          <p:cNvPr id="29" name="pair line 3"/>
          <p:cNvCxnSpPr/>
          <p:nvPr/>
        </p:nvCxnSpPr>
        <p:spPr>
          <a:xfrm>
            <a:off x="4279392" y="5463540"/>
            <a:ext cx="3602736" cy="0"/>
          </a:xfrm>
          <a:prstGeom prst="line">
            <a:avLst/>
          </a:prstGeom>
          <a:ln w="63500" cap="rnd">
            <a:solidFill>
              <a:srgbClr val="13A386"/>
            </a:solidFill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ick bone 3"/>
          <p:cNvSpPr/>
          <p:nvPr/>
        </p:nvSpPr>
        <p:spPr>
          <a:xfrm>
            <a:off x="548640" y="4937760"/>
            <a:ext cx="3657600" cy="1051560"/>
          </a:xfrm>
          <a:prstGeom prst="round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!!next" descr="Следующая игра  »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35744" y="5998464"/>
            <a:ext cx="2750872" cy="768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 advClick="0">
        <p14:conveyor dir="l"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8"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6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1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600"/>
                            </p:stCondLst>
                            <p:childTnLst>
                              <p:par>
                                <p:cTn id="1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23" display="0" masterRel="sameClick">
                                          <p:stCondLst>
                                            <p:cond evt="begin" delay="0">
                                              <p:tn val="20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6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4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22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6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38" display="0" masterRel="sameClick">
                                          <p:stCondLst>
                                            <p:cond evt="begin" delay="0">
                                              <p:tn val="3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6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0" dur="250" autoRev="1" fill="hold"/>
                                        <p:tgtEl>
                                          <p:spTgt spid="2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600"/>
                            </p:stCondLst>
                            <p:childTnLst>
                              <p:par>
                                <p:cTn id="4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</p:childTnLst>
        </p:cTn>
      </p:par>
    </p:tnLst>
    <p:bldLst>
      <p:bldP spid="12" grpId="0" animBg="1"/>
      <p:bldP spid="9" grpId="0" animBg="1"/>
      <p:bldP spid="15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lilac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13A386"/>
                </a:solidFill>
                <a:latin typeface="Arial"/>
                <a:cs typeface="Arial"/>
              </a:rPr>
              <a:t>ИГРА</a:t>
            </a:r>
          </a:p>
        </p:txBody>
      </p:sp>
      <p:pic>
        <p:nvPicPr>
          <p:cNvPr id="4" name="Title" descr="Верю — не верю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tf hint" descr="Это правда или нет? Нажмите на карточку, чтобы перевернуть её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1444752"/>
            <a:ext cx="10552176" cy="539496"/>
          </a:xfrm>
          <a:prstGeom prst="rect">
            <a:avLst/>
          </a:prstGeom>
        </p:spPr>
      </p:pic>
      <p:pic>
        <p:nvPicPr>
          <p:cNvPr id="7" name="tf back 1" descr="ВЕРЮ!&#10;&#10;Сердце — мышца, которая работает без отдыха всю жизнь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2336" y="1956816"/>
            <a:ext cx="2898648" cy="3950208"/>
          </a:xfrm>
          <a:prstGeom prst="rect">
            <a:avLst/>
          </a:prstGeom>
        </p:spPr>
      </p:pic>
      <p:pic>
        <p:nvPicPr>
          <p:cNvPr id="8" name="tf front 1" descr="?&#10;Сердце — это тоже мышца&#10;&#10;верю или не верю?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2336" y="1956816"/>
            <a:ext cx="2898648" cy="3950208"/>
          </a:xfrm>
          <a:prstGeom prst="rect">
            <a:avLst/>
          </a:prstGeom>
        </p:spPr>
      </p:pic>
      <p:pic>
        <p:nvPicPr>
          <p:cNvPr id="9" name="tf back 2" descr="НЕ ВЕРЮ!&#10;&#10;Он состоит из 33–34 позвонков, поэтому гнётся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27832" y="1956816"/>
            <a:ext cx="2898648" cy="3950208"/>
          </a:xfrm>
          <a:prstGeom prst="rect">
            <a:avLst/>
          </a:prstGeom>
        </p:spPr>
      </p:pic>
      <p:pic>
        <p:nvPicPr>
          <p:cNvPr id="10" name="tf front 2" descr="?&#10;Позвоночник — это одна длинная кость&#10;&#10;верю или не верю?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27832" y="1956816"/>
            <a:ext cx="2898648" cy="3950208"/>
          </a:xfrm>
          <a:prstGeom prst="rect">
            <a:avLst/>
          </a:prstGeom>
        </p:spPr>
      </p:pic>
      <p:pic>
        <p:nvPicPr>
          <p:cNvPr id="11" name="tf back 3" descr="ВЕРЮ!&#10;&#10;Это стремечко — всего около 3 мм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3328" y="1956816"/>
            <a:ext cx="2898648" cy="3950208"/>
          </a:xfrm>
          <a:prstGeom prst="rect">
            <a:avLst/>
          </a:prstGeom>
        </p:spPr>
      </p:pic>
      <p:pic>
        <p:nvPicPr>
          <p:cNvPr id="12" name="tf front 3" descr="?&#10;Самая маленькая косточка находится в ухе&#10;&#10;верю или не верю?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53328" y="1956816"/>
            <a:ext cx="2898648" cy="3950208"/>
          </a:xfrm>
          <a:prstGeom prst="rect">
            <a:avLst/>
          </a:prstGeom>
        </p:spPr>
      </p:pic>
      <p:pic>
        <p:nvPicPr>
          <p:cNvPr id="13" name="tf back 4" descr="НЕ ВЕРЮ!&#10;&#10;Мышцы крепнут, когда мы двигаемся и занимаемся спортом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8824" y="1956816"/>
            <a:ext cx="2898648" cy="3950208"/>
          </a:xfrm>
          <a:prstGeom prst="rect">
            <a:avLst/>
          </a:prstGeom>
        </p:spPr>
      </p:pic>
      <p:pic>
        <p:nvPicPr>
          <p:cNvPr id="14" name="tf front 4" descr="?&#10;Чтобы мышцы были сильными, нужно больше лежать&#10;&#10;верю или не верю?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78824" y="1956816"/>
            <a:ext cx="2898648" cy="3950208"/>
          </a:xfrm>
          <a:prstGeom prst="rect">
            <a:avLst/>
          </a:prstGeom>
        </p:spPr>
      </p:pic>
      <p:pic>
        <p:nvPicPr>
          <p:cNvPr id="15" name="!!next" descr="Онлайн-задание  »">
            <a:hlinkClick action="ppaction://hlinksldjump" r:id="rId16"/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80571" y="5998464"/>
            <a:ext cx="2706045" cy="768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 advClick="0">
        <p14:flip dir="r"/>
      </p:transition>
    </mc:Choice>
    <mc:Fallback>
      <p:transition spd="slow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26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26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id="9"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7" name="fli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60"/>
                            </p:stCondLst>
                            <p:childTnLst>
                              <p:par>
                                <p:cTn id="11" presetID="17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15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6" fill="hold">
                      <p:stCondLst>
                        <p:cond delay="0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7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" dur="26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6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id="22"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7" name="fli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60"/>
                            </p:stCondLst>
                            <p:childTnLst>
                              <p:par>
                                <p:cTn id="24" presetID="17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7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2" dur="26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26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id="35"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7" name="fli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60"/>
                            </p:stCondLst>
                            <p:childTnLst>
                              <p:par>
                                <p:cTn id="37" presetID="17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2"/>
                  </p:tgtEl>
                </p:cond>
              </p:nextCondLst>
            </p:seq>
            <p:seq concurrent="1" nextAc="seek">
              <p:cTn id="41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2" fill="hold">
                      <p:stCondLst>
                        <p:cond delay="0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7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5" dur="26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26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25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id="48" display="0" masterRel="sameClick">
                                          <p:stCondLst>
                                            <p:cond evt="begin" delay="0">
                                              <p:tn val="44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7" name="fli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60"/>
                            </p:stCondLst>
                            <p:childTnLst>
                              <p:par>
                                <p:cTn id="50" presetID="17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3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mint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3BA7F5"/>
                </a:solidFill>
                <a:latin typeface="Arial"/>
                <a:cs typeface="Arial"/>
              </a:rPr>
              <a:t>ОНЛАЙН-ЗАДАНИЕ</a:t>
            </a:r>
          </a:p>
        </p:txBody>
      </p:sp>
      <p:pic>
        <p:nvPicPr>
          <p:cNvPr id="4" name="Title" descr="Играем онлайн!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!!mascot" descr="Костик — весёлый скелетик-экскурсовод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1769" y="1737360"/>
            <a:ext cx="2114142" cy="4937760"/>
          </a:xfrm>
          <a:prstGeom prst="rect">
            <a:avLst/>
          </a:prstGeom>
        </p:spPr>
      </p:pic>
      <p:sp>
        <p:nvSpPr>
          <p:cNvPr id="7" name="online card"/>
          <p:cNvSpPr/>
          <p:nvPr/>
        </p:nvSpPr>
        <p:spPr>
          <a:xfrm>
            <a:off x="4206240" y="1691640"/>
            <a:ext cx="7434072" cy="4526280"/>
          </a:xfrm>
          <a:prstGeom prst="roundRect">
            <a:avLst>
              <a:gd name="adj" fmla="val 505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8" name="online head" descr="Игра «Костик и тайны скелета»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7992" y="1856232"/>
            <a:ext cx="6894576" cy="585216"/>
          </a:xfrm>
          <a:prstGeom prst="rect">
            <a:avLst/>
          </a:prstGeom>
        </p:spPr>
      </p:pic>
      <p:pic>
        <p:nvPicPr>
          <p:cNvPr id="9" name="level num 1" descr="0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7992" y="2542032"/>
            <a:ext cx="768096" cy="585216"/>
          </a:xfrm>
          <a:prstGeom prst="rect">
            <a:avLst/>
          </a:prstGeom>
        </p:spPr>
      </p:pic>
      <p:sp>
        <p:nvSpPr>
          <p:cNvPr id="10" name="level text 1"/>
          <p:cNvSpPr txBox="1"/>
          <p:nvPr/>
        </p:nvSpPr>
        <p:spPr>
          <a:xfrm>
            <a:off x="5303520" y="2560320"/>
            <a:ext cx="61264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1" i="0" lang="ru-RU">
                <a:solidFill>
                  <a:srgbClr val="2B2A5A"/>
                </a:solidFill>
                <a:latin typeface="Arial"/>
                <a:cs typeface="Arial"/>
              </a:rPr>
              <a:t>Подбери к каждой кости её работу</a:t>
            </a:r>
          </a:p>
        </p:txBody>
      </p:sp>
      <p:pic>
        <p:nvPicPr>
          <p:cNvPr id="11" name="level num 2" descr="0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7992" y="3163824"/>
            <a:ext cx="768096" cy="585216"/>
          </a:xfrm>
          <a:prstGeom prst="rect">
            <a:avLst/>
          </a:prstGeom>
        </p:spPr>
      </p:pic>
      <p:sp>
        <p:nvSpPr>
          <p:cNvPr id="12" name="level text 2"/>
          <p:cNvSpPr txBox="1"/>
          <p:nvPr/>
        </p:nvSpPr>
        <p:spPr>
          <a:xfrm>
            <a:off x="5303520" y="3182112"/>
            <a:ext cx="61264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1" i="0" lang="ru-RU">
                <a:solidFill>
                  <a:srgbClr val="2B2A5A"/>
                </a:solidFill>
                <a:latin typeface="Arial"/>
                <a:cs typeface="Arial"/>
              </a:rPr>
              <a:t>«Верно или неверно» — на время</a:t>
            </a:r>
          </a:p>
        </p:txBody>
      </p:sp>
      <p:pic>
        <p:nvPicPr>
          <p:cNvPr id="13" name="level num 3" descr="0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07992" y="3785616"/>
            <a:ext cx="768096" cy="585216"/>
          </a:xfrm>
          <a:prstGeom prst="rect">
            <a:avLst/>
          </a:prstGeom>
        </p:spPr>
      </p:pic>
      <p:sp>
        <p:nvSpPr>
          <p:cNvPr id="14" name="level text 3"/>
          <p:cNvSpPr txBox="1"/>
          <p:nvPr/>
        </p:nvSpPr>
        <p:spPr>
          <a:xfrm>
            <a:off x="5303520" y="3803904"/>
            <a:ext cx="61264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700" b="1" i="0" lang="ru-RU">
                <a:solidFill>
                  <a:srgbClr val="2B2A5A"/>
                </a:solidFill>
                <a:latin typeface="Arial"/>
                <a:cs typeface="Arial"/>
              </a:rPr>
              <a:t>Полезно или вредно для осанки?</a:t>
            </a:r>
          </a:p>
        </p:txBody>
      </p:sp>
      <p:pic>
        <p:nvPicPr>
          <p:cNvPr id="15" name="play online" descr="ИГРАТЬ ОНЛАЙН  »">
            <a:hlinkClick r:id="rId12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79976" y="4471416"/>
            <a:ext cx="4498848" cy="1161288"/>
          </a:xfrm>
          <a:prstGeom prst="rect">
            <a:avLst/>
          </a:prstGeom>
        </p:spPr>
      </p:pic>
      <p:sp>
        <p:nvSpPr>
          <p:cNvPr id="16" name="online url">
            <a:hlinkClick r:id="rId12"/>
          </p:cNvPr>
          <p:cNvSpPr txBox="1"/>
          <p:nvPr/>
        </p:nvSpPr>
        <p:spPr>
          <a:xfrm>
            <a:off x="4526280" y="557784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 lang="ru-RU">
                <a:solidFill>
                  <a:srgbClr val="6B6A8E"/>
                </a:solidFill>
                <a:latin typeface="Arial"/>
                <a:cs typeface="Arial"/>
              </a:rPr>
              <a:t>kostik-skeleton.lovable.app</a:t>
            </a:r>
          </a:p>
        </p:txBody>
      </p:sp>
      <p:pic>
        <p:nvPicPr>
          <p:cNvPr id="17" name="qr game" descr="QR-код на онлайн-игру">
            <a:hlinkClick r:id="rId12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5520" y="4206240"/>
            <a:ext cx="1508760" cy="1508760"/>
          </a:xfrm>
          <a:prstGeom prst="rect">
            <a:avLst/>
          </a:prstGeom>
        </p:spPr>
      </p:pic>
      <p:pic>
        <p:nvPicPr>
          <p:cNvPr id="18" name="qr game text" descr="сканируй QR-код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445752" y="5669280"/>
            <a:ext cx="2368296" cy="4937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="http://schemas.microsoft.com/office/powerpoint/2012/main" Requires="p15">
      <p:transition spd="slow" p14:dur="1800">
        <p15:prstTrans prst="airplan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800"/>
                            </p:stCondLst>
                            <p:childTnLst>
                              <p:par>
                                <p:cTn id="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5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4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44" display="0" masterRel="sameClick">
                                          <p:stCondLst>
                                            <p:cond evt="begin" delay="0">
                                              <p:tn val="39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5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200"/>
                            </p:stCondLst>
                            <p:childTnLst>
                              <p:par>
                                <p:cTn id="57" presetID="6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8" dur="400" autoRev="1" fill="hold"/>
                                        <p:tgtEl>
                                          <p:spTgt spid="15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sky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FF9F43"/>
                </a:solidFill>
                <a:latin typeface="Arial"/>
                <a:cs typeface="Arial"/>
              </a:rPr>
              <a:t>ПОДВЕДЁМ ИТОГИ</a:t>
            </a:r>
          </a:p>
        </p:txBody>
      </p:sp>
      <p:pic>
        <p:nvPicPr>
          <p:cNvPr id="4" name="Title" descr="Закончи предложение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sp>
        <p:nvSpPr>
          <p:cNvPr id="6" name="sentence 1"/>
          <p:cNvSpPr/>
          <p:nvPr/>
        </p:nvSpPr>
        <p:spPr>
          <a:xfrm>
            <a:off x="548640" y="1737360"/>
            <a:ext cx="7863840" cy="749808"/>
          </a:xfrm>
          <a:prstGeom prst="roundRect">
            <a:avLst>
              <a:gd name="adj" fmla="val 30487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7" name="sentence num 1" descr="0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52" y="1719072"/>
            <a:ext cx="768096" cy="786384"/>
          </a:xfrm>
          <a:prstGeom prst="rect">
            <a:avLst/>
          </a:prstGeom>
        </p:spPr>
      </p:pic>
      <p:sp>
        <p:nvSpPr>
          <p:cNvPr id="8" name="sentence text 1"/>
          <p:cNvSpPr txBox="1"/>
          <p:nvPr/>
        </p:nvSpPr>
        <p:spPr>
          <a:xfrm>
            <a:off x="1554480" y="1737360"/>
            <a:ext cx="676656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 lang="ru-RU">
                <a:solidFill>
                  <a:srgbClr val="2B2A5A"/>
                </a:solidFill>
                <a:latin typeface="Arial"/>
                <a:cs typeface="Arial"/>
              </a:rPr>
              <a:t>Опора нашего тела — это…</a:t>
            </a:r>
          </a:p>
        </p:txBody>
      </p:sp>
      <p:sp>
        <p:nvSpPr>
          <p:cNvPr id="9" name="slot 1"/>
          <p:cNvSpPr/>
          <p:nvPr/>
        </p:nvSpPr>
        <p:spPr>
          <a:xfrm>
            <a:off x="8641080" y="1801368"/>
            <a:ext cx="2999232" cy="621792"/>
          </a:xfrm>
          <a:prstGeom prst="roundRect">
            <a:avLst>
              <a:gd name="adj" fmla="val 50000"/>
            </a:avLst>
          </a:prstGeom>
          <a:solidFill>
            <a:srgbClr val="FFFFFF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answer word 1" descr="СКЕЛЕТ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1655064"/>
            <a:ext cx="3291840" cy="914400"/>
          </a:xfrm>
          <a:prstGeom prst="rect">
            <a:avLst/>
          </a:prstGeom>
        </p:spPr>
      </p:pic>
      <p:sp>
        <p:nvSpPr>
          <p:cNvPr id="11" name="sentence 2"/>
          <p:cNvSpPr/>
          <p:nvPr/>
        </p:nvSpPr>
        <p:spPr>
          <a:xfrm>
            <a:off x="548640" y="2624328"/>
            <a:ext cx="7863840" cy="749808"/>
          </a:xfrm>
          <a:prstGeom prst="roundRect">
            <a:avLst>
              <a:gd name="adj" fmla="val 30487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2" name="sentence num 2" descr="0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952" y="2606040"/>
            <a:ext cx="768096" cy="786384"/>
          </a:xfrm>
          <a:prstGeom prst="rect">
            <a:avLst/>
          </a:prstGeom>
        </p:spPr>
      </p:pic>
      <p:sp>
        <p:nvSpPr>
          <p:cNvPr id="13" name="sentence text 2"/>
          <p:cNvSpPr txBox="1"/>
          <p:nvPr/>
        </p:nvSpPr>
        <p:spPr>
          <a:xfrm>
            <a:off x="1554480" y="2624328"/>
            <a:ext cx="676656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 lang="ru-RU">
                <a:solidFill>
                  <a:srgbClr val="2B2A5A"/>
                </a:solidFill>
                <a:latin typeface="Arial"/>
                <a:cs typeface="Arial"/>
              </a:rPr>
              <a:t>Головной мозг защищает…</a:t>
            </a:r>
          </a:p>
        </p:txBody>
      </p:sp>
      <p:sp>
        <p:nvSpPr>
          <p:cNvPr id="14" name="slot 2"/>
          <p:cNvSpPr/>
          <p:nvPr/>
        </p:nvSpPr>
        <p:spPr>
          <a:xfrm>
            <a:off x="8641080" y="2688336"/>
            <a:ext cx="2999232" cy="621792"/>
          </a:xfrm>
          <a:prstGeom prst="roundRect">
            <a:avLst>
              <a:gd name="adj" fmla="val 50000"/>
            </a:avLst>
          </a:prstGeom>
          <a:solidFill>
            <a:srgbClr val="FFFFFF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answer word 2" descr="ЧЕРЕП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94776" y="2542032"/>
            <a:ext cx="3291840" cy="914400"/>
          </a:xfrm>
          <a:prstGeom prst="rect">
            <a:avLst/>
          </a:prstGeom>
        </p:spPr>
      </p:pic>
      <p:sp>
        <p:nvSpPr>
          <p:cNvPr id="16" name="sentence 3"/>
          <p:cNvSpPr/>
          <p:nvPr/>
        </p:nvSpPr>
        <p:spPr>
          <a:xfrm>
            <a:off x="548640" y="3511296"/>
            <a:ext cx="7863840" cy="749808"/>
          </a:xfrm>
          <a:prstGeom prst="roundRect">
            <a:avLst>
              <a:gd name="adj" fmla="val 30487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7" name="sentence num 3" descr="0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8952" y="3493008"/>
            <a:ext cx="768096" cy="786384"/>
          </a:xfrm>
          <a:prstGeom prst="rect">
            <a:avLst/>
          </a:prstGeom>
        </p:spPr>
      </p:pic>
      <p:sp>
        <p:nvSpPr>
          <p:cNvPr id="18" name="sentence text 3"/>
          <p:cNvSpPr txBox="1"/>
          <p:nvPr/>
        </p:nvSpPr>
        <p:spPr>
          <a:xfrm>
            <a:off x="1554480" y="3511296"/>
            <a:ext cx="676656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 lang="ru-RU">
                <a:solidFill>
                  <a:srgbClr val="2B2A5A"/>
                </a:solidFill>
                <a:latin typeface="Arial"/>
                <a:cs typeface="Arial"/>
              </a:rPr>
              <a:t>Подвижные соединения костей — это…</a:t>
            </a:r>
          </a:p>
        </p:txBody>
      </p:sp>
      <p:sp>
        <p:nvSpPr>
          <p:cNvPr id="19" name="slot 3"/>
          <p:cNvSpPr/>
          <p:nvPr/>
        </p:nvSpPr>
        <p:spPr>
          <a:xfrm>
            <a:off x="8641080" y="3575304"/>
            <a:ext cx="2999232" cy="621792"/>
          </a:xfrm>
          <a:prstGeom prst="roundRect">
            <a:avLst>
              <a:gd name="adj" fmla="val 50000"/>
            </a:avLst>
          </a:prstGeom>
          <a:solidFill>
            <a:srgbClr val="FFFFFF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answer word 3" descr="СУСТАВЫ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4776" y="3429000"/>
            <a:ext cx="3291840" cy="914400"/>
          </a:xfrm>
          <a:prstGeom prst="rect">
            <a:avLst/>
          </a:prstGeom>
        </p:spPr>
      </p:pic>
      <p:sp>
        <p:nvSpPr>
          <p:cNvPr id="21" name="sentence 4"/>
          <p:cNvSpPr/>
          <p:nvPr/>
        </p:nvSpPr>
        <p:spPr>
          <a:xfrm>
            <a:off x="548640" y="4398264"/>
            <a:ext cx="7863840" cy="749808"/>
          </a:xfrm>
          <a:prstGeom prst="roundRect">
            <a:avLst>
              <a:gd name="adj" fmla="val 30487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2" name="sentence num 4" descr="04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8952" y="4379976"/>
            <a:ext cx="768096" cy="786384"/>
          </a:xfrm>
          <a:prstGeom prst="rect">
            <a:avLst/>
          </a:prstGeom>
        </p:spPr>
      </p:pic>
      <p:sp>
        <p:nvSpPr>
          <p:cNvPr id="23" name="sentence text 4"/>
          <p:cNvSpPr txBox="1"/>
          <p:nvPr/>
        </p:nvSpPr>
        <p:spPr>
          <a:xfrm>
            <a:off x="1554480" y="4398264"/>
            <a:ext cx="676656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 lang="ru-RU">
                <a:solidFill>
                  <a:srgbClr val="2B2A5A"/>
                </a:solidFill>
                <a:latin typeface="Arial"/>
                <a:cs typeface="Arial"/>
              </a:rPr>
              <a:t>Кости приводят в движение…</a:t>
            </a:r>
          </a:p>
        </p:txBody>
      </p:sp>
      <p:sp>
        <p:nvSpPr>
          <p:cNvPr id="24" name="slot 4"/>
          <p:cNvSpPr/>
          <p:nvPr/>
        </p:nvSpPr>
        <p:spPr>
          <a:xfrm>
            <a:off x="8641080" y="4462272"/>
            <a:ext cx="2999232" cy="621792"/>
          </a:xfrm>
          <a:prstGeom prst="roundRect">
            <a:avLst>
              <a:gd name="adj" fmla="val 50000"/>
            </a:avLst>
          </a:prstGeom>
          <a:solidFill>
            <a:srgbClr val="FFFFFF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answer word 4" descr="МЫШЦЫ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94776" y="4315968"/>
            <a:ext cx="3291840" cy="914400"/>
          </a:xfrm>
          <a:prstGeom prst="rect">
            <a:avLst/>
          </a:prstGeom>
        </p:spPr>
      </p:pic>
      <p:sp>
        <p:nvSpPr>
          <p:cNvPr id="26" name="sentence 5"/>
          <p:cNvSpPr/>
          <p:nvPr/>
        </p:nvSpPr>
        <p:spPr>
          <a:xfrm>
            <a:off x="548640" y="5285232"/>
            <a:ext cx="7863840" cy="749808"/>
          </a:xfrm>
          <a:prstGeom prst="roundRect">
            <a:avLst>
              <a:gd name="adj" fmla="val 30487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7" name="sentence num 5" descr="0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8952" y="5266944"/>
            <a:ext cx="768096" cy="786384"/>
          </a:xfrm>
          <a:prstGeom prst="rect">
            <a:avLst/>
          </a:prstGeom>
        </p:spPr>
      </p:pic>
      <p:sp>
        <p:nvSpPr>
          <p:cNvPr id="28" name="sentence text 5"/>
          <p:cNvSpPr txBox="1"/>
          <p:nvPr/>
        </p:nvSpPr>
        <p:spPr>
          <a:xfrm>
            <a:off x="1554480" y="5285232"/>
            <a:ext cx="6766560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900" b="1" i="0" lang="ru-RU">
                <a:solidFill>
                  <a:srgbClr val="2B2A5A"/>
                </a:solidFill>
                <a:latin typeface="Arial"/>
                <a:cs typeface="Arial"/>
              </a:rPr>
              <a:t>Правильное положение тела — это…</a:t>
            </a:r>
          </a:p>
        </p:txBody>
      </p:sp>
      <p:sp>
        <p:nvSpPr>
          <p:cNvPr id="29" name="slot 5"/>
          <p:cNvSpPr/>
          <p:nvPr/>
        </p:nvSpPr>
        <p:spPr>
          <a:xfrm>
            <a:off x="8641080" y="5349240"/>
            <a:ext cx="2999232" cy="621792"/>
          </a:xfrm>
          <a:prstGeom prst="roundRect">
            <a:avLst>
              <a:gd name="adj" fmla="val 50000"/>
            </a:avLst>
          </a:prstGeom>
          <a:solidFill>
            <a:srgbClr val="FFFFFF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answer word 5" descr="ОСАНКА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94776" y="5202936"/>
            <a:ext cx="3291840" cy="9144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800">
        <p14:vortex dir="r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8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8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8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4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24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87" display="0" masterRel="sameClick">
                                          <p:stCondLst>
                                            <p:cond evt="begin" delay="0">
                                              <p:tn val="82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6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24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95" display="0" masterRel="sameClick">
                                          <p:stCondLst>
                                            <p:cond evt="begin" delay="0">
                                              <p:tn val="90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6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0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6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24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103" display="0" masterRel="sameClick">
                                          <p:stCondLst>
                                            <p:cond evt="begin" delay="0">
                                              <p:tn val="98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6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8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0" dur="24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111" display="0" masterRel="sameClick">
                                          <p:stCondLst>
                                            <p:cond evt="begin" delay="0">
                                              <p:tn val="106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6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6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8" dur="24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119" display="0" masterRel="sameClick">
                                          <p:stCondLst>
                                            <p:cond evt="begin" delay="0">
                                              <p:tn val="114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6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1" grpId="0" animBg="1"/>
      <p:bldP spid="13" grpId="0" animBg="1"/>
      <p:bldP spid="14" grpId="0" animBg="1"/>
      <p:bldP spid="16" grpId="0" animBg="1"/>
      <p:bldP spid="18" grpId="0" animBg="1"/>
      <p:bldP spid="19" grpId="0" animBg="1"/>
      <p:bldP spid="21" grpId="0" animBg="1"/>
      <p:bldP spid="23" grpId="0" animBg="1"/>
      <p:bldP spid="24" grpId="0" animBg="1"/>
      <p:bldP spid="26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sun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B36B00"/>
                </a:solidFill>
                <a:latin typeface="Arial"/>
                <a:cs typeface="Arial"/>
              </a:rPr>
              <a:t>ИНФОГРАФИКА</a:t>
            </a:r>
          </a:p>
        </p:txBody>
      </p:sp>
      <p:pic>
        <p:nvPicPr>
          <p:cNvPr id="4" name="Title" descr="Что мы узнали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sp>
        <p:nvSpPr>
          <p:cNvPr id="6" name="center circle"/>
          <p:cNvSpPr/>
          <p:nvPr/>
        </p:nvSpPr>
        <p:spPr>
          <a:xfrm>
            <a:off x="4453128" y="1828800"/>
            <a:ext cx="3291840" cy="3291840"/>
          </a:xfrm>
          <a:prstGeom prst="roundRect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7" name="!!mascot" descr="Костик — весёлый скелетик-экскурсовод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5185" y="2057400"/>
            <a:ext cx="2027725" cy="3017520"/>
          </a:xfrm>
          <a:prstGeom prst="rect">
            <a:avLst/>
          </a:prstGeom>
        </p:spPr>
      </p:pic>
      <p:pic>
        <p:nvPicPr>
          <p:cNvPr id="8" name="formula" descr="Скелет + мышцы = движение!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9624" y="5202936"/>
            <a:ext cx="4498848" cy="978408"/>
          </a:xfrm>
          <a:prstGeom prst="rect">
            <a:avLst/>
          </a:prstGeom>
        </p:spPr>
      </p:pic>
      <p:sp>
        <p:nvSpPr>
          <p:cNvPr id="9" name="info card 1"/>
          <p:cNvSpPr/>
          <p:nvPr/>
        </p:nvSpPr>
        <p:spPr>
          <a:xfrm>
            <a:off x="548640" y="1783080"/>
            <a:ext cx="3566160" cy="1874520"/>
          </a:xfrm>
          <a:prstGeom prst="roundRect">
            <a:avLst>
              <a:gd name="adj" fmla="val 12195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0" name="info photo 1" descr=""/>
          <p:cNvPicPr>
            <a:picLocks noChangeAspect="1"/>
          </p:cNvPicPr>
          <p:nvPr/>
        </p:nvPicPr>
        <p:blipFill>
          <a:blip r:embed="rId8"/>
          <a:srcRect l="20000" r="20000" t="7600" b="47600"/>
          <a:stretch>
            <a:fillRect/>
          </a:stretch>
        </p:blipFill>
        <p:spPr>
          <a:xfrm>
            <a:off x="749808" y="1984248"/>
            <a:ext cx="868680" cy="868680"/>
          </a:xfrm>
          <a:prstGeom prst="ellipse">
            <a:avLst/>
          </a:prstGeom>
          <a:ln w="45720">
            <a:solidFill>
              <a:srgbClr val="6C5CE7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11" name="info head 1" descr="Скелет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64792" y="2084832"/>
            <a:ext cx="2276856" cy="585216"/>
          </a:xfrm>
          <a:prstGeom prst="rect">
            <a:avLst/>
          </a:prstGeom>
        </p:spPr>
      </p:pic>
      <p:sp>
        <p:nvSpPr>
          <p:cNvPr id="12" name="info text 1"/>
          <p:cNvSpPr txBox="1"/>
          <p:nvPr/>
        </p:nvSpPr>
        <p:spPr>
          <a:xfrm>
            <a:off x="777240" y="2926080"/>
            <a:ext cx="315468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206 костей. Опора и защита тела</a:t>
            </a:r>
          </a:p>
        </p:txBody>
      </p:sp>
      <p:sp>
        <p:nvSpPr>
          <p:cNvPr id="13" name="info card 2"/>
          <p:cNvSpPr/>
          <p:nvPr/>
        </p:nvSpPr>
        <p:spPr>
          <a:xfrm>
            <a:off x="8074152" y="1783080"/>
            <a:ext cx="3566160" cy="1874520"/>
          </a:xfrm>
          <a:prstGeom prst="roundRect">
            <a:avLst>
              <a:gd name="adj" fmla="val 12195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4" name="info photo 2" descr=""/>
          <p:cNvPicPr>
            <a:picLocks noChangeAspect="1"/>
          </p:cNvPicPr>
          <p:nvPr/>
        </p:nvPicPr>
        <p:blipFill>
          <a:blip r:embed="rId10"/>
          <a:srcRect l="54000" r="21000" t="26500" b="48500"/>
          <a:stretch>
            <a:fillRect/>
          </a:stretch>
        </p:blipFill>
        <p:spPr>
          <a:xfrm>
            <a:off x="8275320" y="1984248"/>
            <a:ext cx="868680" cy="868680"/>
          </a:xfrm>
          <a:prstGeom prst="ellipse">
            <a:avLst/>
          </a:prstGeom>
          <a:ln w="45720">
            <a:solidFill>
              <a:srgbClr val="13A386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15" name="info head 2" descr="Суставы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90304" y="2084832"/>
            <a:ext cx="2276856" cy="585216"/>
          </a:xfrm>
          <a:prstGeom prst="rect">
            <a:avLst/>
          </a:prstGeom>
        </p:spPr>
      </p:pic>
      <p:sp>
        <p:nvSpPr>
          <p:cNvPr id="16" name="info text 2"/>
          <p:cNvSpPr txBox="1"/>
          <p:nvPr/>
        </p:nvSpPr>
        <p:spPr>
          <a:xfrm>
            <a:off x="8302752" y="2926080"/>
            <a:ext cx="315468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Подвижные соединения: сгибаемся и поворачиваемся</a:t>
            </a:r>
          </a:p>
        </p:txBody>
      </p:sp>
      <p:sp>
        <p:nvSpPr>
          <p:cNvPr id="17" name="info card 3"/>
          <p:cNvSpPr/>
          <p:nvPr/>
        </p:nvSpPr>
        <p:spPr>
          <a:xfrm>
            <a:off x="548640" y="3931920"/>
            <a:ext cx="3566160" cy="1874520"/>
          </a:xfrm>
          <a:prstGeom prst="roundRect">
            <a:avLst>
              <a:gd name="adj" fmla="val 12195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8" name="info photo 3" descr=""/>
          <p:cNvPicPr>
            <a:picLocks noChangeAspect="1"/>
          </p:cNvPicPr>
          <p:nvPr/>
        </p:nvPicPr>
        <p:blipFill>
          <a:blip r:embed="rId12"/>
          <a:srcRect l="28333" r="34333" t="20000" b="30000"/>
          <a:stretch>
            <a:fillRect/>
          </a:stretch>
        </p:blipFill>
        <p:spPr>
          <a:xfrm>
            <a:off x="749808" y="4133088"/>
            <a:ext cx="868680" cy="868680"/>
          </a:xfrm>
          <a:prstGeom prst="ellipse">
            <a:avLst/>
          </a:prstGeom>
          <a:ln w="45720">
            <a:solidFill>
              <a:srgbClr val="FF6B6B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19" name="info head 3" descr="Мышцы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64792" y="4233672"/>
            <a:ext cx="2276856" cy="585216"/>
          </a:xfrm>
          <a:prstGeom prst="rect">
            <a:avLst/>
          </a:prstGeom>
        </p:spPr>
      </p:pic>
      <p:sp>
        <p:nvSpPr>
          <p:cNvPr id="20" name="info text 3"/>
          <p:cNvSpPr txBox="1"/>
          <p:nvPr/>
        </p:nvSpPr>
        <p:spPr>
          <a:xfrm>
            <a:off x="777240" y="5074920"/>
            <a:ext cx="315468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Больше 600. Приводят кости в движение</a:t>
            </a:r>
          </a:p>
        </p:txBody>
      </p:sp>
      <p:sp>
        <p:nvSpPr>
          <p:cNvPr id="21" name="info card 4"/>
          <p:cNvSpPr/>
          <p:nvPr/>
        </p:nvSpPr>
        <p:spPr>
          <a:xfrm>
            <a:off x="8074152" y="3931920"/>
            <a:ext cx="3566160" cy="1874520"/>
          </a:xfrm>
          <a:prstGeom prst="roundRect">
            <a:avLst>
              <a:gd name="adj" fmla="val 12195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2" name="info photo 4" descr=""/>
          <p:cNvPicPr>
            <a:picLocks noChangeAspect="1"/>
          </p:cNvPicPr>
          <p:nvPr/>
        </p:nvPicPr>
        <p:blipFill>
          <a:blip r:embed="rId14"/>
          <a:srcRect l="33876" r="9876" t="9000" b="29000"/>
          <a:stretch>
            <a:fillRect/>
          </a:stretch>
        </p:blipFill>
        <p:spPr>
          <a:xfrm>
            <a:off x="8275320" y="4133088"/>
            <a:ext cx="868680" cy="868680"/>
          </a:xfrm>
          <a:prstGeom prst="ellipse">
            <a:avLst/>
          </a:prstGeom>
          <a:ln w="45720">
            <a:solidFill>
              <a:srgbClr val="3BA7F5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23" name="info head 4" descr="Осанка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90304" y="4233672"/>
            <a:ext cx="2276856" cy="585216"/>
          </a:xfrm>
          <a:prstGeom prst="rect">
            <a:avLst/>
          </a:prstGeom>
        </p:spPr>
      </p:pic>
      <p:sp>
        <p:nvSpPr>
          <p:cNvPr id="24" name="info text 4"/>
          <p:cNvSpPr txBox="1"/>
          <p:nvPr/>
        </p:nvSpPr>
        <p:spPr>
          <a:xfrm>
            <a:off x="8302752" y="5074920"/>
            <a:ext cx="315468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Прямая спина — здоровое тело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800">
        <p14:honeycomb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26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3"/>
                                          </p:val>
                                        </p:tav>
                                        <p:tav tm="45000">
                                          <p:val>
                                            <p:strVal val="#ppt_y"/>
                                          </p:val>
                                        </p:tav>
                                        <p:tav tm="62000">
                                          <p:val>
                                            <p:strVal val="#ppt_y-0.06"/>
                                          </p:val>
                                        </p:tav>
                                        <p:tav tm="78000">
                                          <p:val>
                                            <p:strVal val="#ppt_y"/>
                                          </p:val>
                                        </p:tav>
                                        <p:tav tm="90000">
                                          <p:val>
                                            <p:strVal val="#ppt_y-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200"/>
                            </p:stCondLst>
                            <p:childTnLst>
                              <p:par>
                                <p:cTn id="1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2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24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3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2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24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3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24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3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650"/>
                            </p:stCondLst>
                            <p:childTnLst>
                              <p:par>
                                <p:cTn id="8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7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6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24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90" display="0" masterRel="sameClick">
                                          <p:stCondLst>
                                            <p:cond evt="begin" delay="0">
                                              <p:tn val="8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6" name="wi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2" grpId="0" animBg="1"/>
      <p:bldP spid="13" grpId="0" animBg="1"/>
      <p:bldP spid="16" grpId="0" animBg="1"/>
      <p:bldP spid="17" grpId="0" animBg="1"/>
      <p:bldP spid="20" grpId="0" animBg="1"/>
      <p:bldP spid="21" grpId="0" animBg="1"/>
      <p:bldP spid="24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mint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13846F"/>
                </a:solidFill>
                <a:latin typeface="Arial"/>
                <a:cs typeface="Arial"/>
              </a:rPr>
              <a:t>СОВЕТЫ КОСТИКА</a:t>
            </a:r>
          </a:p>
        </p:txBody>
      </p:sp>
      <p:pic>
        <p:nvPicPr>
          <p:cNvPr id="4" name="Title" descr="Крепкие кости и сильные мышцы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food" descr="Молоко, сыр, творог, рыба и другие полезные продукты"/>
          <p:cNvPicPr>
            <a:picLocks noChangeAspect="1"/>
          </p:cNvPicPr>
          <p:nvPr/>
        </p:nvPicPr>
        <p:blipFill>
          <a:blip r:embed="rId6"/>
          <a:srcRect l="5111" r="5111"/>
          <a:stretch>
            <a:fillRect/>
          </a:stretch>
        </p:blipFill>
        <p:spPr>
          <a:xfrm>
            <a:off x="548640" y="1691640"/>
            <a:ext cx="4572000" cy="3429000"/>
          </a:xfrm>
          <a:prstGeom prst="roundRect">
            <a:avLst>
              <a:gd name="adj" fmla="val 5866"/>
            </a:avLst>
          </a:prstGeom>
          <a:ln w="45720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7" name="sport" descr="Дети занимаются спортом в парке"/>
          <p:cNvPicPr>
            <a:picLocks noChangeAspect="1"/>
          </p:cNvPicPr>
          <p:nvPr/>
        </p:nvPicPr>
        <p:blipFill>
          <a:blip r:embed="rId7"/>
          <a:srcRect l="4000" r="4000"/>
          <a:stretch>
            <a:fillRect/>
          </a:stretch>
        </p:blipFill>
        <p:spPr>
          <a:xfrm>
            <a:off x="5349240" y="1691640"/>
            <a:ext cx="6291072" cy="3429000"/>
          </a:xfrm>
          <a:prstGeom prst="roundRect">
            <a:avLst>
              <a:gd name="adj" fmla="val 5866"/>
            </a:avLst>
          </a:prstGeom>
          <a:ln w="45720">
            <a:solidFill>
              <a:srgbClr val="FFFFFF"/>
            </a:solidFill>
          </a:ln>
          <a:effectLst>
            <a:outerShdw blurRad="320040" dist="91440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8" name="food tip"/>
          <p:cNvSpPr/>
          <p:nvPr/>
        </p:nvSpPr>
        <p:spPr>
          <a:xfrm>
            <a:off x="548640" y="5303520"/>
            <a:ext cx="4572000" cy="960120"/>
          </a:xfrm>
          <a:prstGeom prst="roundRect">
            <a:avLst>
              <a:gd name="adj" fmla="val 23809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9" name="food tip text"/>
          <p:cNvSpPr txBox="1"/>
          <p:nvPr/>
        </p:nvSpPr>
        <p:spPr>
          <a:xfrm>
            <a:off x="777240" y="5303520"/>
            <a:ext cx="420624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Ешь молоко, творог, сыр и рыбу — в них кальций для костей</a:t>
            </a:r>
          </a:p>
        </p:txBody>
      </p:sp>
      <p:sp>
        <p:nvSpPr>
          <p:cNvPr id="10" name="sport tip"/>
          <p:cNvSpPr/>
          <p:nvPr/>
        </p:nvSpPr>
        <p:spPr>
          <a:xfrm>
            <a:off x="5349240" y="5303520"/>
            <a:ext cx="6291072" cy="960120"/>
          </a:xfrm>
          <a:prstGeom prst="roundRect">
            <a:avLst>
              <a:gd name="adj" fmla="val 23809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1" name="sport tip text"/>
          <p:cNvSpPr txBox="1"/>
          <p:nvPr/>
        </p:nvSpPr>
        <p:spPr>
          <a:xfrm>
            <a:off x="5577840" y="5303520"/>
            <a:ext cx="585216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Двигайся: зарядка, прогулки, спорт. И высыпайся — 9–10 часов!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hero_e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FFC23C"/>
                </a:solidFill>
                <a:latin typeface="Arial"/>
                <a:cs typeface="Arial"/>
              </a:rPr>
              <a:t>РЕФЛЕКСИЯ</a:t>
            </a:r>
          </a:p>
        </p:txBody>
      </p:sp>
      <p:pic>
        <p:nvPicPr>
          <p:cNvPr id="4" name="Title" descr="Лесенка успех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pic>
        <p:nvPicPr>
          <p:cNvPr id="6" name="ladder hint" descr="Нажми на ступеньку, где ты сейчас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1444752"/>
            <a:ext cx="4791456" cy="585216"/>
          </a:xfrm>
          <a:prstGeom prst="rect">
            <a:avLst/>
          </a:prstGeom>
        </p:spPr>
      </p:pic>
      <p:pic>
        <p:nvPicPr>
          <p:cNvPr id="7" name="step 1" descr="Мне было трудно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096" y="4059936"/>
            <a:ext cx="3584448" cy="2532888"/>
          </a:xfrm>
          <a:prstGeom prst="rect">
            <a:avLst/>
          </a:prstGeom>
        </p:spPr>
      </p:pic>
      <p:pic>
        <p:nvPicPr>
          <p:cNvPr id="8" name="step msg 1" descr="Не страшно! Повтори дома — и всё получится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8992" y="5102352"/>
            <a:ext cx="2962656" cy="950976"/>
          </a:xfrm>
          <a:prstGeom prst="rect">
            <a:avLst/>
          </a:prstGeom>
        </p:spPr>
      </p:pic>
      <p:pic>
        <p:nvPicPr>
          <p:cNvPr id="9" name="step mascot 1" descr="Костик — весёлый скелетик-экскурсовод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58957" y="2377440"/>
            <a:ext cx="1202727" cy="1874520"/>
          </a:xfrm>
          <a:prstGeom prst="rect">
            <a:avLst/>
          </a:prstGeom>
        </p:spPr>
      </p:pic>
      <p:pic>
        <p:nvPicPr>
          <p:cNvPr id="10" name="step 2" descr="Есть вопросы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06824" y="3236976"/>
            <a:ext cx="3584448" cy="3355848"/>
          </a:xfrm>
          <a:prstGeom prst="rect">
            <a:avLst/>
          </a:prstGeom>
        </p:spPr>
      </p:pic>
      <p:pic>
        <p:nvPicPr>
          <p:cNvPr id="11" name="step msg 2" descr="Хорошо! Спроси учителя — и станешь знатоком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17720" y="4279392"/>
            <a:ext cx="2962656" cy="950976"/>
          </a:xfrm>
          <a:prstGeom prst="rect">
            <a:avLst/>
          </a:prstGeom>
        </p:spPr>
      </p:pic>
      <p:pic>
        <p:nvPicPr>
          <p:cNvPr id="12" name="step mascot 2" descr="Костик — весёлый скелетик-экскурсовод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23109" y="1554480"/>
            <a:ext cx="751877" cy="1874520"/>
          </a:xfrm>
          <a:prstGeom prst="rect">
            <a:avLst/>
          </a:prstGeom>
        </p:spPr>
      </p:pic>
      <p:pic>
        <p:nvPicPr>
          <p:cNvPr id="13" name="step 3" descr="Всё понятно! Могу объяснить другу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45552" y="2414016"/>
            <a:ext cx="3584448" cy="4178808"/>
          </a:xfrm>
          <a:prstGeom prst="rect">
            <a:avLst/>
          </a:prstGeom>
        </p:spPr>
      </p:pic>
      <p:pic>
        <p:nvPicPr>
          <p:cNvPr id="14" name="step msg 3" descr="Супер! Ты настоящий знаток скелета!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56448" y="3456432"/>
            <a:ext cx="2962656" cy="950976"/>
          </a:xfrm>
          <a:prstGeom prst="rect">
            <a:avLst/>
          </a:prstGeom>
        </p:spPr>
      </p:pic>
      <p:pic>
        <p:nvPicPr>
          <p:cNvPr id="15" name="step mascot 3" descr="Костик — весёлый скелетик-экскурсовод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07952" y="731520"/>
            <a:ext cx="1259648" cy="18745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glitter dir="l" pattern="hexagon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9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9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3"/>
                                          </p:val>
                                        </p:tav>
                                        <p:tav tm="45000">
                                          <p:val>
                                            <p:strVal val="#ppt_y"/>
                                          </p:val>
                                        </p:tav>
                                        <p:tav tm="62000">
                                          <p:val>
                                            <p:strVal val="#ppt_y-0.06"/>
                                          </p:val>
                                        </p:tav>
                                        <p:tav tm="78000">
                                          <p:val>
                                            <p:strVal val="#ppt_y"/>
                                          </p:val>
                                        </p:tav>
                                        <p:tav tm="90000">
                                          <p:val>
                                            <p:strVal val="#ppt_y-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7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10"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6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9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9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3"/>
                                          </p:val>
                                        </p:tav>
                                        <p:tav tm="45000">
                                          <p:val>
                                            <p:strVal val="#ppt_y"/>
                                          </p:val>
                                        </p:tav>
                                        <p:tav tm="62000">
                                          <p:val>
                                            <p:strVal val="#ppt_y-0.06"/>
                                          </p:val>
                                        </p:tav>
                                        <p:tav tm="78000">
                                          <p:val>
                                            <p:strVal val="#ppt_y"/>
                                          </p:val>
                                        </p:tav>
                                        <p:tav tm="90000">
                                          <p:val>
                                            <p:strVal val="#ppt_y-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7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22"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6" name="pop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9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9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3"/>
                                          </p:val>
                                        </p:tav>
                                        <p:tav tm="45000">
                                          <p:val>
                                            <p:strVal val="#ppt_y"/>
                                          </p:val>
                                        </p:tav>
                                        <p:tav tm="62000">
                                          <p:val>
                                            <p:strVal val="#ppt_y-0.06"/>
                                          </p:val>
                                        </p:tav>
                                        <p:tav tm="78000">
                                          <p:val>
                                            <p:strVal val="#ppt_y"/>
                                          </p:val>
                                        </p:tav>
                                        <p:tav tm="90000">
                                          <p:val>
                                            <p:strVal val="#ppt_y-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27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34"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7" name="wi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lilac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6C5CE7"/>
                </a:solidFill>
                <a:latin typeface="Arial"/>
                <a:cs typeface="Arial"/>
              </a:rPr>
              <a:t>РЕФЛЕКСИЯ</a:t>
            </a:r>
          </a:p>
        </p:txBody>
      </p:sp>
      <p:pic>
        <p:nvPicPr>
          <p:cNvPr id="4" name="Title" descr="Продолжи фразу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sp>
        <p:nvSpPr>
          <p:cNvPr id="6" name="phrase 1"/>
          <p:cNvSpPr/>
          <p:nvPr/>
        </p:nvSpPr>
        <p:spPr>
          <a:xfrm>
            <a:off x="548640" y="1828800"/>
            <a:ext cx="3566160" cy="3017520"/>
          </a:xfrm>
          <a:prstGeom prst="roundRect">
            <a:avLst>
              <a:gd name="adj" fmla="val 10606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7" name="phrase photo 1" descr=""/>
          <p:cNvPicPr>
            <a:picLocks noChangeAspect="1"/>
          </p:cNvPicPr>
          <p:nvPr/>
        </p:nvPicPr>
        <p:blipFill>
          <a:blip r:embed="rId6"/>
          <a:srcRect l="35000" r="35000" t="800" b="76800"/>
          <a:stretch>
            <a:fillRect/>
          </a:stretch>
        </p:blipFill>
        <p:spPr>
          <a:xfrm>
            <a:off x="822960" y="2103120"/>
            <a:ext cx="1051560" cy="1051560"/>
          </a:xfrm>
          <a:prstGeom prst="ellipse">
            <a:avLst/>
          </a:prstGeom>
          <a:ln w="45720">
            <a:solidFill>
              <a:srgbClr val="3BA7F5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8" name="phrase text 1" descr="Сегодня на уроке я узнал(а)…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3319272"/>
            <a:ext cx="3054096" cy="1408176"/>
          </a:xfrm>
          <a:prstGeom prst="rect">
            <a:avLst/>
          </a:prstGeom>
        </p:spPr>
      </p:pic>
      <p:pic>
        <p:nvPicPr>
          <p:cNvPr id="9" name="phrase star 1" descr=""/>
          <p:cNvPicPr>
            <a:picLocks noChangeAspect="1"/>
          </p:cNvPicPr>
          <p:nvPr/>
        </p:nvPicPr>
        <p:blipFill>
          <a:blip r:embed="rId8"/>
          <a:srcRect l="78428" r="3428" t="67000" b="13000"/>
          <a:stretch>
            <a:fillRect/>
          </a:stretch>
        </p:blipFill>
        <p:spPr>
          <a:xfrm>
            <a:off x="3063240" y="1554480"/>
            <a:ext cx="914400" cy="914400"/>
          </a:xfrm>
          <a:prstGeom prst="ellipse">
            <a:avLst/>
          </a:prstGeom>
          <a:ln w="45720">
            <a:solidFill>
              <a:srgbClr val="FFC23C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10" name="phrase 2"/>
          <p:cNvSpPr/>
          <p:nvPr/>
        </p:nvSpPr>
        <p:spPr>
          <a:xfrm>
            <a:off x="4311396" y="1828800"/>
            <a:ext cx="3566160" cy="3017520"/>
          </a:xfrm>
          <a:prstGeom prst="roundRect">
            <a:avLst>
              <a:gd name="adj" fmla="val 10606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1" name="phrase photo 2" descr=""/>
          <p:cNvPicPr>
            <a:picLocks noChangeAspect="1"/>
          </p:cNvPicPr>
          <p:nvPr/>
        </p:nvPicPr>
        <p:blipFill>
          <a:blip r:embed="rId9"/>
          <a:srcRect l="22932" r="22932" b="10000"/>
          <a:stretch>
            <a:fillRect/>
          </a:stretch>
        </p:blipFill>
        <p:spPr>
          <a:xfrm>
            <a:off x="4585716" y="2103120"/>
            <a:ext cx="1051560" cy="1051560"/>
          </a:xfrm>
          <a:prstGeom prst="ellipse">
            <a:avLst/>
          </a:prstGeom>
          <a:ln w="45720">
            <a:solidFill>
              <a:srgbClr val="FF6B6B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12" name="phrase text 2" descr="Больше всего мне понравилось…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67428" y="3319272"/>
            <a:ext cx="3054096" cy="1408176"/>
          </a:xfrm>
          <a:prstGeom prst="rect">
            <a:avLst/>
          </a:prstGeom>
        </p:spPr>
      </p:pic>
      <p:pic>
        <p:nvPicPr>
          <p:cNvPr id="13" name="phrase star 2" descr=""/>
          <p:cNvPicPr>
            <a:picLocks noChangeAspect="1"/>
          </p:cNvPicPr>
          <p:nvPr/>
        </p:nvPicPr>
        <p:blipFill>
          <a:blip r:embed="rId8"/>
          <a:srcRect l="78428" r="3428" t="67000" b="13000"/>
          <a:stretch>
            <a:fillRect/>
          </a:stretch>
        </p:blipFill>
        <p:spPr>
          <a:xfrm>
            <a:off x="6825996" y="1554480"/>
            <a:ext cx="914400" cy="914400"/>
          </a:xfrm>
          <a:prstGeom prst="ellipse">
            <a:avLst/>
          </a:prstGeom>
          <a:ln w="45720">
            <a:solidFill>
              <a:srgbClr val="FFC23C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sp>
        <p:nvSpPr>
          <p:cNvPr id="14" name="phrase 3"/>
          <p:cNvSpPr/>
          <p:nvPr/>
        </p:nvSpPr>
        <p:spPr>
          <a:xfrm>
            <a:off x="8074152" y="1828800"/>
            <a:ext cx="3566160" cy="3017520"/>
          </a:xfrm>
          <a:prstGeom prst="roundRect">
            <a:avLst>
              <a:gd name="adj" fmla="val 10606"/>
            </a:avLst>
          </a:prstGeom>
          <a:solidFill>
            <a:srgbClr val="FFFFFF">
              <a:alpha val="94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5" name="phrase photo 3" descr=""/>
          <p:cNvPicPr>
            <a:picLocks noChangeAspect="1"/>
          </p:cNvPicPr>
          <p:nvPr/>
        </p:nvPicPr>
        <p:blipFill>
          <a:blip r:embed="rId11"/>
          <a:srcRect l="34783" r="10783" t="12000" b="28000"/>
          <a:stretch>
            <a:fillRect/>
          </a:stretch>
        </p:blipFill>
        <p:spPr>
          <a:xfrm>
            <a:off x="8348472" y="2103120"/>
            <a:ext cx="1051560" cy="1051560"/>
          </a:xfrm>
          <a:prstGeom prst="ellipse">
            <a:avLst/>
          </a:prstGeom>
          <a:ln w="45720">
            <a:solidFill>
              <a:srgbClr val="13A386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16" name="phrase text 3" descr="Я буду беречь свою осанку, потому что…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30184" y="3319272"/>
            <a:ext cx="3054096" cy="1408176"/>
          </a:xfrm>
          <a:prstGeom prst="rect">
            <a:avLst/>
          </a:prstGeom>
        </p:spPr>
      </p:pic>
      <p:pic>
        <p:nvPicPr>
          <p:cNvPr id="17" name="phrase star 3" descr=""/>
          <p:cNvPicPr>
            <a:picLocks noChangeAspect="1"/>
          </p:cNvPicPr>
          <p:nvPr/>
        </p:nvPicPr>
        <p:blipFill>
          <a:blip r:embed="rId8"/>
          <a:srcRect l="78428" r="3428" t="67000" b="13000"/>
          <a:stretch>
            <a:fillRect/>
          </a:stretch>
        </p:blipFill>
        <p:spPr>
          <a:xfrm>
            <a:off x="10588752" y="1554480"/>
            <a:ext cx="914400" cy="914400"/>
          </a:xfrm>
          <a:prstGeom prst="ellipse">
            <a:avLst/>
          </a:prstGeom>
          <a:ln w="45720">
            <a:solidFill>
              <a:srgbClr val="FFC23C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18" name="phrase hint" descr="Ответил — нажми на карточку и получи звезду от Костика!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0352" y="5056632"/>
            <a:ext cx="11128248" cy="5852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="http://schemas.microsoft.com/office/powerpoint/2012/main" Requires="p15">
      <p:transition spd="slow" p14:dur="1600">
        <p15:prstTrans prst="pageCurlDoubl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4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4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24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4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24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24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5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57"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3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67"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3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36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77" display="0" masterRel="sameClick">
                                          <p:stCondLst>
                                            <p:cond evt="begin" delay="0">
                                              <p:tn val="71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14" name="correct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4"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  <p:bldP spid="14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hero_e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Title" descr="Спасибо&#10;за урок!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80160"/>
            <a:ext cx="7406640" cy="2468880"/>
          </a:xfrm>
          <a:prstGeom prst="rect">
            <a:avLst/>
          </a:prstGeom>
        </p:spPr>
      </p:pic>
      <p:pic>
        <p:nvPicPr>
          <p:cNvPr id="4" name="thanks sub" descr="Берегите осанку и будьте здоровы!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3685032"/>
            <a:ext cx="6620256" cy="859536"/>
          </a:xfrm>
          <a:prstGeom prst="rect">
            <a:avLst/>
          </a:prstGeom>
        </p:spPr>
      </p:pic>
      <p:sp>
        <p:nvSpPr>
          <p:cNvPr id="5" name="thanks author"/>
          <p:cNvSpPr txBox="1"/>
          <p:nvPr/>
        </p:nvSpPr>
        <p:spPr>
          <a:xfrm>
            <a:off x="731520" y="498348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900" b="1" i="0" lang="ru-RU">
                <a:solidFill>
                  <a:srgbClr val="FFFFFF"/>
                </a:solidFill>
                <a:latin typeface="Arial"/>
                <a:cs typeface="Arial"/>
              </a:rPr>
              <a:t>Шелешко А.И.</a:t>
            </a:r>
          </a:p>
          <a:p>
            <a:pPr algn="l"/>
            <a:r>
              <a:rPr sz="1500" b="1" i="0" lang="ru-RU">
                <a:solidFill>
                  <a:srgbClr val="D9D2FF"/>
                </a:solidFill>
                <a:latin typeface="Arial"/>
                <a:cs typeface="Arial"/>
              </a:rPr>
              <a:t>группа П-31</a:t>
            </a:r>
          </a:p>
        </p:txBody>
      </p:sp>
      <p:pic>
        <p:nvPicPr>
          <p:cNvPr id="6" name="!!mascot" descr="Костик — весёлый скелетик-экскурсовод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3273" y="1051560"/>
            <a:ext cx="3044414" cy="5577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="http://schemas.microsoft.com/office/powerpoint/2012/main" Requires="p15">
      <p:transition spd="slow" p14:dur="1800">
        <p15:prstTrans prst="prestig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2000" decel="100000" fill="hold"/>
                                        <p:tgtEl>
                                          <p:spTgt spid="2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" dur="9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w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9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2"/>
                                          </p:val>
                                        </p:tav>
                                        <p:tav tm="80000">
                                          <p:val>
                                            <p:strVal val="#ppt_h*0.96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36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id="12"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Next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6" name="win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3" presetID="26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12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2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3"/>
                                          </p:val>
                                        </p:tav>
                                        <p:tav tm="45000">
                                          <p:val>
                                            <p:strVal val="#ppt_y"/>
                                          </p:val>
                                        </p:tav>
                                        <p:tav tm="62000">
                                          <p:val>
                                            <p:strVal val="#ppt_y-0.06"/>
                                          </p:val>
                                        </p:tav>
                                        <p:tav tm="78000">
                                          <p:val>
                                            <p:strVal val="#ppt_y"/>
                                          </p:val>
                                        </p:tav>
                                        <p:tav tm="90000">
                                          <p:val>
                                            <p:strVal val="#ppt_y-0.01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36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2000"/>
                            </p:stCondLst>
                            <p:childTnLst>
                              <p:par>
                                <p:cTn id="19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3100"/>
                            </p:stCondLst>
                            <p:childTnLst>
                              <p:par>
                                <p:cTn id="29" presetID="0" presetClass="path" presetSubtype="0" accel="50000" decel="50000" autoRev="1" repeatCount="indefinite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018 E" pathEditMode="relative" rAng="0" ptsTypes="AA">
                                      <p:cBhvr>
                                        <p:cTn id="30" dur="1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!!bg bg2_sky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kicker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200" b="1" i="0" lang="ru-RU" spc="200">
                <a:solidFill>
                  <a:srgbClr val="3B2F8F"/>
                </a:solidFill>
                <a:latin typeface="Arial"/>
                <a:cs typeface="Arial"/>
              </a:rPr>
              <a:t>ИСТОЧНИКИ И ИНСТРУМЕНТЫ</a:t>
            </a:r>
          </a:p>
        </p:txBody>
      </p:sp>
      <p:pic>
        <p:nvPicPr>
          <p:cNvPr id="4" name="Title" descr="Над уроком работали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640080"/>
            <a:ext cx="9454896" cy="950976"/>
          </a:xfrm>
          <a:prstGeom prst="rect">
            <a:avLst/>
          </a:prstGeom>
        </p:spPr>
      </p:pic>
      <p:pic>
        <p:nvPicPr>
          <p:cNvPr id="5" name="!!nav route" descr="МАРШРУТ">
            <a:hlinkClick action="ppaction://hlinksldjump"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32136" y="182880"/>
            <a:ext cx="1572768" cy="694944"/>
          </a:xfrm>
          <a:prstGeom prst="rect">
            <a:avLst/>
          </a:prstGeom>
        </p:spPr>
      </p:pic>
      <p:sp>
        <p:nvSpPr>
          <p:cNvPr id="6" name="sources card"/>
          <p:cNvSpPr/>
          <p:nvPr/>
        </p:nvSpPr>
        <p:spPr>
          <a:xfrm>
            <a:off x="548640" y="1691640"/>
            <a:ext cx="5120640" cy="4526280"/>
          </a:xfrm>
          <a:prstGeom prst="roundRect">
            <a:avLst>
              <a:gd name="adj" fmla="val 5050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7" name="sources head" descr="Источники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1856232"/>
            <a:ext cx="4608576" cy="493776"/>
          </a:xfrm>
          <a:prstGeom prst="rect">
            <a:avLst/>
          </a:prstGeom>
        </p:spPr>
      </p:pic>
      <p:sp>
        <p:nvSpPr>
          <p:cNvPr id="8" name="source book"/>
          <p:cNvSpPr txBox="1"/>
          <p:nvPr/>
        </p:nvSpPr>
        <p:spPr>
          <a:xfrm>
            <a:off x="822960" y="2423160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0" i="0" lang="ru-RU">
                <a:solidFill>
                  <a:srgbClr val="2B2A5A"/>
                </a:solidFill>
                <a:latin typeface="Arial"/>
                <a:cs typeface="Arial"/>
              </a:rPr>
              <a:t>Плешаков А.А. Окружающий мир. 3 класс. Учебник, часть 1. Тема «Опора тела и движение»</a:t>
            </a:r>
          </a:p>
        </p:txBody>
      </p:sp>
      <p:sp>
        <p:nvSpPr>
          <p:cNvPr id="9" name="source video">
            <a:hlinkClick r:id="rId7"/>
          </p:cNvPr>
          <p:cNvSpPr txBox="1"/>
          <p:nvPr/>
        </p:nvSpPr>
        <p:spPr>
          <a:xfrm>
            <a:off x="822960" y="342900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Видеоэкскурсия: </a:t>
            </a:r>
            <a:r>
              <a:rPr sz="1500" b="1" i="0" lang="ru-RU">
                <a:solidFill>
                  <a:srgbClr val="6C5CE7"/>
                </a:solidFill>
                <a:latin typeface="Arial"/>
                <a:cs typeface="Arial"/>
              </a:rPr>
              <a:t>youtu.be/6C_RWeZtCNg</a:t>
            </a:r>
          </a:p>
        </p:txBody>
      </p:sp>
      <p:sp>
        <p:nvSpPr>
          <p:cNvPr id="10" name="source game">
            <a:hlinkClick r:id="rId8"/>
          </p:cNvPr>
          <p:cNvSpPr txBox="1"/>
          <p:nvPr/>
        </p:nvSpPr>
        <p:spPr>
          <a:xfrm>
            <a:off x="822960" y="393192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500" b="1" i="0" lang="ru-RU">
                <a:solidFill>
                  <a:srgbClr val="2B2A5A"/>
                </a:solidFill>
                <a:latin typeface="Arial"/>
                <a:cs typeface="Arial"/>
              </a:rPr>
              <a:t>Онлайн-игра: </a:t>
            </a:r>
            <a:r>
              <a:rPr sz="1500" b="1" i="0" lang="ru-RU">
                <a:solidFill>
                  <a:srgbClr val="6C5CE7"/>
                </a:solidFill>
                <a:latin typeface="Arial"/>
                <a:cs typeface="Arial"/>
              </a:rPr>
              <a:t>kostik-skeleton.lovable.app</a:t>
            </a:r>
          </a:p>
        </p:txBody>
      </p:sp>
      <p:sp>
        <p:nvSpPr>
          <p:cNvPr id="11" name="source fonts"/>
          <p:cNvSpPr txBox="1"/>
          <p:nvPr/>
        </p:nvSpPr>
        <p:spPr>
          <a:xfrm>
            <a:off x="822960" y="548640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300" b="1" i="0" lang="ru-RU">
                <a:solidFill>
                  <a:srgbClr val="6B6A8E"/>
                </a:solidFill>
                <a:latin typeface="Arial"/>
                <a:cs typeface="Arial"/>
              </a:rPr>
              <a:t>Шрифты Unbounded, Nunito и Caveat (лицензия SIL OFL)</a:t>
            </a:r>
          </a:p>
        </p:txBody>
      </p:sp>
      <p:pic>
        <p:nvPicPr>
          <p:cNvPr id="12" name="ai head" descr="Нейросети в проекте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71032" y="1673352"/>
            <a:ext cx="5522976" cy="493776"/>
          </a:xfrm>
          <a:prstGeom prst="rect">
            <a:avLst/>
          </a:prstGeom>
        </p:spPr>
      </p:pic>
      <p:sp>
        <p:nvSpPr>
          <p:cNvPr id="13" name="ai 1"/>
          <p:cNvSpPr/>
          <p:nvPr/>
        </p:nvSpPr>
        <p:spPr>
          <a:xfrm>
            <a:off x="5989320" y="2286000"/>
            <a:ext cx="5650992" cy="1170432"/>
          </a:xfrm>
          <a:prstGeom prst="roundRect">
            <a:avLst>
              <a:gd name="adj" fmla="val 19531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4" name="ai photo 1" descr=""/>
          <p:cNvPicPr>
            <a:picLocks noChangeAspect="1"/>
          </p:cNvPicPr>
          <p:nvPr/>
        </p:nvPicPr>
        <p:blipFill>
          <a:blip r:embed="rId10"/>
          <a:srcRect l="10000" r="10000" t="13956" b="53956"/>
          <a:stretch>
            <a:fillRect/>
          </a:stretch>
        </p:blipFill>
        <p:spPr>
          <a:xfrm>
            <a:off x="6144768" y="2441448"/>
            <a:ext cx="859536" cy="859536"/>
          </a:xfrm>
          <a:prstGeom prst="ellipse">
            <a:avLst/>
          </a:prstGeom>
          <a:ln w="45720">
            <a:solidFill>
              <a:srgbClr val="6C5CE7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15" name="ai name 1" descr="Claude (Anthropic)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59752" y="2395728"/>
            <a:ext cx="4379976" cy="448056"/>
          </a:xfrm>
          <a:prstGeom prst="rect">
            <a:avLst/>
          </a:prstGeom>
        </p:spPr>
      </p:pic>
      <p:sp>
        <p:nvSpPr>
          <p:cNvPr id="16" name="ai what 1"/>
          <p:cNvSpPr txBox="1"/>
          <p:nvPr/>
        </p:nvSpPr>
        <p:spPr>
          <a:xfrm>
            <a:off x="7178040" y="2816352"/>
            <a:ext cx="43434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 lang="ru-RU">
                <a:solidFill>
                  <a:srgbClr val="6B6A8E"/>
                </a:solidFill>
                <a:latin typeface="Arial"/>
                <a:cs typeface="Arial"/>
              </a:rPr>
              <a:t>сценарий урока, тексты, вопросы, вёрстка презентации, онлайн-игра</a:t>
            </a:r>
          </a:p>
        </p:txBody>
      </p:sp>
      <p:sp>
        <p:nvSpPr>
          <p:cNvPr id="17" name="ai 2"/>
          <p:cNvSpPr/>
          <p:nvPr/>
        </p:nvSpPr>
        <p:spPr>
          <a:xfrm>
            <a:off x="5989320" y="3611880"/>
            <a:ext cx="5650992" cy="1170432"/>
          </a:xfrm>
          <a:prstGeom prst="roundRect">
            <a:avLst>
              <a:gd name="adj" fmla="val 19531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18" name="ai photo 2" descr=""/>
          <p:cNvPicPr>
            <a:picLocks noChangeAspect="1"/>
          </p:cNvPicPr>
          <p:nvPr/>
        </p:nvPicPr>
        <p:blipFill>
          <a:blip r:embed="rId12"/>
          <a:srcRect l="10000" r="10000" t="8168" b="48168"/>
          <a:stretch>
            <a:fillRect/>
          </a:stretch>
        </p:blipFill>
        <p:spPr>
          <a:xfrm>
            <a:off x="6144768" y="3767328"/>
            <a:ext cx="859536" cy="859536"/>
          </a:xfrm>
          <a:prstGeom prst="ellipse">
            <a:avLst/>
          </a:prstGeom>
          <a:ln w="45720">
            <a:solidFill>
              <a:srgbClr val="FF6B6B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19" name="ai name 2" descr="Nano Banana 2 (Google) в Higgsfield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9752" y="3721608"/>
            <a:ext cx="4379976" cy="448056"/>
          </a:xfrm>
          <a:prstGeom prst="rect">
            <a:avLst/>
          </a:prstGeom>
        </p:spPr>
      </p:pic>
      <p:sp>
        <p:nvSpPr>
          <p:cNvPr id="20" name="ai what 2"/>
          <p:cNvSpPr txBox="1"/>
          <p:nvPr/>
        </p:nvSpPr>
        <p:spPr>
          <a:xfrm>
            <a:off x="7178040" y="4142232"/>
            <a:ext cx="43434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 lang="ru-RU">
                <a:solidFill>
                  <a:srgbClr val="6B6A8E"/>
                </a:solidFill>
                <a:latin typeface="Arial"/>
                <a:cs typeface="Arial"/>
              </a:rPr>
              <a:t>иллюстрации и маскот Костик</a:t>
            </a:r>
          </a:p>
        </p:txBody>
      </p:sp>
      <p:sp>
        <p:nvSpPr>
          <p:cNvPr id="21" name="ai 3"/>
          <p:cNvSpPr/>
          <p:nvPr/>
        </p:nvSpPr>
        <p:spPr>
          <a:xfrm>
            <a:off x="5989320" y="4937760"/>
            <a:ext cx="5650992" cy="1170432"/>
          </a:xfrm>
          <a:prstGeom prst="roundRect">
            <a:avLst>
              <a:gd name="adj" fmla="val 19531"/>
            </a:avLst>
          </a:prstGeom>
          <a:solidFill>
            <a:srgbClr val="FFFFFF">
              <a:alpha val="88000"/>
            </a:srgbClr>
          </a:solidFill>
          <a:ln>
            <a:noFill/>
          </a:ln>
          <a:effectLst>
            <a:outerShdw blurRad="320040" dist="73152" dir="5400000" algn="t" rotWithShape="0">
              <a:srgbClr val="3B2F8F">
                <a:alpha val="13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pic>
        <p:nvPicPr>
          <p:cNvPr id="22" name="ai photo 3" descr=""/>
          <p:cNvPicPr>
            <a:picLocks noChangeAspect="1"/>
          </p:cNvPicPr>
          <p:nvPr/>
        </p:nvPicPr>
        <p:blipFill>
          <a:blip r:embed="rId14"/>
          <a:srcRect l="23571" r="33571" b="25000"/>
          <a:stretch>
            <a:fillRect/>
          </a:stretch>
        </p:blipFill>
        <p:spPr>
          <a:xfrm>
            <a:off x="6144768" y="5093208"/>
            <a:ext cx="859536" cy="859536"/>
          </a:xfrm>
          <a:prstGeom prst="ellipse">
            <a:avLst/>
          </a:prstGeom>
          <a:ln w="45720">
            <a:solidFill>
              <a:srgbClr val="13A386"/>
            </a:solidFill>
          </a:ln>
          <a:effectLst>
            <a:outerShdw blurRad="182880" dist="54864" dir="5400000" algn="t" rotWithShape="0">
              <a:srgbClr val="2B2A5A">
                <a:alpha val="22000"/>
              </a:srgbClr>
            </a:outerShdw>
          </a:effectLst>
        </p:spPr>
      </p:pic>
      <p:pic>
        <p:nvPicPr>
          <p:cNvPr id="23" name="ai name 3" descr="MiniMax Hailuo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59752" y="5047488"/>
            <a:ext cx="4379976" cy="448056"/>
          </a:xfrm>
          <a:prstGeom prst="rect">
            <a:avLst/>
          </a:prstGeom>
        </p:spPr>
      </p:pic>
      <p:sp>
        <p:nvSpPr>
          <p:cNvPr id="24" name="ai what 3"/>
          <p:cNvSpPr txBox="1"/>
          <p:nvPr/>
        </p:nvSpPr>
        <p:spPr>
          <a:xfrm>
            <a:off x="7178040" y="5468112"/>
            <a:ext cx="4343400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400" b="1" i="0" lang="ru-RU">
                <a:solidFill>
                  <a:srgbClr val="6B6A8E"/>
                </a:solidFill>
                <a:latin typeface="Arial"/>
                <a:cs typeface="Arial"/>
              </a:rPr>
              <a:t>видео для физминутки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Опора тела и движение</dc:title>
  <dc:subject>Окружающий мир, 3 класс — интерактивный урок</dc:subject>
  <dc:creator>Шелешко А.И.</dc:creator>
  <cp:keywords>скелет, мышцы, суставы, осанка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