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ound1.wav" ContentType="audio/wav"/>
  <Override PartName="/ppt/media/sound2.wav" ContentType="audio/wav"/>
  <Override PartName="/ppt/media/sound3.wav" ContentType="audio/wav"/>
  <Override PartName="/ppt/media/sound4.wav" ContentType="audio/wav"/>
  <Override PartName="/ppt/media/sound5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embeddedFontLst>
    <p:embeddedFont>
      <p:font typeface="Nunito" pitchFamily="2" charset="0"/>
      <p:regular r:id="rIdFont1"/>
      <p:bold r:id="rIdFont2"/>
    </p:embeddedFont>
    <p:embeddedFont>
      <p:font typeface="Unbounded" pitchFamily="2" charset="0"/>
      <p:regular r:id="rIdFont3"/>
    </p:embeddedFont>
    <p:embeddedFont>
      <p:font typeface="Caveat" pitchFamily="2" charset="0"/>
      <p:regular r:id="rId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Здравствуйте, ребята! Сегодня у нас необычный урок: мы отправимся в путешествие в музей «Тело человека». А экскурсоводом будет весёлый скелетик Костик. Посмотрите, как он нам машет! Помашем ему в ответ.</a:t>
            </a:r>
          </a:p>
          <a:p>
            <a:r>
              <a:t>Тему урока пока не называем — дети отгадают её сами на следующих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Костик приготовил для вас загадку. Послушайте внимательно (учитель читает загадку).</a:t>
            </a:r>
          </a:p>
          <a:p>
            <a:r>
              <a:t>Ответ детей: скелет. По щелчку появляется ответ «СКЕЛЕТ» и фотография скелета.</a:t>
            </a:r>
          </a:p>
          <a:p>
            <a:r>
              <a:t>— Правильно! Скелет — это каркас нашего тела. А зачем он нам нужен? Сейчас разберёмся.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Посмотрите на картинку. Медуза в море плавает красиво, а на берегу растекается, как желе. А мальчик прыгает, бегает и стоит ровно. Почему так?</a:t>
            </a:r>
          </a:p>
          <a:p>
            <a:r>
              <a:t>Выслушать версии детей. 1-й щелчок: у медузы нет скелета. 2-й щелчок: у человека есть скелет и мышцы.</a:t>
            </a:r>
          </a:p>
          <a:p>
            <a:r>
              <a:t>— Значит, тема нашего урока — «Опора тела и движение».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 урока: «Опора тела и движение».</a:t>
            </a:r>
          </a:p>
          <a:p>
            <a:r>
              <a:t>Цель: узнать, что помогает нашему телу держать форму и двигаться.</a:t>
            </a:r>
          </a:p>
          <a:p>
            <a:r>
              <a:t>Задачи появляются по щелчку: 1) познакомиться со скелетом и его частями; 2) узнать, как работают суставы и мышцы; 3) выяснить, что такое осанка и как её беречь; 4) проверить свои знания в играх.</a:t>
            </a:r>
          </a:p>
          <a:p>
            <a:r>
              <a:t>Для учителя (цели урока): образовательная — сформировать представление об опорно-двигательной системе человека (скелет, суставы, мышцы, осанка); развивающая — развивать наблюдательность, умение сравнивать и делать выводы; воспитательная — воспитывать бережное отношение к своему здоровью.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маршрут нашего урока (интерактивное содержание). Каждая картинка — кнопка: нажмите на неё, и презентация перейдёт к этой части урока.</a:t>
            </a:r>
          </a:p>
          <a:p>
            <a:r>
              <a:t>На всех следующих слайдах есть кнопка «МАРШРУТ» — она возвращает сюда.</a:t>
            </a:r>
          </a:p>
          <a:p>
            <a:r>
              <a:t>01 — Видеоэкскурсия, 02 — Виртуальная экскурсия по музею, 03 — Физминутка, 04 — Игры «Проверь себя», 05 — Онлайн-задание, 06 — Итоги урока, 07 — Рефлексия.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просмотром дайте детям задание: найти в фильме ответы на три вопроса (они на слайде).</a:t>
            </a:r>
          </a:p>
          <a:p>
            <a:r>
              <a:t>Видео открывается по нажатию на экран или кнопку «Смотреть видео» (нужен интернет): https://youtu.be/6C_RWeZtCNg?si=fnJgUxPPG3wl2pDA</a:t>
            </a:r>
          </a:p>
          <a:p>
            <a:r>
              <a:t>После просмотра обсудите ответы: опора тела — скелет; мозг защищает череп, сердце и лёгкие — грудная клетка; двигаться помогают мышцы и суставы.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входим в музей «Тело человека». Здесь шесть залов. Нажмите на билет зала — и Костик проведёт вас туда (картинка билета плавно «раскрывается» в зал). Из каждого зала можно вернуться сюда кнопкой «МУЗЕЙ».</a:t>
            </a:r>
          </a:p>
          <a:p>
            <a:r>
              <a:t>Удобный порядок: залы с 1-го по 6-й, кнопка «Следующий зал» ведёт дальше по порядку.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Зал 1. Посмотрите на палатки: у одной нет каркаса — и она упала. Так и наше тело: без скелета мы не смогли бы стоять.</a:t>
            </a:r>
          </a:p>
          <a:p>
            <a:r>
              <a:t>Скелет — это прочный каркас тела из костей. Он держит форму тела, защищает внутренние органы и вместе с мышцами помогает двигаться.</a:t>
            </a:r>
          </a:p>
          <a:p>
            <a:r>
              <a:t>Щелчок — определение, ещё щелчок — интересные числа: у взрослого 206 костей, а у новорождённого около 300 — по мере роста некоторые кости срастаются.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Зал 2. Это скелет человека. Нажимайте на цветные названия — появится линия к нужной части скелета и подсказка.</a:t>
            </a:r>
          </a:p>
          <a:p>
            <a:r>
              <a:t>Череп защищает головной мозг. Грудная клетка (12 пар рёбер) защищает сердце и лёгкие. Позвоночник — главная опора тела, в нём 33–34 позвонка, поэтому он гибкий. Кости таза — опора для позвоночника, к ним крепятся ноги. Кости рук помогают брать предметы, писать, рисовать (в кисти 27 косточек). Кости ног держат вес тела; бедренная кость — самая длинная.</a:t>
            </a:r>
          </a:p>
          <a:p>
            <a:r>
              <a:t>На этом слайде щелчок по пустому месту не перелистывает — используйте кнопку «Следующий зал» или стрелку на клавиатуре.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Зал 3. Посмотрите на деревянную куклу: она гнётся там, где у неё шарниры. У нас тоже есть такие «шарниры» — суставы.</a:t>
            </a:r>
          </a:p>
          <a:p>
            <a:r>
              <a:t>Суставы — подвижные соединения костей: плечевой, локтевой, коленный, тазобедренный и другие.</a:t>
            </a:r>
          </a:p>
          <a:p>
            <a:r>
              <a:t>По щелчку появляются задания «Попробуй сам!» — дети выполняют движения: сгибают руку в локте, крутят кистью, приседают, наклоняют голову. Спросите: какие суставы работали?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Зал 4. Кости сами двигаться не могут — их приводят в движение мышцы. В теле человека больше 600 мышц.</a:t>
            </a:r>
          </a:p>
          <a:p>
            <a:r>
              <a:t>Мышцы крепятся к костям сухожилиями. Сокращаясь, мышца тянет кость. Мышцы работают парами: двуглавая мышца плеча (бицепс) сгибает руку, трёхглавая (трицепс) — разгибает. Предложите детям согнуть руку и потрогать мышцу.</a:t>
            </a:r>
          </a:p>
          <a:p>
            <a:r>
              <a:t>Сердце — тоже мышца, которая работает всю жизнь без отдыха.</a:t>
            </a:r>
          </a:p>
          <a:p>
            <a:r>
              <a:t>Вывод: скелет и мышцы вместе — это опорно-двигательная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Зал 5. Осанка — это привычное положение тела, когда мы сидим, стоим и ходим.</a:t>
            </a:r>
          </a:p>
          <a:p>
            <a:r>
              <a:t>Вопрос: кто из мальчиков сидит правильно? Пусть дети ответят, а затем нажмите на картинку.</a:t>
            </a:r>
          </a:p>
          <a:p>
            <a:r>
              <a:t>Картинка Б — правильно: спина прямая, ноги на полу, тетрадь далеко от глаз (зелёная рамка и звук колокольчика). Картинка А — неправильно: спина согнута, голова низко (красная рамка).</a:t>
            </a:r>
          </a:p>
          <a:p>
            <a:r>
              <a:t>Щелчок по пустому месту не перелистывает слайд — дальше по кнопке «Правила осанки».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Правила хорошей осанки появляются по щелчку. Костик держит книгу на голове — попробуйте пройтись по классу так же, ровно-ровно, чтобы книга не упала! Это отличное упражнение для осанки.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Зал 6 — Музей рекордов. По щелчку открываются карточки: 206 костей у взрослого; больше 600 мышц; самая маленькая кость — стремечко в ухе, около 3 мм; в кистях и стопах 106 костей — больше половины всех костей скелета! Самая длинная кость — бедренная.</a:t>
            </a:r>
          </a:p>
          <a:p>
            <a:r>
              <a:t>Кнопка «Выйти из музея» ведёт к физминутке.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Физминутка! Все встают. Видео запускается автоматически и повторяется по кругу — выполняйте движения вместе с героиней: руки в стороны, наклоны вправо-влево, руки вверх, присесть и встать. Щелчок по видео — пауза/продолжить.</a:t>
            </a:r>
          </a:p>
          <a:p>
            <a:r>
              <a:t>Видео для физминутки создано нейросетью.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Интерактивные игры, сделанные средствами PowerPoint (триггеры, анимация, гиперссылки, звуки).</a:t>
            </a:r>
          </a:p>
          <a:p>
            <a:r>
              <a:t>Нажмите на игру, чтобы начать. Правило: если ответ верный — зелёный цвет и колокольчик, если нет — красный цвет, и можно попробовать ещё раз. Игры идут по порядку: викторина → «Кто кого защищает?» → «Верю — не верю».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1. Что служит опорой нашего тела?</a:t>
            </a:r>
          </a:p>
          <a:p>
            <a:r>
              <a:t>Варианты: Кожа, Скелет, Сердце.</a:t>
            </a:r>
          </a:p>
          <a:p>
            <a:r>
              <a:t>Правильный ответ: Скелет.</a:t>
            </a:r>
          </a:p>
          <a:p>
            <a:r>
              <a:t>Нажмите на ответ, который выбрали дети. Верный — зелёная карточка, колокольчик, Костик прыгает от радости, и появляется кнопка «Следующий вопрос». Неверный — красная карточка и подсказка «Подумай ещё раз»; можно выбрать снова.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2. Какие кости защищают головной мозг?</a:t>
            </a:r>
          </a:p>
          <a:p>
            <a:r>
              <a:t>Варианты: Череп, Рёбра, Позвоночник.</a:t>
            </a:r>
          </a:p>
          <a:p>
            <a:r>
              <a:t>Правильный ответ: Череп.</a:t>
            </a:r>
          </a:p>
          <a:p>
            <a:r>
              <a:t>Нажмите на ответ, который выбрали дети. Верный — зелёная карточка, колокольчик, Костик прыгает от радости, и появляется кнопка «Следующий вопрос». Неверный — красная карточка и подсказка «Подумай ещё раз»; можно выбрать снова.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3. Что защищает грудная клетка?</a:t>
            </a:r>
          </a:p>
          <a:p>
            <a:r>
              <a:t>Варианты: Желудок, Головной мозг, Сердце и лёгкие.</a:t>
            </a:r>
          </a:p>
          <a:p>
            <a:r>
              <a:t>Правильный ответ: Сердце и лёгкие.</a:t>
            </a:r>
          </a:p>
          <a:p>
            <a:r>
              <a:t>Нажмите на ответ, который выбрали дети. Верный — зелёная карточка, колокольчик, Костик прыгает от радости, и появляется кнопка «Следующий вопрос». Неверный — красная карточка и подсказка «Подумай ещё раз»; можно выбрать снова.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4. Сколько мышц в теле человека?</a:t>
            </a:r>
          </a:p>
          <a:p>
            <a:r>
              <a:t>Варианты: Около 60, Больше 600, Около 6.</a:t>
            </a:r>
          </a:p>
          <a:p>
            <a:r>
              <a:t>Правильный ответ: Больше 600.</a:t>
            </a:r>
          </a:p>
          <a:p>
            <a:r>
              <a:t>Нажмите на ответ, который выбрали дети. Верный — зелёная карточка, колокольчик, Костик прыгает от радости, и появляется кнопка «Следующий вопрос». Неверный — красная карточка и подсказка «Подумай ещё раз»; можно выбрать снова.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5. Как называются подвижные соединения костей?</a:t>
            </a:r>
          </a:p>
          <a:p>
            <a:r>
              <a:t>Варианты: Суставы, Мышцы, Позвонки.</a:t>
            </a:r>
          </a:p>
          <a:p>
            <a:r>
              <a:t>Правильный ответ: Суставы.</a:t>
            </a:r>
          </a:p>
          <a:p>
            <a:r>
              <a:t>Нажмите на ответ, который выбрали дети. Верный — зелёная карточка, колокольчик, Костик прыгает от радости, и появляется кнопка «Следующая игра». Неверный — красная карточка и подсказка «Подумай ещё раз»; можно выбрать снова.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Игра на соответствие. Спросите детей: что защищает череп? грудная клетка? позвоночник?</a:t>
            </a:r>
          </a:p>
          <a:p>
            <a:r>
              <a:t>После ответа нажмите на карточку кости — появится линия к органу, который она защищает, и зелёная рамка.</a:t>
            </a:r>
          </a:p>
          <a:p>
            <a:r>
              <a:t>Череп — головной мозг; грудная клетка — сердце и лёгкие; позвоночник — спинной мозг.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Игра «Верю — не верю». Учитель читает утверждение, дети поднимают руки: «верю» или «не верю». Затем нажмите на карточку — она перевернётся и покажет правильный ответ.</a:t>
            </a:r>
          </a:p>
          <a:p>
            <a:r>
              <a:t>1) Сердце — тоже мышца: верю. 2) Позвоночник — одна кость: не верю (33–34 позвонка). 3) Самая маленькая кость в ухе: верю (стремечко, около 3 мм). 4) Чтобы мышцы были сильными, надо больше лежать: не верю.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Онлайн-задание. Нажмите кнопку «Играть онлайн» (нужен интернет) или дайте детям отсканировать QR-код планшетом/телефоном.</a:t>
            </a:r>
          </a:p>
          <a:p>
            <a:r>
              <a:t>Ссылка: https://kostik-skeleton.lovable.app</a:t>
            </a:r>
          </a:p>
          <a:p>
            <a:r>
              <a:t>В игре три уровня: подобрать к каждой кости её работу; ответить «верно/неверно» на время; разложить привычки на полезные и вредные для осанки. В конце — звёзды и диплом «Знаток скелета».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Подведение итогов в игровой форме. Учитель читает начало фразы, дети хором заканчивают, затем щелчок — появляется ответ.</a:t>
            </a:r>
          </a:p>
          <a:p>
            <a:r>
              <a:t>Ответы: скелет; череп; суставы; мышцы; осанка.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Инфографика «Что мы узнали»: скелет — 206 костей, опора и защита тела; суставы — подвижные соединения костей; мышцы — больше 600, приводят кости в движение; осанка — правильное положение тела. Скелет и мышцы вместе — опорно-двигательная система: «Скелет + мышцы = движение!»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сделать кости крепкими, а мышцы сильными? Правильно питаться: молоко, творог, сыр, рыба содержат кальций. Много двигаться: зарядка, прогулки, спорт. Высыпаться: младшим школьникам нужно 9–10 часов сна. И следить за осанкой!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Рефлексия «Лесенка успеха». Каждый ученик решает, на какой ступеньке он сейчас: «Мне было трудно», «Есть вопросы» или «Всё понятно! Могу объяснить другу». Нажмите на ступеньку — на неё запрыгнет Костик и скажет ободряющие слова. Можно попросить детей поднять руку у своей ступеньки.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Продолжите фразу. Дети по желанию заканчивают одну из фраз. После ответа нажмите на карточку — Костик дарит звезду.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урок! Костик прощается с ребятами. Напомните: берегите осанку, больше двигайтесь и правильно питайтесь.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 и инструменты. Нейросети, которые использовались при подготовке проекта: Claude — сценарий, тексты, задания, вёрстка и онлайн-игра; Nano Banana 2 (через Higgsfield) — иллюстрации; MiniMax Hailuo — видео для физминутки.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audio" Target="../media/sound1.wav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slide" Target="slide5.xml"/><Relationship Id="rId4" Type="http://schemas.openxmlformats.org/officeDocument/2006/relationships/image" Target="../media/image7.jpg"/><Relationship Id="rId5" Type="http://schemas.openxmlformats.org/officeDocument/2006/relationships/audio" Target="../media/sound2.wav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slide" Target="slide5.xml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image" Target="../media/image10.jpg"/><Relationship Id="rId4" Type="http://schemas.openxmlformats.org/officeDocument/2006/relationships/slide" Target="slide6.xml"/><Relationship Id="rId5" Type="http://schemas.openxmlformats.org/officeDocument/2006/relationships/image" Target="../media/image11.jpg"/><Relationship Id="rId6" Type="http://schemas.openxmlformats.org/officeDocument/2006/relationships/slide" Target="slide7.xml"/><Relationship Id="rId7" Type="http://schemas.openxmlformats.org/officeDocument/2006/relationships/image" Target="../media/image12.jpg"/><Relationship Id="rId8" Type="http://schemas.openxmlformats.org/officeDocument/2006/relationships/slide" Target="slide15.xml"/><Relationship Id="rId9" Type="http://schemas.openxmlformats.org/officeDocument/2006/relationships/image" Target="../media/image13.jpg"/><Relationship Id="rId10" Type="http://schemas.openxmlformats.org/officeDocument/2006/relationships/slide" Target="slide16.xml"/><Relationship Id="rId11" Type="http://schemas.openxmlformats.org/officeDocument/2006/relationships/image" Target="../media/image14.jpg"/><Relationship Id="rId12" Type="http://schemas.openxmlformats.org/officeDocument/2006/relationships/slide" Target="slide24.xml"/><Relationship Id="rId13" Type="http://schemas.openxmlformats.org/officeDocument/2006/relationships/image" Target="../media/image15.jpg"/><Relationship Id="rId14" Type="http://schemas.openxmlformats.org/officeDocument/2006/relationships/slide" Target="slide25.xml"/><Relationship Id="rId15" Type="http://schemas.openxmlformats.org/officeDocument/2006/relationships/image" Target="../media/image16.jpg"/><Relationship Id="rId16" Type="http://schemas.openxmlformats.org/officeDocument/2006/relationships/slide" Target="slide28.xml"/><Relationship Id="rId17" Type="http://schemas.openxmlformats.org/officeDocument/2006/relationships/image" Target="../media/image17.png"/><Relationship Id="rId1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Relationship Id="rId3" Type="http://schemas.openxmlformats.org/officeDocument/2006/relationships/slide" Target="slide5.xml"/><Relationship Id="rId4" Type="http://schemas.openxmlformats.org/officeDocument/2006/relationships/image" Target="../media/image10.jpg"/><Relationship Id="rId5" Type="http://schemas.openxmlformats.org/officeDocument/2006/relationships/hyperlink" Target="https://youtu.be/6C_RWeZtCNg?si=fnJgUxPPG3wl2pDA" TargetMode="External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audio" Target="../media/sound2.wav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slide" Target="slide5.xml"/><Relationship Id="rId4" Type="http://schemas.openxmlformats.org/officeDocument/2006/relationships/image" Target="../media/image11.jpg"/><Relationship Id="rId5" Type="http://schemas.openxmlformats.org/officeDocument/2006/relationships/image" Target="../media/image17.png"/><Relationship Id="rId6" Type="http://schemas.openxmlformats.org/officeDocument/2006/relationships/image" Target="../media/image21.jpg"/><Relationship Id="rId7" Type="http://schemas.openxmlformats.org/officeDocument/2006/relationships/slide" Target="slide8.xml"/><Relationship Id="rId8" Type="http://schemas.openxmlformats.org/officeDocument/2006/relationships/image" Target="../media/image22.jpg"/><Relationship Id="rId9" Type="http://schemas.openxmlformats.org/officeDocument/2006/relationships/slide" Target="slide9.xml"/><Relationship Id="rId10" Type="http://schemas.openxmlformats.org/officeDocument/2006/relationships/image" Target="../media/image23.jpg"/><Relationship Id="rId11" Type="http://schemas.openxmlformats.org/officeDocument/2006/relationships/slide" Target="slide10.xml"/><Relationship Id="rId12" Type="http://schemas.openxmlformats.org/officeDocument/2006/relationships/image" Target="../media/image24.jpg"/><Relationship Id="rId13" Type="http://schemas.openxmlformats.org/officeDocument/2006/relationships/slide" Target="slide11.xml"/><Relationship Id="rId14" Type="http://schemas.openxmlformats.org/officeDocument/2006/relationships/image" Target="../media/image25.jpg"/><Relationship Id="rId15" Type="http://schemas.openxmlformats.org/officeDocument/2006/relationships/slide" Target="slide12.xml"/><Relationship Id="rId16" Type="http://schemas.openxmlformats.org/officeDocument/2006/relationships/image" Target="../media/image26.jpg"/><Relationship Id="rId17" Type="http://schemas.openxmlformats.org/officeDocument/2006/relationships/slide" Target="slide14.xml"/><Relationship Id="rId1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image" Target="../media/image27.jpg"/><Relationship Id="rId6" Type="http://schemas.openxmlformats.org/officeDocument/2006/relationships/slide" Target="slide9.xml"/><Relationship Id="rId7" Type="http://schemas.openxmlformats.org/officeDocument/2006/relationships/audio" Target="../media/sound2.wav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image" Target="../media/image4.jpg"/><Relationship Id="rId6" Type="http://schemas.openxmlformats.org/officeDocument/2006/relationships/slide" Target="slide10.xml"/><Relationship Id="rId7" Type="http://schemas.openxmlformats.org/officeDocument/2006/relationships/audio" Target="../media/sound2.wav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image" Target="../media/image28.jpg"/><Relationship Id="rId6" Type="http://schemas.openxmlformats.org/officeDocument/2006/relationships/slide" Target="slide11.xml"/><Relationship Id="rId7" Type="http://schemas.openxmlformats.org/officeDocument/2006/relationships/audio" Target="../media/sound2.wav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image" Target="../media/image30.jpg"/><Relationship Id="rId6" Type="http://schemas.openxmlformats.org/officeDocument/2006/relationships/image" Target="../media/image31.png"/><Relationship Id="rId7" Type="http://schemas.openxmlformats.org/officeDocument/2006/relationships/slide" Target="slide12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5.png"/><Relationship Id="rId8" Type="http://schemas.openxmlformats.org/officeDocument/2006/relationships/slide" Target="slide13.xml"/><Relationship Id="rId9" Type="http://schemas.openxmlformats.org/officeDocument/2006/relationships/audio" Target="../media/sound3.wav"/><Relationship Id="rId10" Type="http://schemas.openxmlformats.org/officeDocument/2006/relationships/audio" Target="../media/sound1.wav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image" Target="../media/image34.png"/><Relationship Id="rId6" Type="http://schemas.openxmlformats.org/officeDocument/2006/relationships/slide" Target="slide14.xml"/><Relationship Id="rId7" Type="http://schemas.openxmlformats.org/officeDocument/2006/relationships/audio" Target="../media/sound2.wav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image" Target="../media/image36.jpg"/><Relationship Id="rId6" Type="http://schemas.openxmlformats.org/officeDocument/2006/relationships/slide" Target="slide15.xml"/><Relationship Id="rId7" Type="http://schemas.openxmlformats.org/officeDocument/2006/relationships/audio" Target="../media/sound4.wav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slide" Target="slide5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2.jp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image" Target="../media/image36.jpg"/><Relationship Id="rId6" Type="http://schemas.openxmlformats.org/officeDocument/2006/relationships/slide" Target="slide17.xml"/><Relationship Id="rId7" Type="http://schemas.openxmlformats.org/officeDocument/2006/relationships/image" Target="../media/image4.jpg"/><Relationship Id="rId8" Type="http://schemas.openxmlformats.org/officeDocument/2006/relationships/slide" Target="slide22.xml"/><Relationship Id="rId9" Type="http://schemas.openxmlformats.org/officeDocument/2006/relationships/image" Target="../media/image37.jpg"/><Relationship Id="rId10" Type="http://schemas.openxmlformats.org/officeDocument/2006/relationships/slide" Target="slide23.xml"/><Relationship Id="rId1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image" Target="../media/image38.png"/><Relationship Id="rId6" Type="http://schemas.openxmlformats.org/officeDocument/2006/relationships/slide" Target="slide18.xml"/><Relationship Id="rId7" Type="http://schemas.openxmlformats.org/officeDocument/2006/relationships/audio" Target="../media/sound3.wav"/><Relationship Id="rId8" Type="http://schemas.openxmlformats.org/officeDocument/2006/relationships/audio" Target="../media/sound1.wav"/><Relationship Id="rId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image" Target="../media/image38.png"/><Relationship Id="rId6" Type="http://schemas.openxmlformats.org/officeDocument/2006/relationships/slide" Target="slide19.xml"/><Relationship Id="rId7" Type="http://schemas.openxmlformats.org/officeDocument/2006/relationships/audio" Target="../media/sound1.wav"/><Relationship Id="rId8" Type="http://schemas.openxmlformats.org/officeDocument/2006/relationships/audio" Target="../media/sound3.wav"/><Relationship Id="rId9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image" Target="../media/image38.png"/><Relationship Id="rId6" Type="http://schemas.openxmlformats.org/officeDocument/2006/relationships/slide" Target="slide20.xml"/><Relationship Id="rId7" Type="http://schemas.openxmlformats.org/officeDocument/2006/relationships/audio" Target="../media/sound3.wav"/><Relationship Id="rId8" Type="http://schemas.openxmlformats.org/officeDocument/2006/relationships/audio" Target="../media/sound1.wav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image" Target="../media/image38.png"/><Relationship Id="rId6" Type="http://schemas.openxmlformats.org/officeDocument/2006/relationships/slide" Target="slide21.xml"/><Relationship Id="rId7" Type="http://schemas.openxmlformats.org/officeDocument/2006/relationships/audio" Target="../media/sound3.wav"/><Relationship Id="rId8" Type="http://schemas.openxmlformats.org/officeDocument/2006/relationships/audio" Target="../media/sound1.wav"/><Relationship Id="rId9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image" Target="../media/image38.png"/><Relationship Id="rId6" Type="http://schemas.openxmlformats.org/officeDocument/2006/relationships/slide" Target="slide22.xml"/><Relationship Id="rId7" Type="http://schemas.openxmlformats.org/officeDocument/2006/relationships/audio" Target="../media/sound1.wav"/><Relationship Id="rId8" Type="http://schemas.openxmlformats.org/officeDocument/2006/relationships/audio" Target="../media/sound3.wav"/><Relationship Id="rId9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4.jpg"/><Relationship Id="rId5" Type="http://schemas.openxmlformats.org/officeDocument/2006/relationships/slide" Target="slide23.xml"/><Relationship Id="rId6" Type="http://schemas.openxmlformats.org/officeDocument/2006/relationships/audio" Target="../media/sound1.wav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slide" Target="slide24.xml"/><Relationship Id="rId5" Type="http://schemas.openxmlformats.org/officeDocument/2006/relationships/audio" Target="../media/sound4.wav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slide" Target="slide5.xml"/><Relationship Id="rId4" Type="http://schemas.openxmlformats.org/officeDocument/2006/relationships/image" Target="../media/image39.png"/><Relationship Id="rId5" Type="http://schemas.openxmlformats.org/officeDocument/2006/relationships/hyperlink" Target="https://kostik-skeleton.lovable.app" TargetMode="External"/><Relationship Id="rId6" Type="http://schemas.openxmlformats.org/officeDocument/2006/relationships/image" Target="../media/image40.png"/><Relationship Id="rId7" Type="http://schemas.openxmlformats.org/officeDocument/2006/relationships/audio" Target="../media/sound2.wav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slide" Target="slide5.xml"/><Relationship Id="rId4" Type="http://schemas.openxmlformats.org/officeDocument/2006/relationships/audio" Target="../media/sound1.wav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Relationship Id="rId3" Type="http://schemas.openxmlformats.org/officeDocument/2006/relationships/slide" Target="slide5.xml"/><Relationship Id="rId4" Type="http://schemas.openxmlformats.org/officeDocument/2006/relationships/image" Target="../media/image38.png"/><Relationship Id="rId5" Type="http://schemas.openxmlformats.org/officeDocument/2006/relationships/image" Target="../media/image4.jpg"/><Relationship Id="rId6" Type="http://schemas.openxmlformats.org/officeDocument/2006/relationships/image" Target="../media/image28.jpg"/><Relationship Id="rId7" Type="http://schemas.openxmlformats.org/officeDocument/2006/relationships/image" Target="../media/image30.jpg"/><Relationship Id="rId8" Type="http://schemas.openxmlformats.org/officeDocument/2006/relationships/image" Target="../media/image33.jpg"/><Relationship Id="rId9" Type="http://schemas.openxmlformats.org/officeDocument/2006/relationships/audio" Target="../media/sound5.wav"/><Relationship Id="rId10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slide" Target="slide5.xml"/><Relationship Id="rId4" Type="http://schemas.openxmlformats.org/officeDocument/2006/relationships/image" Target="../media/image41.jpg"/><Relationship Id="rId5" Type="http://schemas.openxmlformats.org/officeDocument/2006/relationships/image" Target="../media/image15.jp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Relationship Id="rId3" Type="http://schemas.openxmlformats.org/officeDocument/2006/relationships/slide" Target="slide5.xml"/><Relationship Id="rId4" Type="http://schemas.openxmlformats.org/officeDocument/2006/relationships/image" Target="../media/image43.png"/><Relationship Id="rId5" Type="http://schemas.openxmlformats.org/officeDocument/2006/relationships/image" Target="../media/image5.png"/><Relationship Id="rId6" Type="http://schemas.openxmlformats.org/officeDocument/2006/relationships/image" Target="../media/image38.png"/><Relationship Id="rId7" Type="http://schemas.openxmlformats.org/officeDocument/2006/relationships/audio" Target="../media/sound2.wav"/><Relationship Id="rId8" Type="http://schemas.openxmlformats.org/officeDocument/2006/relationships/audio" Target="../media/sound5.wav"/><Relationship Id="rId9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slide" Target="slide5.xml"/><Relationship Id="rId4" Type="http://schemas.openxmlformats.org/officeDocument/2006/relationships/image" Target="../media/image4.jpg"/><Relationship Id="rId5" Type="http://schemas.openxmlformats.org/officeDocument/2006/relationships/image" Target="../media/image36.jpg"/><Relationship Id="rId6" Type="http://schemas.openxmlformats.org/officeDocument/2006/relationships/image" Target="../media/image16.jpg"/><Relationship Id="rId7" Type="http://schemas.openxmlformats.org/officeDocument/2006/relationships/image" Target="../media/image33.jpg"/><Relationship Id="rId8" Type="http://schemas.openxmlformats.org/officeDocument/2006/relationships/audio" Target="../media/sound1.wav"/><Relationship Id="rId9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Relationship Id="rId3" Type="http://schemas.openxmlformats.org/officeDocument/2006/relationships/image" Target="../media/image2.png"/><Relationship Id="rId4" Type="http://schemas.openxmlformats.org/officeDocument/2006/relationships/audio" Target="../media/sound5.wav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slide" Target="slide5.xml"/><Relationship Id="rId4" Type="http://schemas.openxmlformats.org/officeDocument/2006/relationships/hyperlink" Target="https://youtu.be/6C_RWeZtCNg?si=fnJgUxPPG3wl2pDA" TargetMode="External"/><Relationship Id="rId5" Type="http://schemas.openxmlformats.org/officeDocument/2006/relationships/hyperlink" Target="https://kostik-skeleton.lovable.app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2.jpg"/><Relationship Id="rId9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her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1554480"/>
            <a:ext cx="7132320" cy="2194560"/>
          </a:xfrm>
        </p:spPr>
        <p:txBody>
          <a:bodyPr wrap="square" lIns="0" rIns="0" tIns="0" bIns="0" anchor="t">
            <a:noAutofit/>
            <a:scene3d>
              <a:camera prst="obliqueBottomRight"/>
              <a:lightRig rig="balanced" dir="t"/>
            </a:scene3d>
            <a:sp3d extrusionH="54864" prstMaterial="softEdge">
              <a:bevelT w="18288" h="10973"/>
              <a:extrusionClr>
                <a:srgbClr val="140F3C"/>
              </a:extrusionClr>
            </a:sp3d>
          </a:bodyPr>
          <a:lstStyle/>
          <a:p>
            <a:pPr algn="l">
              <a:lnSpc>
                <a:spcPct val="100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/>
            </a:r>
            <a:r>
              <a:rPr sz="5600" b="0" i="0" lang="ru-RU">
                <a:solidFill>
                  <a:srgbClr val="FFFFFF"/>
                </a:solidFill>
                <a:latin typeface="Unbounded"/>
                <a:cs typeface="Unbounded"/>
              </a:rPr>
              <a:t>Опора тела</a:t>
            </a:r>
          </a:p>
          <a:p>
            <a:pPr algn="l">
              <a:lnSpc>
                <a:spcPct val="100000"/>
              </a:lnSpc>
            </a:pPr>
            <a:r>
              <a:rPr sz="5600" b="0" i="0" lang="ru-RU">
                <a:solidFill>
                  <a:srgbClr val="FFC23C"/>
                </a:solidFill>
                <a:latin typeface="Unbounded"/>
                <a:cs typeface="Unbounded"/>
              </a:rPr>
              <a:t>и движение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731520" y="1143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C23C"/>
                </a:solidFill>
                <a:latin typeface="Nunito"/>
                <a:cs typeface="Nunito"/>
              </a:rPr>
              <a:t>ОКРУЖАЮЩИЙ МИР  ·  3 КЛАСС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31520" y="38404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 lang="ru-RU">
                <a:solidFill>
                  <a:srgbClr val="E9E4FF"/>
                </a:solidFill>
                <a:latin typeface="Caveat"/>
                <a:cs typeface="Caveat"/>
              </a:rPr>
              <a:t>Путешествие в музей «Тело человека» вместе с Костиком</a:t>
            </a:r>
          </a:p>
        </p:txBody>
      </p:sp>
      <p:sp>
        <p:nvSpPr>
          <p:cNvPr id="6" name="author card"/>
          <p:cNvSpPr/>
          <p:nvPr/>
        </p:nvSpPr>
        <p:spPr>
          <a:xfrm>
            <a:off x="731520" y="4983480"/>
            <a:ext cx="4297680" cy="960120"/>
          </a:xfrm>
          <a:prstGeom prst="roundRect">
            <a:avLst>
              <a:gd name="adj" fmla="val 28571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uthor text"/>
          <p:cNvSpPr txBox="1"/>
          <p:nvPr/>
        </p:nvSpPr>
        <p:spPr>
          <a:xfrm>
            <a:off x="1005840" y="4983480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 lang="ru-RU">
                <a:solidFill>
                  <a:srgbClr val="FFFFFF"/>
                </a:solidFill>
                <a:latin typeface="Nunito"/>
                <a:cs typeface="Nunito"/>
              </a:rPr>
              <a:t>Автор: Шелешко А.И.</a:t>
            </a:r>
          </a:p>
          <a:p>
            <a:pPr algn="l"/>
            <a:r>
              <a:rPr sz="1500" b="1" i="0" lang="ru-RU">
                <a:solidFill>
                  <a:srgbClr val="D9D2FF"/>
                </a:solidFill>
                <a:latin typeface="Nunito"/>
                <a:cs typeface="Nunito"/>
              </a:rPr>
              <a:t>группа П-31</a:t>
            </a:r>
          </a:p>
        </p:txBody>
      </p:sp>
      <p:pic>
        <p:nvPicPr>
          <p:cNvPr id="8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273" y="1051560"/>
            <a:ext cx="3044414" cy="5577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="http://schemas.microsoft.com/office/powerpoint/2012/main" Requires="p15">
      <p:transition spd="slow" p14:dur="22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2000" decel="10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9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7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200"/>
                            </p:stCondLst>
                            <p:childTnLst>
                              <p:par>
                                <p:cTn id="38" presetID="0" presetClass="path" presetSubtype="0" accel="50000" decel="50000" autoRev="1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18 E" pathEditMode="relative" rAng="0" ptsTypes="AA">
                                      <p:cBhvr>
                                        <p:cTn id="39" dur="1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Отгадайте загадку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РАЗМИНКА ДЛЯ УМА</a:t>
            </a:r>
          </a:p>
        </p:txBody>
      </p:sp>
      <p:sp>
        <p:nvSpPr>
          <p:cNvPr id="5" name="riddle card"/>
          <p:cNvSpPr/>
          <p:nvPr/>
        </p:nvSpPr>
        <p:spPr>
          <a:xfrm>
            <a:off x="548640" y="1691640"/>
            <a:ext cx="7223760" cy="4526280"/>
          </a:xfrm>
          <a:prstGeom prst="roundRect">
            <a:avLst>
              <a:gd name="adj" fmla="val 505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quote mark"/>
          <p:cNvSpPr txBox="1"/>
          <p:nvPr/>
        </p:nvSpPr>
        <p:spPr>
          <a:xfrm>
            <a:off x="777240" y="14173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0" b="0" i="0" lang="ru-RU">
                <a:solidFill>
                  <a:srgbClr val="B9A9FF"/>
                </a:solidFill>
                <a:latin typeface="Unbounded"/>
                <a:cs typeface="Unbounded"/>
              </a:rPr>
              <a:t>«</a:t>
            </a:r>
          </a:p>
        </p:txBody>
      </p:sp>
      <p:sp>
        <p:nvSpPr>
          <p:cNvPr id="7" name="riddle"/>
          <p:cNvSpPr txBox="1"/>
          <p:nvPr/>
        </p:nvSpPr>
        <p:spPr>
          <a:xfrm>
            <a:off x="1188720" y="2606040"/>
            <a:ext cx="63093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 lang="ru-RU">
                <a:solidFill>
                  <a:srgbClr val="2B2A5A"/>
                </a:solidFill>
                <a:latin typeface="Caveat"/>
                <a:cs typeface="Caveat"/>
              </a:rPr>
              <a:t>Он внутри у нас таится,</a:t>
            </a:r>
          </a:p>
          <a:p>
            <a:pPr algn="l">
              <a:lnSpc>
                <a:spcPct val="95000"/>
              </a:lnSpc>
            </a:pPr>
            <a:r>
              <a:rPr sz="3800" b="0" i="0" lang="ru-RU">
                <a:solidFill>
                  <a:srgbClr val="2B2A5A"/>
                </a:solidFill>
                <a:latin typeface="Caveat"/>
                <a:cs typeface="Caveat"/>
              </a:rPr>
              <a:t>Помогает не свалиться,</a:t>
            </a:r>
          </a:p>
          <a:p>
            <a:pPr algn="l">
              <a:lnSpc>
                <a:spcPct val="95000"/>
              </a:lnSpc>
            </a:pPr>
            <a:r>
              <a:rPr sz="3800" b="0" i="0" lang="ru-RU">
                <a:solidFill>
                  <a:srgbClr val="2B2A5A"/>
                </a:solidFill>
                <a:latin typeface="Caveat"/>
                <a:cs typeface="Caveat"/>
              </a:rPr>
              <a:t>Держит тело, как каркас.</a:t>
            </a:r>
          </a:p>
          <a:p>
            <a:pPr algn="l">
              <a:lnSpc>
                <a:spcPct val="95000"/>
              </a:lnSpc>
            </a:pPr>
            <a:r>
              <a:rPr sz="3800" b="0" i="0" lang="ru-RU">
                <a:solidFill>
                  <a:srgbClr val="2B2A5A"/>
                </a:solidFill>
                <a:latin typeface="Caveat"/>
                <a:cs typeface="Caveat"/>
              </a:rPr>
              <a:t>Что же это есть у нас?</a:t>
            </a:r>
          </a:p>
        </p:txBody>
      </p:sp>
      <p:sp>
        <p:nvSpPr>
          <p:cNvPr id="8" name="answer"/>
          <p:cNvSpPr/>
          <p:nvPr/>
        </p:nvSpPr>
        <p:spPr>
          <a:xfrm>
            <a:off x="1143000" y="5120640"/>
            <a:ext cx="3017520" cy="777240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64592" dist="54864" dir="5400000" algn="t" rotWithShape="0">
              <a:srgbClr val="2B2A5A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 w="82296" h="32004" prst="circle"/>
          </a:sp3d>
        </p:spPr>
        <p:txBody>
          <a:bodyPr rtlCol="0" anchor="ctr" wrap="square" tIns="18288" bIns="18288">
            <a:noAutofit/>
          </a:bodyPr>
          <a:lstStyle/>
          <a:p>
            <a:pPr algn="ctr"/>
            <a:r>
              <a:rPr sz="2600" b="0" i="0" lang="ru-RU">
                <a:solidFill>
                  <a:srgbClr val="2B2A5A"/>
                </a:solidFill>
                <a:latin typeface="Unbounded"/>
                <a:cs typeface="Unbounded"/>
              </a:rPr>
              <a:t>СКЕЛЕТ</a:t>
            </a:r>
          </a:p>
        </p:txBody>
      </p:sp>
      <p:pic>
        <p:nvPicPr>
          <p:cNvPr id="9" name="answer photo" descr="Скелет человека"/>
          <p:cNvPicPr>
            <a:picLocks noChangeAspect="1"/>
          </p:cNvPicPr>
          <p:nvPr/>
        </p:nvPicPr>
        <p:blipFill>
          <a:blip r:embed="rId3"/>
          <a:srcRect l="19000" r="19000" t="9853" b="43853"/>
          <a:stretch>
            <a:fillRect/>
          </a:stretch>
        </p:blipFill>
        <p:spPr>
          <a:xfrm>
            <a:off x="4434840" y="4800600"/>
            <a:ext cx="1325880" cy="1325880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pic>
        <p:nvPicPr>
          <p:cNvPr id="10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507" y="1417320"/>
            <a:ext cx="2090586" cy="5212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27"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ky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692640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 lang="ru-RU">
                <a:solidFill>
                  <a:srgbClr val="2B2A5A"/>
                </a:solidFill>
                <a:latin typeface="Unbounded"/>
                <a:cs typeface="Unbounded"/>
              </a:rPr>
              <a:t>Почему медуза растекается, а мальчик прыгает?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6B6B"/>
                </a:solidFill>
                <a:latin typeface="Nunito"/>
                <a:cs typeface="Nunito"/>
              </a:rPr>
              <a:t>ПРОБЛЕМНЫЙ ВОПРОС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jelly photo" descr="Медуза растеклась на песке, а мальчик высоко прыгает"/>
          <p:cNvPicPr>
            <a:picLocks noChangeAspect="1"/>
          </p:cNvPicPr>
          <p:nvPr/>
        </p:nvPicPr>
        <p:blipFill>
          <a:blip r:embed="rId4"/>
          <a:srcRect l="11934" r="1934"/>
          <a:stretch>
            <a:fillRect/>
          </a:stretch>
        </p:blipFill>
        <p:spPr>
          <a:xfrm>
            <a:off x="548640" y="1828800"/>
            <a:ext cx="6675120" cy="3886200"/>
          </a:xfrm>
          <a:prstGeom prst="roundRect">
            <a:avLst>
              <a:gd name="adj" fmla="val 5176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7" name="card jelly"/>
          <p:cNvSpPr/>
          <p:nvPr/>
        </p:nvSpPr>
        <p:spPr>
          <a:xfrm>
            <a:off x="7543800" y="1828800"/>
            <a:ext cx="4096512" cy="1828800"/>
          </a:xfrm>
          <a:prstGeom prst="roundRect">
            <a:avLst>
              <a:gd name="adj" fmla="val 125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8" name="badge jelly" descr=""/>
          <p:cNvPicPr>
            <a:picLocks noChangeAspect="1"/>
          </p:cNvPicPr>
          <p:nvPr/>
        </p:nvPicPr>
        <p:blipFill>
          <a:blip r:embed="rId4"/>
          <a:srcRect l="31469" r="47469" t="58000"/>
          <a:stretch>
            <a:fillRect/>
          </a:stretch>
        </p:blipFill>
        <p:spPr>
          <a:xfrm>
            <a:off x="7726680" y="2103120"/>
            <a:ext cx="1234440" cy="1234440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9" name="text jelly"/>
          <p:cNvSpPr txBox="1"/>
          <p:nvPr/>
        </p:nvSpPr>
        <p:spPr>
          <a:xfrm>
            <a:off x="9098280" y="1828800"/>
            <a:ext cx="2423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У медузы нет скелета — на суше её мягкое тело не держит форму</a:t>
            </a:r>
          </a:p>
        </p:txBody>
      </p:sp>
      <p:sp>
        <p:nvSpPr>
          <p:cNvPr id="10" name="card human"/>
          <p:cNvSpPr/>
          <p:nvPr/>
        </p:nvSpPr>
        <p:spPr>
          <a:xfrm>
            <a:off x="7543800" y="3886200"/>
            <a:ext cx="4096512" cy="1828800"/>
          </a:xfrm>
          <a:prstGeom prst="roundRect">
            <a:avLst>
              <a:gd name="adj" fmla="val 125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badge boy" descr=""/>
          <p:cNvPicPr>
            <a:picLocks noChangeAspect="1"/>
          </p:cNvPicPr>
          <p:nvPr/>
        </p:nvPicPr>
        <p:blipFill>
          <a:blip r:embed="rId4"/>
          <a:srcRect l="53443" r="7443" t="1000" b="21000"/>
          <a:stretch>
            <a:fillRect/>
          </a:stretch>
        </p:blipFill>
        <p:spPr>
          <a:xfrm>
            <a:off x="7726680" y="4160520"/>
            <a:ext cx="1234440" cy="1234440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2" name="text human"/>
          <p:cNvSpPr txBox="1"/>
          <p:nvPr/>
        </p:nvSpPr>
        <p:spPr>
          <a:xfrm>
            <a:off x="9098280" y="3886200"/>
            <a:ext cx="2423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У человека есть </a:t>
            </a:r>
            <a:r>
              <a:rPr sz="1500" b="1" i="0" lang="ru-RU">
                <a:solidFill>
                  <a:srgbClr val="6C5CE7"/>
                </a:solidFill>
                <a:latin typeface="Nunito"/>
                <a:cs typeface="Nunito"/>
              </a:rPr>
              <a:t>скелет</a:t>
            </a:r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 и </a:t>
            </a:r>
            <a:r>
              <a:rPr sz="1500" b="1" i="0" lang="ru-RU">
                <a:solidFill>
                  <a:srgbClr val="FF6B6B"/>
                </a:solidFill>
                <a:latin typeface="Nunito"/>
                <a:cs typeface="Nunito"/>
              </a:rPr>
              <a:t>мышцы</a:t>
            </a:r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 — это опора тела и движение!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 dir="cent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id="34"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mint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Опора тела и движение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13846F"/>
                </a:solidFill>
                <a:latin typeface="Nunito"/>
                <a:cs typeface="Nunito"/>
              </a:rPr>
              <a:t>ТЕМА УРОКА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goal card" descr="Дети занимаются спортом"/>
          <p:cNvPicPr>
            <a:picLocks noChangeAspect="1"/>
          </p:cNvPicPr>
          <p:nvPr/>
        </p:nvPicPr>
        <p:blipFill>
          <a:blip r:embed="rId4"/>
          <a:srcRect l="487" r="487"/>
          <a:stretch>
            <a:fillRect/>
          </a:stretch>
        </p:blipFill>
        <p:spPr>
          <a:xfrm>
            <a:off x="548640" y="1691640"/>
            <a:ext cx="4160520" cy="4434840"/>
          </a:xfrm>
          <a:prstGeom prst="roundRect">
            <a:avLst>
              <a:gd name="adj" fmla="val 6593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7" name="goal head"/>
          <p:cNvSpPr txBox="1"/>
          <p:nvPr/>
        </p:nvSpPr>
        <p:spPr>
          <a:xfrm>
            <a:off x="868680" y="370332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ru-RU">
                <a:solidFill>
                  <a:srgbClr val="FFC23C"/>
                </a:solidFill>
                <a:latin typeface="Unbounded"/>
                <a:cs typeface="Unbounded"/>
              </a:rPr>
              <a:t>Цель урока</a:t>
            </a:r>
          </a:p>
        </p:txBody>
      </p:sp>
      <p:sp>
        <p:nvSpPr>
          <p:cNvPr id="8" name="goal text"/>
          <p:cNvSpPr txBox="1"/>
          <p:nvPr/>
        </p:nvSpPr>
        <p:spPr>
          <a:xfrm>
            <a:off x="868680" y="4251960"/>
            <a:ext cx="356616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 lang="ru-RU">
                <a:solidFill>
                  <a:srgbClr val="FFFFFF"/>
                </a:solidFill>
                <a:latin typeface="Nunito"/>
                <a:cs typeface="Nunito"/>
              </a:rPr>
              <a:t>Узнать, что помогает нашему телу держать форму и двигаться</a:t>
            </a:r>
          </a:p>
        </p:txBody>
      </p:sp>
      <p:sp>
        <p:nvSpPr>
          <p:cNvPr id="9" name="tasks head"/>
          <p:cNvSpPr txBox="1"/>
          <p:nvPr/>
        </p:nvSpPr>
        <p:spPr>
          <a:xfrm>
            <a:off x="5074920" y="1691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ru-RU">
                <a:solidFill>
                  <a:srgbClr val="2B2A5A"/>
                </a:solidFill>
                <a:latin typeface="Unbounded"/>
                <a:cs typeface="Unbounded"/>
              </a:rPr>
              <a:t>Задачи</a:t>
            </a:r>
          </a:p>
        </p:txBody>
      </p:sp>
      <p:sp>
        <p:nvSpPr>
          <p:cNvPr id="10" name="task 1"/>
          <p:cNvSpPr/>
          <p:nvPr/>
        </p:nvSpPr>
        <p:spPr>
          <a:xfrm>
            <a:off x="5074920" y="2286000"/>
            <a:ext cx="6565392" cy="841248"/>
          </a:xfrm>
          <a:prstGeom prst="roundRect">
            <a:avLst>
              <a:gd name="adj" fmla="val 2717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sk num 1"/>
          <p:cNvSpPr txBox="1"/>
          <p:nvPr/>
        </p:nvSpPr>
        <p:spPr>
          <a:xfrm>
            <a:off x="5303520" y="2286000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 lang="ru-RU">
                <a:solidFill>
                  <a:srgbClr val="3BA7F5"/>
                </a:solidFill>
                <a:latin typeface="Unbounded"/>
                <a:cs typeface="Unbounded"/>
              </a:rPr>
              <a:t>01</a:t>
            </a:r>
          </a:p>
        </p:txBody>
      </p:sp>
      <p:sp>
        <p:nvSpPr>
          <p:cNvPr id="12" name="task text 1"/>
          <p:cNvSpPr txBox="1"/>
          <p:nvPr/>
        </p:nvSpPr>
        <p:spPr>
          <a:xfrm>
            <a:off x="6263640" y="2286000"/>
            <a:ext cx="52578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Познакомиться со скелетом и его частями</a:t>
            </a:r>
          </a:p>
        </p:txBody>
      </p:sp>
      <p:sp>
        <p:nvSpPr>
          <p:cNvPr id="13" name="task 2"/>
          <p:cNvSpPr/>
          <p:nvPr/>
        </p:nvSpPr>
        <p:spPr>
          <a:xfrm>
            <a:off x="5074920" y="3264408"/>
            <a:ext cx="6565392" cy="841248"/>
          </a:xfrm>
          <a:prstGeom prst="roundRect">
            <a:avLst>
              <a:gd name="adj" fmla="val 2717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ask num 2"/>
          <p:cNvSpPr txBox="1"/>
          <p:nvPr/>
        </p:nvSpPr>
        <p:spPr>
          <a:xfrm>
            <a:off x="5303520" y="3264408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 lang="ru-RU">
                <a:solidFill>
                  <a:srgbClr val="FF6B6B"/>
                </a:solidFill>
                <a:latin typeface="Unbounded"/>
                <a:cs typeface="Unbounded"/>
              </a:rPr>
              <a:t>02</a:t>
            </a:r>
          </a:p>
        </p:txBody>
      </p:sp>
      <p:sp>
        <p:nvSpPr>
          <p:cNvPr id="15" name="task text 2"/>
          <p:cNvSpPr txBox="1"/>
          <p:nvPr/>
        </p:nvSpPr>
        <p:spPr>
          <a:xfrm>
            <a:off x="6263640" y="3264408"/>
            <a:ext cx="52578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Узнать, как работают суставы и мышцы</a:t>
            </a:r>
          </a:p>
        </p:txBody>
      </p:sp>
      <p:sp>
        <p:nvSpPr>
          <p:cNvPr id="16" name="task 3"/>
          <p:cNvSpPr/>
          <p:nvPr/>
        </p:nvSpPr>
        <p:spPr>
          <a:xfrm>
            <a:off x="5074920" y="4242816"/>
            <a:ext cx="6565392" cy="841248"/>
          </a:xfrm>
          <a:prstGeom prst="roundRect">
            <a:avLst>
              <a:gd name="adj" fmla="val 2717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ask num 3"/>
          <p:cNvSpPr txBox="1"/>
          <p:nvPr/>
        </p:nvSpPr>
        <p:spPr>
          <a:xfrm>
            <a:off x="5303520" y="4242816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 lang="ru-RU">
                <a:solidFill>
                  <a:srgbClr val="13A386"/>
                </a:solidFill>
                <a:latin typeface="Unbounded"/>
                <a:cs typeface="Unbounded"/>
              </a:rPr>
              <a:t>03</a:t>
            </a:r>
          </a:p>
        </p:txBody>
      </p:sp>
      <p:sp>
        <p:nvSpPr>
          <p:cNvPr id="18" name="task text 3"/>
          <p:cNvSpPr txBox="1"/>
          <p:nvPr/>
        </p:nvSpPr>
        <p:spPr>
          <a:xfrm>
            <a:off x="6263640" y="4242816"/>
            <a:ext cx="52578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Выяснить, что такое осанка и как её беречь</a:t>
            </a:r>
          </a:p>
        </p:txBody>
      </p:sp>
      <p:sp>
        <p:nvSpPr>
          <p:cNvPr id="19" name="task 4"/>
          <p:cNvSpPr/>
          <p:nvPr/>
        </p:nvSpPr>
        <p:spPr>
          <a:xfrm>
            <a:off x="5074920" y="5221224"/>
            <a:ext cx="6565392" cy="841248"/>
          </a:xfrm>
          <a:prstGeom prst="roundRect">
            <a:avLst>
              <a:gd name="adj" fmla="val 2717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ask num 4"/>
          <p:cNvSpPr txBox="1"/>
          <p:nvPr/>
        </p:nvSpPr>
        <p:spPr>
          <a:xfrm>
            <a:off x="5303520" y="5221224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 lang="ru-RU">
                <a:solidFill>
                  <a:srgbClr val="E39B00"/>
                </a:solidFill>
                <a:latin typeface="Unbounded"/>
                <a:cs typeface="Unbounded"/>
              </a:rPr>
              <a:t>04</a:t>
            </a:r>
          </a:p>
        </p:txBody>
      </p:sp>
      <p:sp>
        <p:nvSpPr>
          <p:cNvPr id="21" name="task text 4"/>
          <p:cNvSpPr txBox="1"/>
          <p:nvPr/>
        </p:nvSpPr>
        <p:spPr>
          <a:xfrm>
            <a:off x="6263640" y="5221224"/>
            <a:ext cx="525780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Проверить свои знания в играх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ky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Маршрут нашего урока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СОДЕРЖАНИЕ</a:t>
            </a:r>
          </a:p>
        </p:txBody>
      </p:sp>
      <p:sp>
        <p:nvSpPr>
          <p:cNvPr id="5" name="route hint"/>
          <p:cNvSpPr txBox="1"/>
          <p:nvPr/>
        </p:nvSpPr>
        <p:spPr>
          <a:xfrm>
            <a:off x="548640" y="11887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0" i="0" lang="ru-RU">
                <a:solidFill>
                  <a:srgbClr val="6C5CE7"/>
                </a:solidFill>
                <a:latin typeface="Caveat"/>
                <a:cs typeface="Caveat"/>
              </a:rPr>
              <a:t>Нажми на картинку — и мы сразу туда отправимся!</a:t>
            </a:r>
          </a:p>
        </p:txBody>
      </p:sp>
      <p:sp>
        <p:nvSpPr>
          <p:cNvPr id="6" name="station card 1"/>
          <p:cNvSpPr/>
          <p:nvPr/>
        </p:nvSpPr>
        <p:spPr>
          <a:xfrm>
            <a:off x="548640" y="1783080"/>
            <a:ext cx="2615184" cy="2121408"/>
          </a:xfrm>
          <a:prstGeom prst="roundRect">
            <a:avLst>
              <a:gd name="adj" fmla="val 1077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station photo 1" descr=""/>
          <p:cNvPicPr>
            <a:picLocks noChangeAspect="1"/>
          </p:cNvPicPr>
          <p:nvPr/>
        </p:nvPicPr>
        <p:blipFill>
          <a:blip r:embed="rId3"/>
          <a:srcRect l="8831" r="8831"/>
          <a:stretch>
            <a:fillRect/>
          </a:stretch>
        </p:blipFill>
        <p:spPr>
          <a:xfrm>
            <a:off x="640080" y="1874520"/>
            <a:ext cx="2432304" cy="1481328"/>
          </a:xfrm>
          <a:prstGeom prst="roundRect">
            <a:avLst>
              <a:gd name="adj" fmla="val 11111"/>
            </a:avLst>
          </a:prstGeom>
        </p:spPr>
      </p:pic>
      <p:sp>
        <p:nvSpPr>
          <p:cNvPr id="8" name="station num 1"/>
          <p:cNvSpPr txBox="1"/>
          <p:nvPr/>
        </p:nvSpPr>
        <p:spPr>
          <a:xfrm>
            <a:off x="731520" y="3355848"/>
            <a:ext cx="594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ru-RU">
                <a:solidFill>
                  <a:srgbClr val="FF6B6B"/>
                </a:solidFill>
                <a:latin typeface="Unbounded"/>
                <a:cs typeface="Unbounded"/>
              </a:rPr>
              <a:t>01</a:t>
            </a:r>
          </a:p>
        </p:txBody>
      </p:sp>
      <p:sp>
        <p:nvSpPr>
          <p:cNvPr id="9" name="station label 1"/>
          <p:cNvSpPr txBox="1"/>
          <p:nvPr/>
        </p:nvSpPr>
        <p:spPr>
          <a:xfrm>
            <a:off x="1298448" y="3355848"/>
            <a:ext cx="174650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Видеоэкскурсия</a:t>
            </a:r>
          </a:p>
        </p:txBody>
      </p:sp>
      <p:sp>
        <p:nvSpPr>
          <p:cNvPr id="10" name="station link 1">
            <a:hlinkClick action="ppaction://hlinksldjump" r:id="rId4"/>
          </p:cNvPr>
          <p:cNvSpPr/>
          <p:nvPr/>
        </p:nvSpPr>
        <p:spPr>
          <a:xfrm>
            <a:off x="548640" y="1783080"/>
            <a:ext cx="2615184" cy="21214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tation card 2"/>
          <p:cNvSpPr/>
          <p:nvPr/>
        </p:nvSpPr>
        <p:spPr>
          <a:xfrm>
            <a:off x="3374136" y="1783080"/>
            <a:ext cx="2615184" cy="2121408"/>
          </a:xfrm>
          <a:prstGeom prst="roundRect">
            <a:avLst>
              <a:gd name="adj" fmla="val 1077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" name="station photo 2" descr=""/>
          <p:cNvPicPr>
            <a:picLocks noChangeAspect="1"/>
          </p:cNvPicPr>
          <p:nvPr/>
        </p:nvPicPr>
        <p:blipFill>
          <a:blip r:embed="rId5"/>
          <a:srcRect l="8831" r="8831"/>
          <a:stretch>
            <a:fillRect/>
          </a:stretch>
        </p:blipFill>
        <p:spPr>
          <a:xfrm>
            <a:off x="3465576" y="1874520"/>
            <a:ext cx="2432304" cy="1481328"/>
          </a:xfrm>
          <a:prstGeom prst="roundRect">
            <a:avLst>
              <a:gd name="adj" fmla="val 11111"/>
            </a:avLst>
          </a:prstGeom>
        </p:spPr>
      </p:pic>
      <p:sp>
        <p:nvSpPr>
          <p:cNvPr id="13" name="station num 2"/>
          <p:cNvSpPr txBox="1"/>
          <p:nvPr/>
        </p:nvSpPr>
        <p:spPr>
          <a:xfrm>
            <a:off x="3557016" y="3355848"/>
            <a:ext cx="594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ru-RU">
                <a:solidFill>
                  <a:srgbClr val="3BA7F5"/>
                </a:solidFill>
                <a:latin typeface="Unbounded"/>
                <a:cs typeface="Unbounded"/>
              </a:rPr>
              <a:t>02</a:t>
            </a:r>
          </a:p>
        </p:txBody>
      </p:sp>
      <p:sp>
        <p:nvSpPr>
          <p:cNvPr id="14" name="station label 2"/>
          <p:cNvSpPr txBox="1"/>
          <p:nvPr/>
        </p:nvSpPr>
        <p:spPr>
          <a:xfrm>
            <a:off x="4123944" y="3355848"/>
            <a:ext cx="174650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Виртуальная экскурсия</a:t>
            </a:r>
          </a:p>
        </p:txBody>
      </p:sp>
      <p:sp>
        <p:nvSpPr>
          <p:cNvPr id="15" name="station link 2">
            <a:hlinkClick action="ppaction://hlinksldjump" r:id="rId6"/>
          </p:cNvPr>
          <p:cNvSpPr/>
          <p:nvPr/>
        </p:nvSpPr>
        <p:spPr>
          <a:xfrm>
            <a:off x="3374136" y="1783080"/>
            <a:ext cx="2615184" cy="21214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tation card 3"/>
          <p:cNvSpPr/>
          <p:nvPr/>
        </p:nvSpPr>
        <p:spPr>
          <a:xfrm>
            <a:off x="6199632" y="1783080"/>
            <a:ext cx="2615184" cy="2121408"/>
          </a:xfrm>
          <a:prstGeom prst="roundRect">
            <a:avLst>
              <a:gd name="adj" fmla="val 1077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7" name="station photo 3" descr=""/>
          <p:cNvPicPr>
            <a:picLocks noChangeAspect="1"/>
          </p:cNvPicPr>
          <p:nvPr/>
        </p:nvPicPr>
        <p:blipFill>
          <a:blip r:embed="rId7"/>
          <a:srcRect l="6173"/>
          <a:stretch>
            <a:fillRect/>
          </a:stretch>
        </p:blipFill>
        <p:spPr>
          <a:xfrm>
            <a:off x="6291072" y="1874520"/>
            <a:ext cx="2432304" cy="1481328"/>
          </a:xfrm>
          <a:prstGeom prst="roundRect">
            <a:avLst>
              <a:gd name="adj" fmla="val 11111"/>
            </a:avLst>
          </a:prstGeom>
        </p:spPr>
      </p:pic>
      <p:sp>
        <p:nvSpPr>
          <p:cNvPr id="18" name="station num 3"/>
          <p:cNvSpPr txBox="1"/>
          <p:nvPr/>
        </p:nvSpPr>
        <p:spPr>
          <a:xfrm>
            <a:off x="6382512" y="3355848"/>
            <a:ext cx="594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ru-RU">
                <a:solidFill>
                  <a:srgbClr val="13A386"/>
                </a:solidFill>
                <a:latin typeface="Unbounded"/>
                <a:cs typeface="Unbounded"/>
              </a:rPr>
              <a:t>03</a:t>
            </a:r>
          </a:p>
        </p:txBody>
      </p:sp>
      <p:sp>
        <p:nvSpPr>
          <p:cNvPr id="19" name="station label 3"/>
          <p:cNvSpPr txBox="1"/>
          <p:nvPr/>
        </p:nvSpPr>
        <p:spPr>
          <a:xfrm>
            <a:off x="6949440" y="3355848"/>
            <a:ext cx="174650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Физминутка</a:t>
            </a:r>
          </a:p>
        </p:txBody>
      </p:sp>
      <p:sp>
        <p:nvSpPr>
          <p:cNvPr id="20" name="station link 3">
            <a:hlinkClick action="ppaction://hlinksldjump" r:id="rId8"/>
          </p:cNvPr>
          <p:cNvSpPr/>
          <p:nvPr/>
        </p:nvSpPr>
        <p:spPr>
          <a:xfrm>
            <a:off x="6199632" y="1783080"/>
            <a:ext cx="2615184" cy="21214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tation card 4"/>
          <p:cNvSpPr/>
          <p:nvPr/>
        </p:nvSpPr>
        <p:spPr>
          <a:xfrm>
            <a:off x="9025128" y="1783080"/>
            <a:ext cx="2615184" cy="2121408"/>
          </a:xfrm>
          <a:prstGeom prst="roundRect">
            <a:avLst>
              <a:gd name="adj" fmla="val 1077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2" name="station photo 4" descr=""/>
          <p:cNvPicPr>
            <a:picLocks noChangeAspect="1"/>
          </p:cNvPicPr>
          <p:nvPr/>
        </p:nvPicPr>
        <p:blipFill>
          <a:blip r:embed="rId9"/>
          <a:srcRect l="617" r="617"/>
          <a:stretch>
            <a:fillRect/>
          </a:stretch>
        </p:blipFill>
        <p:spPr>
          <a:xfrm>
            <a:off x="9116568" y="1874520"/>
            <a:ext cx="2432304" cy="1481328"/>
          </a:xfrm>
          <a:prstGeom prst="roundRect">
            <a:avLst>
              <a:gd name="adj" fmla="val 11111"/>
            </a:avLst>
          </a:prstGeom>
        </p:spPr>
      </p:pic>
      <p:sp>
        <p:nvSpPr>
          <p:cNvPr id="23" name="station num 4"/>
          <p:cNvSpPr txBox="1"/>
          <p:nvPr/>
        </p:nvSpPr>
        <p:spPr>
          <a:xfrm>
            <a:off x="9208008" y="3355848"/>
            <a:ext cx="594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ru-RU">
                <a:solidFill>
                  <a:srgbClr val="6C5CE7"/>
                </a:solidFill>
                <a:latin typeface="Unbounded"/>
                <a:cs typeface="Unbounded"/>
              </a:rPr>
              <a:t>04</a:t>
            </a:r>
          </a:p>
        </p:txBody>
      </p:sp>
      <p:sp>
        <p:nvSpPr>
          <p:cNvPr id="24" name="station label 4"/>
          <p:cNvSpPr txBox="1"/>
          <p:nvPr/>
        </p:nvSpPr>
        <p:spPr>
          <a:xfrm>
            <a:off x="9774936" y="3355848"/>
            <a:ext cx="174650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Игры «Проверь себя»</a:t>
            </a:r>
          </a:p>
        </p:txBody>
      </p:sp>
      <p:sp>
        <p:nvSpPr>
          <p:cNvPr id="25" name="station link 4">
            <a:hlinkClick action="ppaction://hlinksldjump" r:id="rId10"/>
          </p:cNvPr>
          <p:cNvSpPr/>
          <p:nvPr/>
        </p:nvSpPr>
        <p:spPr>
          <a:xfrm>
            <a:off x="9025128" y="1783080"/>
            <a:ext cx="2615184" cy="21214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tation card 5"/>
          <p:cNvSpPr/>
          <p:nvPr/>
        </p:nvSpPr>
        <p:spPr>
          <a:xfrm>
            <a:off x="548640" y="4160520"/>
            <a:ext cx="2615184" cy="2121408"/>
          </a:xfrm>
          <a:prstGeom prst="roundRect">
            <a:avLst>
              <a:gd name="adj" fmla="val 1077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7" name="station photo 5" descr=""/>
          <p:cNvPicPr>
            <a:picLocks noChangeAspect="1"/>
          </p:cNvPicPr>
          <p:nvPr/>
        </p:nvPicPr>
        <p:blipFill>
          <a:blip r:embed="rId11"/>
          <a:srcRect l="617" r="617"/>
          <a:stretch>
            <a:fillRect/>
          </a:stretch>
        </p:blipFill>
        <p:spPr>
          <a:xfrm>
            <a:off x="640080" y="4251960"/>
            <a:ext cx="2432304" cy="1481328"/>
          </a:xfrm>
          <a:prstGeom prst="roundRect">
            <a:avLst>
              <a:gd name="adj" fmla="val 11111"/>
            </a:avLst>
          </a:prstGeom>
        </p:spPr>
      </p:pic>
      <p:sp>
        <p:nvSpPr>
          <p:cNvPr id="28" name="station num 5"/>
          <p:cNvSpPr txBox="1"/>
          <p:nvPr/>
        </p:nvSpPr>
        <p:spPr>
          <a:xfrm>
            <a:off x="731520" y="5733288"/>
            <a:ext cx="594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ru-RU">
                <a:solidFill>
                  <a:srgbClr val="FF9F43"/>
                </a:solidFill>
                <a:latin typeface="Unbounded"/>
                <a:cs typeface="Unbounded"/>
              </a:rPr>
              <a:t>05</a:t>
            </a:r>
          </a:p>
        </p:txBody>
      </p:sp>
      <p:sp>
        <p:nvSpPr>
          <p:cNvPr id="29" name="station label 5"/>
          <p:cNvSpPr txBox="1"/>
          <p:nvPr/>
        </p:nvSpPr>
        <p:spPr>
          <a:xfrm>
            <a:off x="1298448" y="5733288"/>
            <a:ext cx="174650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Онлайн-задание</a:t>
            </a:r>
          </a:p>
        </p:txBody>
      </p:sp>
      <p:sp>
        <p:nvSpPr>
          <p:cNvPr id="30" name="station link 5">
            <a:hlinkClick action="ppaction://hlinksldjump" r:id="rId12"/>
          </p:cNvPr>
          <p:cNvSpPr/>
          <p:nvPr/>
        </p:nvSpPr>
        <p:spPr>
          <a:xfrm>
            <a:off x="548640" y="4160520"/>
            <a:ext cx="2615184" cy="21214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tation card 6"/>
          <p:cNvSpPr/>
          <p:nvPr/>
        </p:nvSpPr>
        <p:spPr>
          <a:xfrm>
            <a:off x="3374136" y="4160520"/>
            <a:ext cx="2615184" cy="2121408"/>
          </a:xfrm>
          <a:prstGeom prst="roundRect">
            <a:avLst>
              <a:gd name="adj" fmla="val 1077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32" name="station photo 6" descr=""/>
          <p:cNvPicPr>
            <a:picLocks noChangeAspect="1"/>
          </p:cNvPicPr>
          <p:nvPr/>
        </p:nvPicPr>
        <p:blipFill>
          <a:blip r:embed="rId13"/>
          <a:srcRect l="17663"/>
          <a:stretch>
            <a:fillRect/>
          </a:stretch>
        </p:blipFill>
        <p:spPr>
          <a:xfrm>
            <a:off x="3465576" y="4251960"/>
            <a:ext cx="2432304" cy="1481328"/>
          </a:xfrm>
          <a:prstGeom prst="roundRect">
            <a:avLst>
              <a:gd name="adj" fmla="val 11111"/>
            </a:avLst>
          </a:prstGeom>
        </p:spPr>
      </p:pic>
      <p:sp>
        <p:nvSpPr>
          <p:cNvPr id="33" name="station num 6"/>
          <p:cNvSpPr txBox="1"/>
          <p:nvPr/>
        </p:nvSpPr>
        <p:spPr>
          <a:xfrm>
            <a:off x="3557016" y="5733288"/>
            <a:ext cx="594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ru-RU">
                <a:solidFill>
                  <a:srgbClr val="E39B00"/>
                </a:solidFill>
                <a:latin typeface="Unbounded"/>
                <a:cs typeface="Unbounded"/>
              </a:rPr>
              <a:t>06</a:t>
            </a:r>
          </a:p>
        </p:txBody>
      </p:sp>
      <p:sp>
        <p:nvSpPr>
          <p:cNvPr id="34" name="station label 6"/>
          <p:cNvSpPr txBox="1"/>
          <p:nvPr/>
        </p:nvSpPr>
        <p:spPr>
          <a:xfrm>
            <a:off x="4123944" y="5733288"/>
            <a:ext cx="174650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Итоги урока</a:t>
            </a:r>
          </a:p>
        </p:txBody>
      </p:sp>
      <p:sp>
        <p:nvSpPr>
          <p:cNvPr id="35" name="station link 6">
            <a:hlinkClick action="ppaction://hlinksldjump" r:id="rId14"/>
          </p:cNvPr>
          <p:cNvSpPr/>
          <p:nvPr/>
        </p:nvSpPr>
        <p:spPr>
          <a:xfrm>
            <a:off x="3374136" y="4160520"/>
            <a:ext cx="2615184" cy="21214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tation card 7"/>
          <p:cNvSpPr/>
          <p:nvPr/>
        </p:nvSpPr>
        <p:spPr>
          <a:xfrm>
            <a:off x="6199632" y="4160520"/>
            <a:ext cx="2615184" cy="2121408"/>
          </a:xfrm>
          <a:prstGeom prst="roundRect">
            <a:avLst>
              <a:gd name="adj" fmla="val 1077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37" name="station photo 7" descr=""/>
          <p:cNvPicPr>
            <a:picLocks noChangeAspect="1"/>
          </p:cNvPicPr>
          <p:nvPr/>
        </p:nvPicPr>
        <p:blipFill>
          <a:blip r:embed="rId15"/>
          <a:srcRect l="617" r="617"/>
          <a:stretch>
            <a:fillRect/>
          </a:stretch>
        </p:blipFill>
        <p:spPr>
          <a:xfrm>
            <a:off x="6291072" y="4251960"/>
            <a:ext cx="2432304" cy="1481328"/>
          </a:xfrm>
          <a:prstGeom prst="roundRect">
            <a:avLst>
              <a:gd name="adj" fmla="val 11111"/>
            </a:avLst>
          </a:prstGeom>
        </p:spPr>
      </p:pic>
      <p:sp>
        <p:nvSpPr>
          <p:cNvPr id="38" name="station num 7"/>
          <p:cNvSpPr txBox="1"/>
          <p:nvPr/>
        </p:nvSpPr>
        <p:spPr>
          <a:xfrm>
            <a:off x="6382512" y="5733288"/>
            <a:ext cx="594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ru-RU">
                <a:solidFill>
                  <a:srgbClr val="B9A9FF"/>
                </a:solidFill>
                <a:latin typeface="Unbounded"/>
                <a:cs typeface="Unbounded"/>
              </a:rPr>
              <a:t>07</a:t>
            </a:r>
          </a:p>
        </p:txBody>
      </p:sp>
      <p:sp>
        <p:nvSpPr>
          <p:cNvPr id="39" name="station label 7"/>
          <p:cNvSpPr txBox="1"/>
          <p:nvPr/>
        </p:nvSpPr>
        <p:spPr>
          <a:xfrm>
            <a:off x="6949440" y="5733288"/>
            <a:ext cx="174650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Рефлексия</a:t>
            </a:r>
          </a:p>
        </p:txBody>
      </p:sp>
      <p:sp>
        <p:nvSpPr>
          <p:cNvPr id="40" name="station link 7">
            <a:hlinkClick action="ppaction://hlinksldjump" r:id="rId16"/>
          </p:cNvPr>
          <p:cNvSpPr/>
          <p:nvPr/>
        </p:nvSpPr>
        <p:spPr>
          <a:xfrm>
            <a:off x="6199632" y="4160520"/>
            <a:ext cx="2615184" cy="21214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82462" y="3977640"/>
            <a:ext cx="1591955" cy="2697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2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4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24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24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720"/>
                            </p:stCondLst>
                            <p:childTnLst>
                              <p:par>
                                <p:cTn id="11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9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9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27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1" grpId="0" animBg="1"/>
      <p:bldP spid="33" grpId="0" animBg="1"/>
      <p:bldP spid="34" grpId="0" animBg="1"/>
      <p:bldP spid="36" grpId="0" animBg="1"/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cinem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FFFFFF"/>
                </a:solidFill>
                <a:latin typeface="Unbounded"/>
                <a:cs typeface="Unbounded"/>
              </a:rPr>
              <a:t>Смотрим и запоминаем!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C23C"/>
                </a:solidFill>
                <a:latin typeface="Nunito"/>
                <a:cs typeface="Nunito"/>
              </a:rPr>
              <a:t>ВИДЕОЭКСКУРСИЯ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cinema" descr="Уютный кинозал с большим экраном"/>
          <p:cNvPicPr>
            <a:picLocks noChangeAspect="1"/>
          </p:cNvPicPr>
          <p:nvPr/>
        </p:nvPicPr>
        <p:blipFill>
          <a:blip r:embed="rId4"/>
          <a:srcRect l="5686" r="5686"/>
          <a:stretch>
            <a:fillRect/>
          </a:stretch>
        </p:blipFill>
        <p:spPr>
          <a:xfrm>
            <a:off x="548640" y="1691640"/>
            <a:ext cx="6949440" cy="3931920"/>
          </a:xfrm>
          <a:prstGeom prst="roundRect">
            <a:avLst>
              <a:gd name="adj" fmla="val 5116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7" name="play button"/>
          <p:cNvSpPr/>
          <p:nvPr/>
        </p:nvSpPr>
        <p:spPr>
          <a:xfrm>
            <a:off x="2331720" y="2788920"/>
            <a:ext cx="3383280" cy="7315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>
            <a:outerShdw blurRad="274320" dist="73152" dir="5400000" algn="t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w="82296" h="32004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500" b="0" i="0" lang="ru-RU">
                <a:solidFill>
                  <a:srgbClr val="FFFFFF"/>
                </a:solidFill>
                <a:latin typeface="Unbounded"/>
                <a:cs typeface="Unbounded"/>
              </a:rPr>
              <a:t>СМОТРЕТЬ ВИДЕО  »</a:t>
            </a:r>
          </a:p>
        </p:txBody>
      </p:sp>
      <p:sp>
        <p:nvSpPr>
          <p:cNvPr id="8" name="video link">
            <a:hlinkClick r:id="rId5"/>
          </p:cNvPr>
          <p:cNvSpPr/>
          <p:nvPr/>
        </p:nvSpPr>
        <p:spPr>
          <a:xfrm>
            <a:off x="548640" y="1691640"/>
            <a:ext cx="6949440" cy="39319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questions card"/>
          <p:cNvSpPr/>
          <p:nvPr/>
        </p:nvSpPr>
        <p:spPr>
          <a:xfrm>
            <a:off x="7818120" y="1691640"/>
            <a:ext cx="3822192" cy="2834640"/>
          </a:xfrm>
          <a:prstGeom prst="roundRect">
            <a:avLst>
              <a:gd name="adj" fmla="val 8064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questions head"/>
          <p:cNvSpPr txBox="1"/>
          <p:nvPr/>
        </p:nvSpPr>
        <p:spPr>
          <a:xfrm>
            <a:off x="8092440" y="18745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 lang="ru-RU">
                <a:solidFill>
                  <a:srgbClr val="2B2A5A"/>
                </a:solidFill>
                <a:latin typeface="Unbounded"/>
                <a:cs typeface="Unbounded"/>
              </a:rPr>
              <a:t>Найди в фильме ответы:</a:t>
            </a:r>
          </a:p>
        </p:txBody>
      </p:sp>
      <p:sp>
        <p:nvSpPr>
          <p:cNvPr id="11" name="questions"/>
          <p:cNvSpPr txBox="1"/>
          <p:nvPr/>
        </p:nvSpPr>
        <p:spPr>
          <a:xfrm>
            <a:off x="8092440" y="2423160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1. Что служит опорой тела?</a:t>
            </a:r>
          </a:p>
          <a:p>
            <a:pPr algn="l">
              <a:spcBef>
                <a:spcPts val="600"/>
              </a:spcBef>
            </a:pPr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2. Какие кости защищают мозг, сердце и лёгкие?</a:t>
            </a:r>
          </a:p>
          <a:p>
            <a:pPr algn="l">
              <a:spcBef>
                <a:spcPts val="600"/>
              </a:spcBef>
            </a:pPr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3. Что помогает нам двигаться?</a:t>
            </a:r>
          </a:p>
        </p:txBody>
      </p:sp>
      <p:sp>
        <p:nvSpPr>
          <p:cNvPr id="12" name="qr card"/>
          <p:cNvSpPr/>
          <p:nvPr/>
        </p:nvSpPr>
        <p:spPr>
          <a:xfrm>
            <a:off x="7818120" y="4709160"/>
            <a:ext cx="146304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3" name="qr video" descr="QR-код на видеоэкскурсию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4800600"/>
            <a:ext cx="1280160" cy="1280160"/>
          </a:xfrm>
          <a:prstGeom prst="rect">
            <a:avLst/>
          </a:prstGeom>
        </p:spPr>
      </p:pic>
      <p:sp>
        <p:nvSpPr>
          <p:cNvPr id="14" name="qr text"/>
          <p:cNvSpPr txBox="1"/>
          <p:nvPr/>
        </p:nvSpPr>
        <p:spPr>
          <a:xfrm>
            <a:off x="9464040" y="47091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2600" b="0" i="0" lang="ru-RU">
                <a:solidFill>
                  <a:srgbClr val="FFFFFF"/>
                </a:solidFill>
                <a:latin typeface="Caveat"/>
                <a:cs typeface="Caveat"/>
              </a:rPr>
              <a:t>или отсканируй QR-код телефоном</a:t>
            </a:r>
          </a:p>
        </p:txBody>
      </p:sp>
      <p:pic>
        <p:nvPicPr>
          <p:cNvPr id="15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902" y="4480560"/>
            <a:ext cx="1051075" cy="2240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20"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00"/>
                            </p:stCondLst>
                            <p:childTnLst>
                              <p:par>
                                <p:cTn id="53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4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7" grpId="1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ky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Музей «Тело человека»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3BA7F5"/>
                </a:solidFill>
                <a:latin typeface="Nunito"/>
                <a:cs typeface="Nunito"/>
              </a:rPr>
              <a:t>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museum" descr="Яркий детский музей о теле человека"/>
          <p:cNvPicPr>
            <a:picLocks noChangeAspect="1"/>
          </p:cNvPicPr>
          <p:nvPr/>
        </p:nvPicPr>
        <p:blipFill>
          <a:blip r:embed="rId4"/>
          <a:srcRect l="6019" r="6019"/>
          <a:stretch>
            <a:fillRect/>
          </a:stretch>
        </p:blipFill>
        <p:spPr>
          <a:xfrm>
            <a:off x="548640" y="1691640"/>
            <a:ext cx="5806440" cy="3310128"/>
          </a:xfrm>
          <a:prstGeom prst="roundRect">
            <a:avLst>
              <a:gd name="adj" fmla="val 6077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7" name="welcome card"/>
          <p:cNvSpPr/>
          <p:nvPr/>
        </p:nvSpPr>
        <p:spPr>
          <a:xfrm>
            <a:off x="548640" y="5166360"/>
            <a:ext cx="5806440" cy="1097280"/>
          </a:xfrm>
          <a:prstGeom prst="roundRect">
            <a:avLst>
              <a:gd name="adj" fmla="val 2083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welcome text"/>
          <p:cNvSpPr txBox="1"/>
          <p:nvPr/>
        </p:nvSpPr>
        <p:spPr>
          <a:xfrm>
            <a:off x="822960" y="516636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2500" b="0" i="0" lang="ru-RU">
                <a:solidFill>
                  <a:srgbClr val="2B2A5A"/>
                </a:solidFill>
                <a:latin typeface="Caveat"/>
                <a:cs typeface="Caveat"/>
              </a:rPr>
              <a:t>Я Костик — ваш экскурсовод. Выбирайте зал — и вперёд!</a:t>
            </a:r>
          </a:p>
        </p:txBody>
      </p:sp>
      <p:pic>
        <p:nvPicPr>
          <p:cNvPr id="9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775" y="3291840"/>
            <a:ext cx="1996690" cy="3383280"/>
          </a:xfrm>
          <a:prstGeom prst="rect">
            <a:avLst/>
          </a:prstGeom>
        </p:spPr>
      </p:pic>
      <p:pic>
        <p:nvPicPr>
          <p:cNvPr id="10" name="!!hall1" descr="Зал 1: Скелет — опора тела"/>
          <p:cNvPicPr>
            <a:picLocks noChangeAspect="1"/>
          </p:cNvPicPr>
          <p:nvPr/>
        </p:nvPicPr>
        <p:blipFill>
          <a:blip r:embed="rId6"/>
          <a:srcRect l="1578" r="1578"/>
          <a:stretch>
            <a:fillRect/>
          </a:stretch>
        </p:blipFill>
        <p:spPr>
          <a:xfrm>
            <a:off x="6675120" y="1691640"/>
            <a:ext cx="2404872" cy="1389888"/>
          </a:xfrm>
          <a:prstGeom prst="roundRect">
            <a:avLst>
              <a:gd name="adj" fmla="val 13157"/>
            </a:avLst>
          </a:prstGeom>
          <a:ln w="36576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1" name="hall1 num"/>
          <p:cNvSpPr txBox="1"/>
          <p:nvPr/>
        </p:nvSpPr>
        <p:spPr>
          <a:xfrm>
            <a:off x="6839712" y="23500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ru-RU" spc="150">
                <a:solidFill>
                  <a:srgbClr val="FFFFFF"/>
                </a:solidFill>
                <a:latin typeface="Unbounded"/>
                <a:cs typeface="Unbounded"/>
              </a:rPr>
              <a:t>ЗАЛ 1</a:t>
            </a:r>
          </a:p>
        </p:txBody>
      </p:sp>
      <p:sp>
        <p:nvSpPr>
          <p:cNvPr id="12" name="hall1 name"/>
          <p:cNvSpPr txBox="1"/>
          <p:nvPr/>
        </p:nvSpPr>
        <p:spPr>
          <a:xfrm>
            <a:off x="6839712" y="258775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Скелет — опора тела</a:t>
            </a:r>
          </a:p>
        </p:txBody>
      </p:sp>
      <p:sp>
        <p:nvSpPr>
          <p:cNvPr id="13" name="hall1 link">
            <a:hlinkClick action="ppaction://hlinksldjump" r:id="rId7"/>
          </p:cNvPr>
          <p:cNvSpPr/>
          <p:nvPr/>
        </p:nvSpPr>
        <p:spPr>
          <a:xfrm>
            <a:off x="6675120" y="1691640"/>
            <a:ext cx="2404872" cy="13898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!!hall2" descr="Зал 2: Из чего состоит скелет"/>
          <p:cNvPicPr>
            <a:picLocks noChangeAspect="1"/>
          </p:cNvPicPr>
          <p:nvPr/>
        </p:nvPicPr>
        <p:blipFill>
          <a:blip r:embed="rId8"/>
          <a:srcRect l="1578" r="1578"/>
          <a:stretch>
            <a:fillRect/>
          </a:stretch>
        </p:blipFill>
        <p:spPr>
          <a:xfrm>
            <a:off x="9208008" y="1691640"/>
            <a:ext cx="2404872" cy="1389888"/>
          </a:xfrm>
          <a:prstGeom prst="roundRect">
            <a:avLst>
              <a:gd name="adj" fmla="val 13157"/>
            </a:avLst>
          </a:prstGeom>
          <a:ln w="36576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5" name="hall2 num"/>
          <p:cNvSpPr txBox="1"/>
          <p:nvPr/>
        </p:nvSpPr>
        <p:spPr>
          <a:xfrm>
            <a:off x="9372600" y="23500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ru-RU" spc="150">
                <a:solidFill>
                  <a:srgbClr val="FFFFFF"/>
                </a:solidFill>
                <a:latin typeface="Unbounded"/>
                <a:cs typeface="Unbounded"/>
              </a:rPr>
              <a:t>ЗАЛ 2</a:t>
            </a:r>
          </a:p>
        </p:txBody>
      </p:sp>
      <p:sp>
        <p:nvSpPr>
          <p:cNvPr id="16" name="hall2 name"/>
          <p:cNvSpPr txBox="1"/>
          <p:nvPr/>
        </p:nvSpPr>
        <p:spPr>
          <a:xfrm>
            <a:off x="9372600" y="258775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Из чего состоит скелет</a:t>
            </a:r>
          </a:p>
        </p:txBody>
      </p:sp>
      <p:sp>
        <p:nvSpPr>
          <p:cNvPr id="17" name="hall2 link">
            <a:hlinkClick action="ppaction://hlinksldjump" r:id="rId9"/>
          </p:cNvPr>
          <p:cNvSpPr/>
          <p:nvPr/>
        </p:nvSpPr>
        <p:spPr>
          <a:xfrm>
            <a:off x="9208008" y="1691640"/>
            <a:ext cx="2404872" cy="13898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!!hall3" descr="Зал 3: Суставы"/>
          <p:cNvPicPr>
            <a:picLocks noChangeAspect="1"/>
          </p:cNvPicPr>
          <p:nvPr/>
        </p:nvPicPr>
        <p:blipFill>
          <a:blip r:embed="rId10"/>
          <a:srcRect l="1578" r="1578"/>
          <a:stretch>
            <a:fillRect/>
          </a:stretch>
        </p:blipFill>
        <p:spPr>
          <a:xfrm>
            <a:off x="6675120" y="3246120"/>
            <a:ext cx="2404872" cy="1389888"/>
          </a:xfrm>
          <a:prstGeom prst="roundRect">
            <a:avLst>
              <a:gd name="adj" fmla="val 13157"/>
            </a:avLst>
          </a:prstGeom>
          <a:ln w="36576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9" name="hall3 num"/>
          <p:cNvSpPr txBox="1"/>
          <p:nvPr/>
        </p:nvSpPr>
        <p:spPr>
          <a:xfrm>
            <a:off x="6839712" y="39044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ru-RU" spc="150">
                <a:solidFill>
                  <a:srgbClr val="FFFFFF"/>
                </a:solidFill>
                <a:latin typeface="Unbounded"/>
                <a:cs typeface="Unbounded"/>
              </a:rPr>
              <a:t>ЗАЛ 3</a:t>
            </a:r>
          </a:p>
        </p:txBody>
      </p:sp>
      <p:sp>
        <p:nvSpPr>
          <p:cNvPr id="20" name="hall3 name"/>
          <p:cNvSpPr txBox="1"/>
          <p:nvPr/>
        </p:nvSpPr>
        <p:spPr>
          <a:xfrm>
            <a:off x="6839712" y="41422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Суставы</a:t>
            </a:r>
          </a:p>
        </p:txBody>
      </p:sp>
      <p:sp>
        <p:nvSpPr>
          <p:cNvPr id="21" name="hall3 link">
            <a:hlinkClick action="ppaction://hlinksldjump" r:id="rId11"/>
          </p:cNvPr>
          <p:cNvSpPr/>
          <p:nvPr/>
        </p:nvSpPr>
        <p:spPr>
          <a:xfrm>
            <a:off x="6675120" y="3246120"/>
            <a:ext cx="2404872" cy="13898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!!hall4" descr="Зал 4: Мышцы"/>
          <p:cNvPicPr>
            <a:picLocks noChangeAspect="1"/>
          </p:cNvPicPr>
          <p:nvPr/>
        </p:nvPicPr>
        <p:blipFill>
          <a:blip r:embed="rId12"/>
          <a:srcRect l="1578" r="1578"/>
          <a:stretch>
            <a:fillRect/>
          </a:stretch>
        </p:blipFill>
        <p:spPr>
          <a:xfrm>
            <a:off x="9208008" y="3246120"/>
            <a:ext cx="2404872" cy="1389888"/>
          </a:xfrm>
          <a:prstGeom prst="roundRect">
            <a:avLst>
              <a:gd name="adj" fmla="val 13157"/>
            </a:avLst>
          </a:prstGeom>
          <a:ln w="36576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3" name="hall4 num"/>
          <p:cNvSpPr txBox="1"/>
          <p:nvPr/>
        </p:nvSpPr>
        <p:spPr>
          <a:xfrm>
            <a:off x="9372600" y="39044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ru-RU" spc="150">
                <a:solidFill>
                  <a:srgbClr val="FFFFFF"/>
                </a:solidFill>
                <a:latin typeface="Unbounded"/>
                <a:cs typeface="Unbounded"/>
              </a:rPr>
              <a:t>ЗАЛ 4</a:t>
            </a:r>
          </a:p>
        </p:txBody>
      </p:sp>
      <p:sp>
        <p:nvSpPr>
          <p:cNvPr id="24" name="hall4 name"/>
          <p:cNvSpPr txBox="1"/>
          <p:nvPr/>
        </p:nvSpPr>
        <p:spPr>
          <a:xfrm>
            <a:off x="9372600" y="41422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Мышцы</a:t>
            </a:r>
          </a:p>
        </p:txBody>
      </p:sp>
      <p:sp>
        <p:nvSpPr>
          <p:cNvPr id="25" name="hall4 link">
            <a:hlinkClick action="ppaction://hlinksldjump" r:id="rId13"/>
          </p:cNvPr>
          <p:cNvSpPr/>
          <p:nvPr/>
        </p:nvSpPr>
        <p:spPr>
          <a:xfrm>
            <a:off x="9208008" y="3246120"/>
            <a:ext cx="2404872" cy="13898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!!hall5" descr="Зал 5: Осанка"/>
          <p:cNvPicPr>
            <a:picLocks noChangeAspect="1"/>
          </p:cNvPicPr>
          <p:nvPr/>
        </p:nvPicPr>
        <p:blipFill>
          <a:blip r:embed="rId14"/>
          <a:srcRect l="1578" r="1578"/>
          <a:stretch>
            <a:fillRect/>
          </a:stretch>
        </p:blipFill>
        <p:spPr>
          <a:xfrm>
            <a:off x="6675120" y="4800600"/>
            <a:ext cx="2404872" cy="1389888"/>
          </a:xfrm>
          <a:prstGeom prst="roundRect">
            <a:avLst>
              <a:gd name="adj" fmla="val 13157"/>
            </a:avLst>
          </a:prstGeom>
          <a:ln w="36576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7" name="hall5 num"/>
          <p:cNvSpPr txBox="1"/>
          <p:nvPr/>
        </p:nvSpPr>
        <p:spPr>
          <a:xfrm>
            <a:off x="6839712" y="54589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ru-RU" spc="150">
                <a:solidFill>
                  <a:srgbClr val="FFFFFF"/>
                </a:solidFill>
                <a:latin typeface="Unbounded"/>
                <a:cs typeface="Unbounded"/>
              </a:rPr>
              <a:t>ЗАЛ 5</a:t>
            </a:r>
          </a:p>
        </p:txBody>
      </p:sp>
      <p:sp>
        <p:nvSpPr>
          <p:cNvPr id="28" name="hall5 name"/>
          <p:cNvSpPr txBox="1"/>
          <p:nvPr/>
        </p:nvSpPr>
        <p:spPr>
          <a:xfrm>
            <a:off x="6839712" y="56967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Осанка</a:t>
            </a:r>
          </a:p>
        </p:txBody>
      </p:sp>
      <p:sp>
        <p:nvSpPr>
          <p:cNvPr id="29" name="hall5 link">
            <a:hlinkClick action="ppaction://hlinksldjump" r:id="rId15"/>
          </p:cNvPr>
          <p:cNvSpPr/>
          <p:nvPr/>
        </p:nvSpPr>
        <p:spPr>
          <a:xfrm>
            <a:off x="6675120" y="4800600"/>
            <a:ext cx="2404872" cy="13898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!!hall6" descr="Зал 6: Музей рекордов"/>
          <p:cNvPicPr>
            <a:picLocks noChangeAspect="1"/>
          </p:cNvPicPr>
          <p:nvPr/>
        </p:nvPicPr>
        <p:blipFill>
          <a:blip r:embed="rId16"/>
          <a:srcRect l="1578" r="1578"/>
          <a:stretch>
            <a:fillRect/>
          </a:stretch>
        </p:blipFill>
        <p:spPr>
          <a:xfrm>
            <a:off x="9208008" y="4800600"/>
            <a:ext cx="2404872" cy="1389888"/>
          </a:xfrm>
          <a:prstGeom prst="roundRect">
            <a:avLst>
              <a:gd name="adj" fmla="val 13157"/>
            </a:avLst>
          </a:prstGeom>
          <a:ln w="36576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31" name="hall6 num"/>
          <p:cNvSpPr txBox="1"/>
          <p:nvPr/>
        </p:nvSpPr>
        <p:spPr>
          <a:xfrm>
            <a:off x="9372600" y="54589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ru-RU" spc="150">
                <a:solidFill>
                  <a:srgbClr val="FFFFFF"/>
                </a:solidFill>
                <a:latin typeface="Unbounded"/>
                <a:cs typeface="Unbounded"/>
              </a:rPr>
              <a:t>ЗАЛ 6</a:t>
            </a:r>
          </a:p>
        </p:txBody>
      </p:sp>
      <p:sp>
        <p:nvSpPr>
          <p:cNvPr id="32" name="hall6 name"/>
          <p:cNvSpPr txBox="1"/>
          <p:nvPr/>
        </p:nvSpPr>
        <p:spPr>
          <a:xfrm>
            <a:off x="9372600" y="56967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Музей рекордов</a:t>
            </a:r>
          </a:p>
        </p:txBody>
      </p:sp>
      <p:sp>
        <p:nvSpPr>
          <p:cNvPr id="33" name="hall6 link">
            <a:hlinkClick action="ppaction://hlinksldjump" r:id="rId17"/>
          </p:cNvPr>
          <p:cNvSpPr/>
          <p:nvPr/>
        </p:nvSpPr>
        <p:spPr>
          <a:xfrm>
            <a:off x="9208008" y="4800600"/>
            <a:ext cx="2404872" cy="13898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6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2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ky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Скелет — опора тела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3BA7F5"/>
                </a:solidFill>
                <a:latin typeface="Nunito"/>
                <a:cs typeface="Nunito"/>
              </a:rPr>
              <a:t>ЗАЛ 1  ·  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!!nav museum">
            <a:hlinkClick action="ppaction://hlinksldjump" r:id="rId4"/>
          </p:cNvPr>
          <p:cNvSpPr/>
          <p:nvPr/>
        </p:nvSpPr>
        <p:spPr>
          <a:xfrm>
            <a:off x="9098280" y="32918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МУЗЕЙ</a:t>
            </a:r>
          </a:p>
        </p:txBody>
      </p:sp>
      <p:pic>
        <p:nvPicPr>
          <p:cNvPr id="7" name="!!hall1" descr="Палатка без каркаса упала, а палатка с каркасом стоит"/>
          <p:cNvPicPr>
            <a:picLocks noChangeAspect="1"/>
          </p:cNvPicPr>
          <p:nvPr/>
        </p:nvPicPr>
        <p:blipFill>
          <a:blip r:embed="rId5"/>
          <a:srcRect l="12018" r="2018"/>
          <a:stretch>
            <a:fillRect/>
          </a:stretch>
        </p:blipFill>
        <p:spPr>
          <a:xfrm>
            <a:off x="548640" y="1691640"/>
            <a:ext cx="6035040" cy="3520440"/>
          </a:xfrm>
          <a:prstGeom prst="roundRect">
            <a:avLst>
              <a:gd name="adj" fmla="val 5714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8" name="tent caption"/>
          <p:cNvSpPr txBox="1"/>
          <p:nvPr/>
        </p:nvSpPr>
        <p:spPr>
          <a:xfrm>
            <a:off x="548640" y="5321808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500" b="0" i="0" lang="ru-RU">
                <a:solidFill>
                  <a:srgbClr val="6C5CE7"/>
                </a:solidFill>
                <a:latin typeface="Caveat"/>
                <a:cs typeface="Caveat"/>
              </a:rPr>
              <a:t>Без каркаса палатка падает. Без скелета мы не смогли бы даже стоять!</a:t>
            </a:r>
          </a:p>
        </p:txBody>
      </p:sp>
      <p:sp>
        <p:nvSpPr>
          <p:cNvPr id="9" name="definition card"/>
          <p:cNvSpPr/>
          <p:nvPr/>
        </p:nvSpPr>
        <p:spPr>
          <a:xfrm>
            <a:off x="6903720" y="1691640"/>
            <a:ext cx="4736592" cy="2148840"/>
          </a:xfrm>
          <a:prstGeom prst="roundRect">
            <a:avLst>
              <a:gd name="adj" fmla="val 10638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definition"/>
          <p:cNvSpPr txBox="1"/>
          <p:nvPr/>
        </p:nvSpPr>
        <p:spPr>
          <a:xfrm>
            <a:off x="7178040" y="1783080"/>
            <a:ext cx="4251960" cy="1965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i="0" lang="ru-RU">
                <a:solidFill>
                  <a:srgbClr val="6C5CE7"/>
                </a:solidFill>
                <a:latin typeface="Nunito"/>
                <a:cs typeface="Nunito"/>
              </a:rPr>
              <a:t>Скелет</a:t>
            </a:r>
            <a:r>
              <a:rPr sz="1700" b="1" i="0" lang="ru-RU">
                <a:solidFill>
                  <a:srgbClr val="2B2A5A"/>
                </a:solidFill>
                <a:latin typeface="Nunito"/>
                <a:cs typeface="Nunito"/>
              </a:rPr>
              <a:t> — это прочный каркас тела из костей. Он держит форму тела, защищает внутренние органы и вместе с мышцами помогает двигаться.</a:t>
            </a:r>
          </a:p>
        </p:txBody>
      </p:sp>
      <p:sp>
        <p:nvSpPr>
          <p:cNvPr id="11" name="stat adult"/>
          <p:cNvSpPr/>
          <p:nvPr/>
        </p:nvSpPr>
        <p:spPr>
          <a:xfrm>
            <a:off x="6903720" y="4023360"/>
            <a:ext cx="2276856" cy="1920240"/>
          </a:xfrm>
          <a:prstGeom prst="roundRect">
            <a:avLst>
              <a:gd name="adj" fmla="val 11904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stat adult num"/>
          <p:cNvSpPr txBox="1"/>
          <p:nvPr/>
        </p:nvSpPr>
        <p:spPr>
          <a:xfrm>
            <a:off x="6949440" y="4160520"/>
            <a:ext cx="218541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000" b="0" i="0" lang="ru-RU">
                <a:solidFill>
                  <a:srgbClr val="6C5CE7"/>
                </a:solidFill>
                <a:latin typeface="Unbounded"/>
                <a:cs typeface="Unbounded"/>
              </a:rPr>
              <a:t>206</a:t>
            </a:r>
          </a:p>
        </p:txBody>
      </p:sp>
      <p:sp>
        <p:nvSpPr>
          <p:cNvPr id="13" name="stat adult label"/>
          <p:cNvSpPr txBox="1"/>
          <p:nvPr/>
        </p:nvSpPr>
        <p:spPr>
          <a:xfrm>
            <a:off x="7086600" y="498348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костей у взрослого человека</a:t>
            </a:r>
          </a:p>
        </p:txBody>
      </p:sp>
      <p:sp>
        <p:nvSpPr>
          <p:cNvPr id="14" name="stat baby"/>
          <p:cNvSpPr/>
          <p:nvPr/>
        </p:nvSpPr>
        <p:spPr>
          <a:xfrm>
            <a:off x="9363456" y="4023360"/>
            <a:ext cx="2276856" cy="1920240"/>
          </a:xfrm>
          <a:prstGeom prst="roundRect">
            <a:avLst>
              <a:gd name="adj" fmla="val 11904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stat baby num"/>
          <p:cNvSpPr txBox="1"/>
          <p:nvPr/>
        </p:nvSpPr>
        <p:spPr>
          <a:xfrm>
            <a:off x="9409176" y="4160520"/>
            <a:ext cx="218541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000" b="0" i="0" lang="ru-RU">
                <a:solidFill>
                  <a:srgbClr val="FF6B6B"/>
                </a:solidFill>
                <a:latin typeface="Unbounded"/>
                <a:cs typeface="Unbounded"/>
              </a:rPr>
              <a:t>≈300</a:t>
            </a:r>
          </a:p>
        </p:txBody>
      </p:sp>
      <p:sp>
        <p:nvSpPr>
          <p:cNvPr id="16" name="stat baby label"/>
          <p:cNvSpPr txBox="1"/>
          <p:nvPr/>
        </p:nvSpPr>
        <p:spPr>
          <a:xfrm>
            <a:off x="9500616" y="49834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у малыша — потом часть костей срастается</a:t>
            </a:r>
          </a:p>
        </p:txBody>
      </p:sp>
      <p:sp>
        <p:nvSpPr>
          <p:cNvPr id="17" name="!!next">
            <a:hlinkClick action="ppaction://hlinksldjump" r:id="rId6"/>
          </p:cNvPr>
          <p:cNvSpPr/>
          <p:nvPr/>
        </p:nvSpPr>
        <p:spPr>
          <a:xfrm>
            <a:off x="9168971" y="6144768"/>
            <a:ext cx="247134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зал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27"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Из чего состоит скелет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ЗАЛ 2  ·  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!!nav museum">
            <a:hlinkClick action="ppaction://hlinksldjump" r:id="rId4"/>
          </p:cNvPr>
          <p:cNvSpPr/>
          <p:nvPr/>
        </p:nvSpPr>
        <p:spPr>
          <a:xfrm>
            <a:off x="9098280" y="32918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МУЗЕЙ</a:t>
            </a:r>
          </a:p>
        </p:txBody>
      </p:sp>
      <p:sp>
        <p:nvSpPr>
          <p:cNvPr id="7" name="hotspot hint"/>
          <p:cNvSpPr txBox="1"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 lang="ru-RU">
                <a:solidFill>
                  <a:srgbClr val="6C5CE7"/>
                </a:solidFill>
                <a:latin typeface="Caveat"/>
                <a:cs typeface="Caveat"/>
              </a:rPr>
              <a:t>Нажимай на названия — узнаешь секреты костей!</a:t>
            </a:r>
          </a:p>
        </p:txBody>
      </p:sp>
      <p:pic>
        <p:nvPicPr>
          <p:cNvPr id="8" name="!!hall2" descr="Скелет человека спереди"/>
          <p:cNvPicPr>
            <a:picLocks noChangeAspect="1"/>
          </p:cNvPicPr>
          <p:nvPr/>
        </p:nvPicPr>
        <p:blipFill>
          <a:blip r:embed="rId5"/>
          <a:srcRect t="222" b="222"/>
          <a:stretch>
            <a:fillRect/>
          </a:stretch>
        </p:blipFill>
        <p:spPr>
          <a:xfrm>
            <a:off x="4381348" y="1965960"/>
            <a:ext cx="3429000" cy="4572000"/>
          </a:xfrm>
          <a:prstGeom prst="roundRect">
            <a:avLst>
              <a:gd name="adj" fmla="val 5866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9" name="part skull"/>
          <p:cNvSpPr/>
          <p:nvPr/>
        </p:nvSpPr>
        <p:spPr>
          <a:xfrm>
            <a:off x="2842458" y="2011680"/>
            <a:ext cx="1089462" cy="42062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>
            <a:outerShdw blurRad="109728" dist="36576" dir="5400000" algn="t" rotWithShape="0">
              <a:srgbClr val="2B2A5A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Nunito"/>
                <a:cs typeface="Nunito"/>
              </a:rPr>
              <a:t>Череп</a:t>
            </a:r>
          </a:p>
        </p:txBody>
      </p:sp>
      <p:sp>
        <p:nvSpPr>
          <p:cNvPr id="10" name="info skull"/>
          <p:cNvSpPr/>
          <p:nvPr/>
        </p:nvSpPr>
        <p:spPr>
          <a:xfrm>
            <a:off x="548640" y="2514600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28016" rIns="128016">
            <a:noAutofit/>
          </a:bodyPr>
          <a:lstStyle/>
          <a:p>
            <a:pPr algn="ctr"/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Защищает головной мозг — как прочный шлем</a:t>
            </a:r>
          </a:p>
        </p:txBody>
      </p:sp>
      <p:cxnSp>
        <p:nvCxnSpPr>
          <p:cNvPr id="11" name="leader skull"/>
          <p:cNvCxnSpPr/>
          <p:nvPr/>
        </p:nvCxnSpPr>
        <p:spPr>
          <a:xfrm>
            <a:off x="3931920" y="2221992"/>
            <a:ext cx="2009623" cy="246888"/>
          </a:xfrm>
          <a:prstGeom prst="line">
            <a:avLst/>
          </a:prstGeom>
          <a:ln w="38100" cap="rnd">
            <a:solidFill>
              <a:srgbClr val="6C5CE7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rt ribs"/>
          <p:cNvSpPr/>
          <p:nvPr/>
        </p:nvSpPr>
        <p:spPr>
          <a:xfrm>
            <a:off x="1959888" y="3310128"/>
            <a:ext cx="1972032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>
            <a:outerShdw blurRad="109728" dist="36576" dir="5400000" algn="t" rotWithShape="0">
              <a:srgbClr val="2B2A5A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Nunito"/>
                <a:cs typeface="Nunito"/>
              </a:rPr>
              <a:t>Грудная клетка</a:t>
            </a:r>
          </a:p>
        </p:txBody>
      </p:sp>
      <p:sp>
        <p:nvSpPr>
          <p:cNvPr id="13" name="info ribs"/>
          <p:cNvSpPr/>
          <p:nvPr/>
        </p:nvSpPr>
        <p:spPr>
          <a:xfrm>
            <a:off x="548640" y="3813048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28016" rIns="128016">
            <a:noAutofit/>
          </a:bodyPr>
          <a:lstStyle/>
          <a:p>
            <a:pPr algn="ctr"/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12 пар рёбер берегут сердце и лёгкие</a:t>
            </a:r>
          </a:p>
        </p:txBody>
      </p:sp>
      <p:cxnSp>
        <p:nvCxnSpPr>
          <p:cNvPr id="14" name="leader ribs"/>
          <p:cNvCxnSpPr/>
          <p:nvPr/>
        </p:nvCxnSpPr>
        <p:spPr>
          <a:xfrm flipV="1">
            <a:off x="3931920" y="3383280"/>
            <a:ext cx="1906753" cy="137160"/>
          </a:xfrm>
          <a:prstGeom prst="line">
            <a:avLst/>
          </a:prstGeom>
          <a:ln w="38100" cap="rnd">
            <a:solidFill>
              <a:srgbClr val="FF6B6B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art hand"/>
          <p:cNvSpPr/>
          <p:nvPr/>
        </p:nvSpPr>
        <p:spPr>
          <a:xfrm>
            <a:off x="2492891" y="4608576"/>
            <a:ext cx="1439029" cy="420624"/>
          </a:xfrm>
          <a:prstGeom prst="roundRect">
            <a:avLst>
              <a:gd name="adj" fmla="val 50000"/>
            </a:avLst>
          </a:prstGeom>
          <a:solidFill>
            <a:srgbClr val="3BA7F5"/>
          </a:solidFill>
          <a:ln>
            <a:noFill/>
          </a:ln>
          <a:effectLst>
            <a:outerShdw blurRad="109728" dist="36576" dir="5400000" algn="t" rotWithShape="0">
              <a:srgbClr val="2B2A5A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Nunito"/>
                <a:cs typeface="Nunito"/>
              </a:rPr>
              <a:t>Кости рук</a:t>
            </a:r>
          </a:p>
        </p:txBody>
      </p:sp>
      <p:sp>
        <p:nvSpPr>
          <p:cNvPr id="16" name="info hand"/>
          <p:cNvSpPr/>
          <p:nvPr/>
        </p:nvSpPr>
        <p:spPr>
          <a:xfrm>
            <a:off x="548640" y="5111496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28016" rIns="128016">
            <a:noAutofit/>
          </a:bodyPr>
          <a:lstStyle/>
          <a:p>
            <a:pPr algn="ctr"/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Берём, пишем, рисуем. В одной кисти 27 косточек!</a:t>
            </a:r>
          </a:p>
        </p:txBody>
      </p:sp>
      <p:cxnSp>
        <p:nvCxnSpPr>
          <p:cNvPr id="17" name="leader hand"/>
          <p:cNvCxnSpPr/>
          <p:nvPr/>
        </p:nvCxnSpPr>
        <p:spPr>
          <a:xfrm flipV="1">
            <a:off x="3931920" y="4526280"/>
            <a:ext cx="1186663" cy="292608"/>
          </a:xfrm>
          <a:prstGeom prst="line">
            <a:avLst/>
          </a:prstGeom>
          <a:ln w="38100" cap="rnd">
            <a:solidFill>
              <a:srgbClr val="3BA7F5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rt spine"/>
          <p:cNvSpPr/>
          <p:nvPr/>
        </p:nvSpPr>
        <p:spPr>
          <a:xfrm>
            <a:off x="8257032" y="2011680"/>
            <a:ext cx="1783060" cy="420624"/>
          </a:xfrm>
          <a:prstGeom prst="roundRect">
            <a:avLst>
              <a:gd name="adj" fmla="val 50000"/>
            </a:avLst>
          </a:prstGeom>
          <a:solidFill>
            <a:srgbClr val="13A386"/>
          </a:solidFill>
          <a:ln>
            <a:noFill/>
          </a:ln>
          <a:effectLst>
            <a:outerShdw blurRad="109728" dist="36576" dir="5400000" algn="t" rotWithShape="0">
              <a:srgbClr val="2B2A5A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Nunito"/>
                <a:cs typeface="Nunito"/>
              </a:rPr>
              <a:t>Позвоночник</a:t>
            </a:r>
          </a:p>
        </p:txBody>
      </p:sp>
      <p:sp>
        <p:nvSpPr>
          <p:cNvPr id="19" name="info spine"/>
          <p:cNvSpPr/>
          <p:nvPr/>
        </p:nvSpPr>
        <p:spPr>
          <a:xfrm>
            <a:off x="8257032" y="2514600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28016" rIns="128016">
            <a:noAutofit/>
          </a:bodyPr>
          <a:lstStyle/>
          <a:p>
            <a:pPr algn="ctr"/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Главная опора тела: 33–34 позвонка, поэтому он гибкий</a:t>
            </a:r>
          </a:p>
        </p:txBody>
      </p:sp>
      <p:cxnSp>
        <p:nvCxnSpPr>
          <p:cNvPr id="20" name="leader spine"/>
          <p:cNvCxnSpPr/>
          <p:nvPr/>
        </p:nvCxnSpPr>
        <p:spPr>
          <a:xfrm flipH="1">
            <a:off x="6112993" y="2221992"/>
            <a:ext cx="2144039" cy="1709928"/>
          </a:xfrm>
          <a:prstGeom prst="line">
            <a:avLst/>
          </a:prstGeom>
          <a:ln w="38100" cap="rnd">
            <a:solidFill>
              <a:srgbClr val="13A386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rt pelvis"/>
          <p:cNvSpPr/>
          <p:nvPr/>
        </p:nvSpPr>
        <p:spPr>
          <a:xfrm>
            <a:off x="8257032" y="3310128"/>
            <a:ext cx="1519813" cy="420624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>
            <a:noFill/>
          </a:ln>
          <a:effectLst>
            <a:outerShdw blurRad="109728" dist="36576" dir="5400000" algn="t" rotWithShape="0">
              <a:srgbClr val="2B2A5A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Nunito"/>
                <a:cs typeface="Nunito"/>
              </a:rPr>
              <a:t>Кости таза</a:t>
            </a:r>
          </a:p>
        </p:txBody>
      </p:sp>
      <p:sp>
        <p:nvSpPr>
          <p:cNvPr id="22" name="info pelvis"/>
          <p:cNvSpPr/>
          <p:nvPr/>
        </p:nvSpPr>
        <p:spPr>
          <a:xfrm>
            <a:off x="8257032" y="3813048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28016" rIns="128016">
            <a:noAutofit/>
          </a:bodyPr>
          <a:lstStyle/>
          <a:p>
            <a:pPr algn="ctr"/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Опора для позвоночника, к ним крепятся ноги</a:t>
            </a:r>
          </a:p>
        </p:txBody>
      </p:sp>
      <p:cxnSp>
        <p:nvCxnSpPr>
          <p:cNvPr id="23" name="leader pelvis"/>
          <p:cNvCxnSpPr/>
          <p:nvPr/>
        </p:nvCxnSpPr>
        <p:spPr>
          <a:xfrm flipH="1">
            <a:off x="6353023" y="3520440"/>
            <a:ext cx="1904009" cy="731520"/>
          </a:xfrm>
          <a:prstGeom prst="line">
            <a:avLst/>
          </a:prstGeom>
          <a:ln w="38100" cap="rnd">
            <a:solidFill>
              <a:srgbClr val="FF9F43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rt legs"/>
          <p:cNvSpPr/>
          <p:nvPr/>
        </p:nvSpPr>
        <p:spPr>
          <a:xfrm>
            <a:off x="8257032" y="4608576"/>
            <a:ext cx="1429306" cy="42062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>
            <a:outerShdw blurRad="109728" dist="36576" dir="5400000" algn="t" rotWithShape="0">
              <a:srgbClr val="2B2A5A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Nunito"/>
                <a:cs typeface="Nunito"/>
              </a:rPr>
              <a:t>Кости ног</a:t>
            </a:r>
          </a:p>
        </p:txBody>
      </p:sp>
      <p:sp>
        <p:nvSpPr>
          <p:cNvPr id="25" name="info legs"/>
          <p:cNvSpPr/>
          <p:nvPr/>
        </p:nvSpPr>
        <p:spPr>
          <a:xfrm>
            <a:off x="8257032" y="5111496"/>
            <a:ext cx="3383280" cy="731520"/>
          </a:xfrm>
          <a:prstGeom prst="roundRect">
            <a:avLst>
              <a:gd name="adj" fmla="val 31250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28016" rIns="128016">
            <a:noAutofit/>
          </a:bodyPr>
          <a:lstStyle/>
          <a:p>
            <a:pPr algn="ctr"/>
            <a:r>
              <a:rPr sz="1400" b="1" i="0" lang="ru-RU">
                <a:solidFill>
                  <a:srgbClr val="2B2A5A"/>
                </a:solidFill>
                <a:latin typeface="Nunito"/>
                <a:cs typeface="Nunito"/>
              </a:rPr>
              <a:t>Держат вес тела. Бедренная кость — самая длинная!</a:t>
            </a:r>
          </a:p>
        </p:txBody>
      </p:sp>
      <p:cxnSp>
        <p:nvCxnSpPr>
          <p:cNvPr id="26" name="leader legs"/>
          <p:cNvCxnSpPr/>
          <p:nvPr/>
        </p:nvCxnSpPr>
        <p:spPr>
          <a:xfrm flipH="1">
            <a:off x="6387313" y="4818888"/>
            <a:ext cx="1869719" cy="210312"/>
          </a:xfrm>
          <a:prstGeom prst="line">
            <a:avLst/>
          </a:prstGeom>
          <a:ln w="38100" cap="rnd">
            <a:solidFill>
              <a:srgbClr val="6C5CE7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!!next">
            <a:hlinkClick action="ppaction://hlinksldjump" r:id="rId6"/>
          </p:cNvPr>
          <p:cNvSpPr/>
          <p:nvPr/>
        </p:nvSpPr>
        <p:spPr>
          <a:xfrm>
            <a:off x="9168971" y="6144768"/>
            <a:ext cx="247134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зал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9"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1"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63"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75"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87"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99"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  <p:bldP spid="15" grpId="0" animBg="1"/>
      <p:bldP spid="18" grpId="0" animBg="1"/>
      <p:bldP spid="21" grpId="0" animBg="1"/>
      <p:bldP spid="24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mint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Суставы — «шарниры» скелета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13A386"/>
                </a:solidFill>
                <a:latin typeface="Nunito"/>
                <a:cs typeface="Nunito"/>
              </a:rPr>
              <a:t>ЗАЛ 3  ·  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!!nav museum">
            <a:hlinkClick action="ppaction://hlinksldjump" r:id="rId4"/>
          </p:cNvPr>
          <p:cNvSpPr/>
          <p:nvPr/>
        </p:nvSpPr>
        <p:spPr>
          <a:xfrm>
            <a:off x="9098280" y="32918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МУЗЕЙ</a:t>
            </a:r>
          </a:p>
        </p:txBody>
      </p:sp>
      <p:pic>
        <p:nvPicPr>
          <p:cNvPr id="7" name="!!hall3" descr="Деревянная кукла-манекен с подвижными суставами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8640" y="1691640"/>
            <a:ext cx="4343400" cy="4343400"/>
          </a:xfrm>
          <a:prstGeom prst="roundRect">
            <a:avLst>
              <a:gd name="adj" fmla="val 4631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8" name="joints def"/>
          <p:cNvSpPr/>
          <p:nvPr/>
        </p:nvSpPr>
        <p:spPr>
          <a:xfrm>
            <a:off x="5212080" y="1691640"/>
            <a:ext cx="6428232" cy="1371600"/>
          </a:xfrm>
          <a:prstGeom prst="roundRect">
            <a:avLst>
              <a:gd name="adj" fmla="val 16666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joints def text"/>
          <p:cNvSpPr txBox="1"/>
          <p:nvPr/>
        </p:nvSpPr>
        <p:spPr>
          <a:xfrm>
            <a:off x="5486400" y="1737360"/>
            <a:ext cx="5943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i="0" lang="ru-RU">
                <a:solidFill>
                  <a:srgbClr val="13A386"/>
                </a:solidFill>
                <a:latin typeface="Nunito"/>
                <a:cs typeface="Nunito"/>
              </a:rPr>
              <a:t>Суставы</a:t>
            </a:r>
            <a:r>
              <a:rPr sz="1700" b="1" i="0" lang="ru-RU">
                <a:solidFill>
                  <a:srgbClr val="2B2A5A"/>
                </a:solidFill>
                <a:latin typeface="Nunito"/>
                <a:cs typeface="Nunito"/>
              </a:rPr>
              <a:t> — подвижные соединения костей. Благодаря им мы сгибаем руки и ноги, поворачиваем голову.</a:t>
            </a:r>
          </a:p>
        </p:txBody>
      </p:sp>
      <p:sp>
        <p:nvSpPr>
          <p:cNvPr id="10" name="try head"/>
          <p:cNvSpPr txBox="1"/>
          <p:nvPr/>
        </p:nvSpPr>
        <p:spPr>
          <a:xfrm>
            <a:off x="5212080" y="315468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 i="0" lang="ru-RU">
                <a:solidFill>
                  <a:srgbClr val="13846F"/>
                </a:solidFill>
                <a:latin typeface="Caveat"/>
                <a:cs typeface="Caveat"/>
              </a:rPr>
              <a:t>Попробуй сам!</a:t>
            </a:r>
          </a:p>
        </p:txBody>
      </p:sp>
      <p:sp>
        <p:nvSpPr>
          <p:cNvPr id="11" name="act 1"/>
          <p:cNvSpPr/>
          <p:nvPr/>
        </p:nvSpPr>
        <p:spPr>
          <a:xfrm>
            <a:off x="5212080" y="3886200"/>
            <a:ext cx="3118104" cy="960120"/>
          </a:xfrm>
          <a:prstGeom prst="roundRect">
            <a:avLst>
              <a:gd name="adj" fmla="val 23809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" name="act photo 1" descr=""/>
          <p:cNvPicPr>
            <a:picLocks noChangeAspect="1"/>
          </p:cNvPicPr>
          <p:nvPr/>
        </p:nvPicPr>
        <p:blipFill>
          <a:blip r:embed="rId5"/>
          <a:srcRect l="58000" r="27000" t="29500" b="55500"/>
          <a:stretch>
            <a:fillRect/>
          </a:stretch>
        </p:blipFill>
        <p:spPr>
          <a:xfrm>
            <a:off x="5340096" y="3995928"/>
            <a:ext cx="740664" cy="740664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3" name="act text 1"/>
          <p:cNvSpPr txBox="1"/>
          <p:nvPr/>
        </p:nvSpPr>
        <p:spPr>
          <a:xfrm>
            <a:off x="6217920" y="388620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Согни руку в локте</a:t>
            </a:r>
          </a:p>
        </p:txBody>
      </p:sp>
      <p:sp>
        <p:nvSpPr>
          <p:cNvPr id="14" name="act 2"/>
          <p:cNvSpPr/>
          <p:nvPr/>
        </p:nvSpPr>
        <p:spPr>
          <a:xfrm>
            <a:off x="8522208" y="3886200"/>
            <a:ext cx="3118104" cy="960120"/>
          </a:xfrm>
          <a:prstGeom prst="roundRect">
            <a:avLst>
              <a:gd name="adj" fmla="val 23809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" name="act photo 2" descr=""/>
          <p:cNvPicPr>
            <a:picLocks noChangeAspect="1"/>
          </p:cNvPicPr>
          <p:nvPr/>
        </p:nvPicPr>
        <p:blipFill>
          <a:blip r:embed="rId5"/>
          <a:srcRect l="67500" r="19500" t="42500" b="44500"/>
          <a:stretch>
            <a:fillRect/>
          </a:stretch>
        </p:blipFill>
        <p:spPr>
          <a:xfrm>
            <a:off x="8650224" y="3995928"/>
            <a:ext cx="740664" cy="740664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6" name="act text 2"/>
          <p:cNvSpPr txBox="1"/>
          <p:nvPr/>
        </p:nvSpPr>
        <p:spPr>
          <a:xfrm>
            <a:off x="9528048" y="388620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Покрути кистью</a:t>
            </a:r>
          </a:p>
        </p:txBody>
      </p:sp>
      <p:sp>
        <p:nvSpPr>
          <p:cNvPr id="17" name="act 3"/>
          <p:cNvSpPr/>
          <p:nvPr/>
        </p:nvSpPr>
        <p:spPr>
          <a:xfrm>
            <a:off x="5212080" y="4983480"/>
            <a:ext cx="3118104" cy="960120"/>
          </a:xfrm>
          <a:prstGeom prst="roundRect">
            <a:avLst>
              <a:gd name="adj" fmla="val 23809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8" name="act photo 3" descr=""/>
          <p:cNvPicPr>
            <a:picLocks noChangeAspect="1"/>
          </p:cNvPicPr>
          <p:nvPr/>
        </p:nvPicPr>
        <p:blipFill>
          <a:blip r:embed="rId5"/>
          <a:srcRect l="31500" r="53500" t="60500" b="24500"/>
          <a:stretch>
            <a:fillRect/>
          </a:stretch>
        </p:blipFill>
        <p:spPr>
          <a:xfrm>
            <a:off x="5340096" y="5093208"/>
            <a:ext cx="740664" cy="740664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9" name="act text 3"/>
          <p:cNvSpPr txBox="1"/>
          <p:nvPr/>
        </p:nvSpPr>
        <p:spPr>
          <a:xfrm>
            <a:off x="6217920" y="498348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Присядь и встань</a:t>
            </a:r>
          </a:p>
        </p:txBody>
      </p:sp>
      <p:sp>
        <p:nvSpPr>
          <p:cNvPr id="20" name="act 4"/>
          <p:cNvSpPr/>
          <p:nvPr/>
        </p:nvSpPr>
        <p:spPr>
          <a:xfrm>
            <a:off x="8522208" y="4983480"/>
            <a:ext cx="3118104" cy="960120"/>
          </a:xfrm>
          <a:prstGeom prst="roundRect">
            <a:avLst>
              <a:gd name="adj" fmla="val 23809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1" name="act photo 4" descr=""/>
          <p:cNvPicPr>
            <a:picLocks noChangeAspect="1"/>
          </p:cNvPicPr>
          <p:nvPr/>
        </p:nvPicPr>
        <p:blipFill>
          <a:blip r:embed="rId5"/>
          <a:srcRect l="37500" r="43500" t="10500" b="70500"/>
          <a:stretch>
            <a:fillRect/>
          </a:stretch>
        </p:blipFill>
        <p:spPr>
          <a:xfrm>
            <a:off x="8650224" y="5093208"/>
            <a:ext cx="740664" cy="740664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2" name="act text 4"/>
          <p:cNvSpPr txBox="1"/>
          <p:nvPr/>
        </p:nvSpPr>
        <p:spPr>
          <a:xfrm>
            <a:off x="9528048" y="4983480"/>
            <a:ext cx="201168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Наклони голову</a:t>
            </a:r>
          </a:p>
        </p:txBody>
      </p:sp>
      <p:sp>
        <p:nvSpPr>
          <p:cNvPr id="23" name="!!next">
            <a:hlinkClick action="ppaction://hlinksldjump" r:id="rId6"/>
          </p:cNvPr>
          <p:cNvSpPr/>
          <p:nvPr/>
        </p:nvSpPr>
        <p:spPr>
          <a:xfrm>
            <a:off x="9168971" y="6144768"/>
            <a:ext cx="247134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зал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44"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63"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82"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peach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Мышцы — двигатели тела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6B6B"/>
                </a:solidFill>
                <a:latin typeface="Nunito"/>
                <a:cs typeface="Nunito"/>
              </a:rPr>
              <a:t>ЗАЛ 4  ·  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!!nav museum">
            <a:hlinkClick action="ppaction://hlinksldjump" r:id="rId4"/>
          </p:cNvPr>
          <p:cNvSpPr/>
          <p:nvPr/>
        </p:nvSpPr>
        <p:spPr>
          <a:xfrm>
            <a:off x="9098280" y="32918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МУЗЕЙ</a:t>
            </a:r>
          </a:p>
        </p:txBody>
      </p:sp>
      <p:pic>
        <p:nvPicPr>
          <p:cNvPr id="7" name="!!hall4" descr="Рука: мышцы сгибают и разгибают её в локте"/>
          <p:cNvPicPr>
            <a:picLocks noChangeAspect="1"/>
          </p:cNvPicPr>
          <p:nvPr/>
        </p:nvPicPr>
        <p:blipFill>
          <a:blip r:embed="rId5"/>
          <a:srcRect l="222" r="222"/>
          <a:stretch>
            <a:fillRect/>
          </a:stretch>
        </p:blipFill>
        <p:spPr>
          <a:xfrm>
            <a:off x="548640" y="1691640"/>
            <a:ext cx="5120640" cy="3840480"/>
          </a:xfrm>
          <a:prstGeom prst="roundRect">
            <a:avLst>
              <a:gd name="adj" fmla="val 5238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8" name="biceps label"/>
          <p:cNvSpPr/>
          <p:nvPr/>
        </p:nvSpPr>
        <p:spPr>
          <a:xfrm>
            <a:off x="2315261" y="24688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>
            <a:outerShdw blurRad="91440" dist="36576" dir="5400000" algn="t" rotWithShape="0">
              <a:srgbClr val="2B2A5A">
                <a:alpha val="30000"/>
              </a:srgbClr>
            </a:outerShdw>
          </a:effectLst>
        </p:spPr>
        <p:txBody>
          <a:bodyPr rtlCol="0" anchor="ctr" wrap="square" lIns="45720" rIns="45720" tIns="0" bIns="0">
            <a:noAutofit/>
          </a:bodyPr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сгибает</a:t>
            </a:r>
          </a:p>
        </p:txBody>
      </p:sp>
      <p:sp>
        <p:nvSpPr>
          <p:cNvPr id="9" name="triceps label"/>
          <p:cNvSpPr/>
          <p:nvPr/>
        </p:nvSpPr>
        <p:spPr>
          <a:xfrm>
            <a:off x="1353312" y="4504334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3BA7F5"/>
          </a:solidFill>
          <a:ln>
            <a:noFill/>
          </a:ln>
          <a:effectLst>
            <a:outerShdw blurRad="91440" dist="36576" dir="5400000" algn="t" rotWithShape="0">
              <a:srgbClr val="2B2A5A">
                <a:alpha val="30000"/>
              </a:srgbClr>
            </a:outerShdw>
          </a:effectLst>
        </p:spPr>
        <p:txBody>
          <a:bodyPr rtlCol="0" anchor="ctr" wrap="square" lIns="45720" rIns="45720" tIns="0" bIns="0">
            <a:noAutofit/>
          </a:bodyPr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Nunito"/>
                <a:cs typeface="Nunito"/>
              </a:rPr>
              <a:t>разгибает</a:t>
            </a:r>
          </a:p>
        </p:txBody>
      </p:sp>
      <p:sp>
        <p:nvSpPr>
          <p:cNvPr id="10" name="fact 1"/>
          <p:cNvSpPr/>
          <p:nvPr/>
        </p:nvSpPr>
        <p:spPr>
          <a:xfrm>
            <a:off x="5989320" y="1691640"/>
            <a:ext cx="5650992" cy="877824"/>
          </a:xfrm>
          <a:prstGeom prst="roundRect">
            <a:avLst>
              <a:gd name="adj" fmla="val 2604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fact lead 1"/>
          <p:cNvSpPr txBox="1"/>
          <p:nvPr/>
        </p:nvSpPr>
        <p:spPr>
          <a:xfrm>
            <a:off x="6172200" y="1691640"/>
            <a:ext cx="1463040" cy="8778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 lang="ru-RU">
                <a:solidFill>
                  <a:srgbClr val="FF6B6B"/>
                </a:solidFill>
                <a:latin typeface="Unbounded"/>
                <a:cs typeface="Unbounded"/>
              </a:rPr>
              <a:t>600+</a:t>
            </a:r>
          </a:p>
        </p:txBody>
      </p:sp>
      <p:sp>
        <p:nvSpPr>
          <p:cNvPr id="12" name="fact text 1"/>
          <p:cNvSpPr txBox="1"/>
          <p:nvPr/>
        </p:nvSpPr>
        <p:spPr>
          <a:xfrm>
            <a:off x="7635240" y="1691640"/>
            <a:ext cx="3886200" cy="8778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мышц в теле человека — больше шестисот!</a:t>
            </a:r>
          </a:p>
        </p:txBody>
      </p:sp>
      <p:sp>
        <p:nvSpPr>
          <p:cNvPr id="13" name="fact 2"/>
          <p:cNvSpPr/>
          <p:nvPr/>
        </p:nvSpPr>
        <p:spPr>
          <a:xfrm>
            <a:off x="5989320" y="2697480"/>
            <a:ext cx="5650992" cy="877824"/>
          </a:xfrm>
          <a:prstGeom prst="roundRect">
            <a:avLst>
              <a:gd name="adj" fmla="val 2604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4" name="fact photo 2" descr=""/>
          <p:cNvPicPr>
            <a:picLocks noChangeAspect="1"/>
          </p:cNvPicPr>
          <p:nvPr/>
        </p:nvPicPr>
        <p:blipFill>
          <a:blip r:embed="rId5"/>
          <a:srcRect l="48800" r="28800" t="58000" b="12000"/>
          <a:stretch>
            <a:fillRect/>
          </a:stretch>
        </p:blipFill>
        <p:spPr>
          <a:xfrm>
            <a:off x="6144768" y="2807208"/>
            <a:ext cx="658368" cy="658368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5" name="fact text 2"/>
          <p:cNvSpPr txBox="1"/>
          <p:nvPr/>
        </p:nvSpPr>
        <p:spPr>
          <a:xfrm>
            <a:off x="6949440" y="2697480"/>
            <a:ext cx="4572000" cy="8778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Мышцы крепятся к костям сухожилиями. Сокращаясь, они тянут кость — и мы двигаемся.</a:t>
            </a:r>
          </a:p>
        </p:txBody>
      </p:sp>
      <p:sp>
        <p:nvSpPr>
          <p:cNvPr id="16" name="fact 3"/>
          <p:cNvSpPr/>
          <p:nvPr/>
        </p:nvSpPr>
        <p:spPr>
          <a:xfrm>
            <a:off x="5989320" y="3703320"/>
            <a:ext cx="5650992" cy="877824"/>
          </a:xfrm>
          <a:prstGeom prst="roundRect">
            <a:avLst>
              <a:gd name="adj" fmla="val 2604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7" name="fact photo 3" descr=""/>
          <p:cNvPicPr>
            <a:picLocks noChangeAspect="1"/>
          </p:cNvPicPr>
          <p:nvPr/>
        </p:nvPicPr>
        <p:blipFill>
          <a:blip r:embed="rId5"/>
          <a:srcRect l="29320" r="39320" t="29000" b="29000"/>
          <a:stretch>
            <a:fillRect/>
          </a:stretch>
        </p:blipFill>
        <p:spPr>
          <a:xfrm>
            <a:off x="6144768" y="3813048"/>
            <a:ext cx="658368" cy="658368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8" name="fact text 3"/>
          <p:cNvSpPr txBox="1"/>
          <p:nvPr/>
        </p:nvSpPr>
        <p:spPr>
          <a:xfrm>
            <a:off x="6949440" y="3703320"/>
            <a:ext cx="4572000" cy="8778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Мышцы работают парами: одна сгибает руку, другая — разгибает.</a:t>
            </a:r>
          </a:p>
        </p:txBody>
      </p:sp>
      <p:sp>
        <p:nvSpPr>
          <p:cNvPr id="19" name="fact 4"/>
          <p:cNvSpPr/>
          <p:nvPr/>
        </p:nvSpPr>
        <p:spPr>
          <a:xfrm>
            <a:off x="5989320" y="4709160"/>
            <a:ext cx="5650992" cy="877824"/>
          </a:xfrm>
          <a:prstGeom prst="roundRect">
            <a:avLst>
              <a:gd name="adj" fmla="val 2604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0" name="fact photo 4" descr=""/>
          <p:cNvPicPr>
            <a:picLocks noChangeAspect="1"/>
          </p:cNvPicPr>
          <p:nvPr/>
        </p:nvPicPr>
        <p:blipFill>
          <a:blip r:embed="rId6"/>
          <a:srcRect l="12500" r="12500" t="7941" b="47941"/>
          <a:stretch>
            <a:fillRect/>
          </a:stretch>
        </p:blipFill>
        <p:spPr>
          <a:xfrm>
            <a:off x="6144768" y="4818888"/>
            <a:ext cx="658368" cy="658368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1" name="fact text 4"/>
          <p:cNvSpPr txBox="1"/>
          <p:nvPr/>
        </p:nvSpPr>
        <p:spPr>
          <a:xfrm>
            <a:off x="6949440" y="4709160"/>
            <a:ext cx="4572000" cy="8778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Сердце — тоже мышца! Оно работает без отдыха всю жизнь.</a:t>
            </a:r>
          </a:p>
        </p:txBody>
      </p:sp>
      <p:sp>
        <p:nvSpPr>
          <p:cNvPr id="22" name="!!next">
            <a:hlinkClick action="ppaction://hlinksldjump" r:id="rId7"/>
          </p:cNvPr>
          <p:cNvSpPr/>
          <p:nvPr/>
        </p:nvSpPr>
        <p:spPr>
          <a:xfrm>
            <a:off x="9168971" y="6144768"/>
            <a:ext cx="247134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зал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ky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Осанка: кто сидит правильно?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9F43"/>
                </a:solidFill>
                <a:latin typeface="Nunito"/>
                <a:cs typeface="Nunito"/>
              </a:rPr>
              <a:t>ЗАЛ 5  ·  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!!nav museum">
            <a:hlinkClick action="ppaction://hlinksldjump" r:id="rId4"/>
          </p:cNvPr>
          <p:cNvSpPr/>
          <p:nvPr/>
        </p:nvSpPr>
        <p:spPr>
          <a:xfrm>
            <a:off x="9098280" y="32918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МУЗЕЙ</a:t>
            </a:r>
          </a:p>
        </p:txBody>
      </p:sp>
      <p:sp>
        <p:nvSpPr>
          <p:cNvPr id="7" name="posture def"/>
          <p:cNvSpPr txBox="1"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0" i="0" lang="ru-RU">
                <a:solidFill>
                  <a:srgbClr val="6C5CE7"/>
                </a:solidFill>
                <a:latin typeface="Caveat"/>
                <a:cs typeface="Caveat"/>
              </a:rPr>
              <a:t>Осанка — это привычное положение тела, когда мы сидим, стоим и ходим.</a:t>
            </a:r>
          </a:p>
        </p:txBody>
      </p:sp>
      <p:pic>
        <p:nvPicPr>
          <p:cNvPr id="8" name="posture bad" descr="Мальчик сидит за партой сгорбившись"/>
          <p:cNvPicPr>
            <a:picLocks noChangeAspect="1"/>
          </p:cNvPicPr>
          <p:nvPr/>
        </p:nvPicPr>
        <p:blipFill>
          <a:blip r:embed="rId5"/>
          <a:srcRect l="4639" r="4639"/>
          <a:stretch>
            <a:fillRect/>
          </a:stretch>
        </p:blipFill>
        <p:spPr>
          <a:xfrm>
            <a:off x="2880360" y="2103120"/>
            <a:ext cx="3611880" cy="3611880"/>
          </a:xfrm>
          <a:prstGeom prst="roundRect">
            <a:avLst>
              <a:gd name="adj" fmla="val 5569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9" name="letter 1"/>
          <p:cNvSpPr/>
          <p:nvPr/>
        </p:nvSpPr>
        <p:spPr>
          <a:xfrm>
            <a:off x="2651760" y="1901952"/>
            <a:ext cx="603504" cy="603504"/>
          </a:xfrm>
          <a:prstGeom prst="ellipse">
            <a:avLst/>
          </a:prstGeom>
          <a:solidFill>
            <a:srgbClr val="6C5CE7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 lang="ru-RU">
                <a:solidFill>
                  <a:srgbClr val="FFFFFF"/>
                </a:solidFill>
                <a:latin typeface="Unbounded"/>
                <a:cs typeface="Unbounded"/>
              </a:rPr>
              <a:t>А</a:t>
            </a:r>
          </a:p>
        </p:txBody>
      </p:sp>
      <p:pic>
        <p:nvPicPr>
          <p:cNvPr id="10" name="!!hall5" descr="Мальчик сидит за партой с прямой спиной"/>
          <p:cNvPicPr>
            <a:picLocks noChangeAspect="1"/>
          </p:cNvPicPr>
          <p:nvPr/>
        </p:nvPicPr>
        <p:blipFill>
          <a:blip r:embed="rId6"/>
          <a:srcRect l="4639" r="4639"/>
          <a:stretch>
            <a:fillRect/>
          </a:stretch>
        </p:blipFill>
        <p:spPr>
          <a:xfrm>
            <a:off x="7269480" y="2103120"/>
            <a:ext cx="3611880" cy="3611880"/>
          </a:xfrm>
          <a:prstGeom prst="roundRect">
            <a:avLst>
              <a:gd name="adj" fmla="val 5569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1" name="letter 2"/>
          <p:cNvSpPr/>
          <p:nvPr/>
        </p:nvSpPr>
        <p:spPr>
          <a:xfrm>
            <a:off x="7040880" y="1901952"/>
            <a:ext cx="603504" cy="603504"/>
          </a:xfrm>
          <a:prstGeom prst="ellipse">
            <a:avLst/>
          </a:prstGeom>
          <a:solidFill>
            <a:srgbClr val="6C5CE7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 lang="ru-RU">
                <a:solidFill>
                  <a:srgbClr val="FFFFFF"/>
                </a:solidFill>
                <a:latin typeface="Unbounded"/>
                <a:cs typeface="Unbounded"/>
              </a:rPr>
              <a:t>Б</a:t>
            </a:r>
          </a:p>
        </p:txBody>
      </p:sp>
      <p:pic>
        <p:nvPicPr>
          <p:cNvPr id="12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504" y="4023360"/>
            <a:ext cx="1063631" cy="2651760"/>
          </a:xfrm>
          <a:prstGeom prst="rect">
            <a:avLst/>
          </a:prstGeom>
        </p:spPr>
      </p:pic>
      <p:sp>
        <p:nvSpPr>
          <p:cNvPr id="13" name="frame posture_bad"/>
          <p:cNvSpPr/>
          <p:nvPr/>
        </p:nvSpPr>
        <p:spPr>
          <a:xfrm>
            <a:off x="2816352" y="2039112"/>
            <a:ext cx="3739896" cy="3739896"/>
          </a:xfrm>
          <a:prstGeom prst="roundRect">
            <a:avLst>
              <a:gd name="adj" fmla="val 6845"/>
            </a:avLst>
          </a:prstGeom>
          <a:noFill/>
          <a:ln w="91440">
            <a:solidFill>
              <a:srgbClr val="F050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adge posture_bad"/>
          <p:cNvSpPr/>
          <p:nvPr/>
        </p:nvSpPr>
        <p:spPr>
          <a:xfrm>
            <a:off x="2894876" y="5367528"/>
            <a:ext cx="3582849" cy="548640"/>
          </a:xfrm>
          <a:prstGeom prst="roundRect">
            <a:avLst>
              <a:gd name="adj" fmla="val 50000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300" b="0" i="0" lang="ru-RU">
                <a:solidFill>
                  <a:srgbClr val="FFFFFF"/>
                </a:solidFill>
                <a:latin typeface="Unbounded"/>
                <a:cs typeface="Unbounded"/>
              </a:rPr>
              <a:t>Неправильно! Спина согнута</a:t>
            </a:r>
          </a:p>
        </p:txBody>
      </p:sp>
      <p:sp>
        <p:nvSpPr>
          <p:cNvPr id="15" name="click posture_bad"/>
          <p:cNvSpPr/>
          <p:nvPr/>
        </p:nvSpPr>
        <p:spPr>
          <a:xfrm>
            <a:off x="2880360" y="2103120"/>
            <a:ext cx="3611880" cy="36118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ame posture_good"/>
          <p:cNvSpPr/>
          <p:nvPr/>
        </p:nvSpPr>
        <p:spPr>
          <a:xfrm>
            <a:off x="7205472" y="2039112"/>
            <a:ext cx="3739896" cy="3739896"/>
          </a:xfrm>
          <a:prstGeom prst="roundRect">
            <a:avLst>
              <a:gd name="adj" fmla="val 6845"/>
            </a:avLst>
          </a:prstGeom>
          <a:noFill/>
          <a:ln w="91440">
            <a:solidFill>
              <a:srgbClr val="22B5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adge posture_good"/>
          <p:cNvSpPr/>
          <p:nvPr/>
        </p:nvSpPr>
        <p:spPr>
          <a:xfrm>
            <a:off x="7428121" y="5367528"/>
            <a:ext cx="3294598" cy="548640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300" b="0" i="0" lang="ru-RU">
                <a:solidFill>
                  <a:srgbClr val="FFFFFF"/>
                </a:solidFill>
                <a:latin typeface="Unbounded"/>
                <a:cs typeface="Unbounded"/>
              </a:rPr>
              <a:t>Правильно! Спина прямая</a:t>
            </a:r>
          </a:p>
        </p:txBody>
      </p:sp>
      <p:sp>
        <p:nvSpPr>
          <p:cNvPr id="18" name="click posture_good"/>
          <p:cNvSpPr/>
          <p:nvPr/>
        </p:nvSpPr>
        <p:spPr>
          <a:xfrm>
            <a:off x="7269480" y="2103120"/>
            <a:ext cx="3611880" cy="36118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next">
            <a:hlinkClick action="ppaction://hlinksldjump" r:id="rId8"/>
          </p:cNvPr>
          <p:cNvSpPr/>
          <p:nvPr/>
        </p:nvSpPr>
        <p:spPr>
          <a:xfrm>
            <a:off x="9151886" y="6144768"/>
            <a:ext cx="2488426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Правила осанки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5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29"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"/>
                            </p:stCondLst>
                            <p:childTnLst>
                              <p:par>
                                <p:cTn id="3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37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38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39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40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0"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"/>
                            </p:stCondLst>
                            <p:childTnLst>
                              <p:par>
                                <p:cTn id="57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3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mint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Как сохранить правильную осанку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9F43"/>
                </a:solidFill>
                <a:latin typeface="Nunito"/>
                <a:cs typeface="Nunito"/>
              </a:rPr>
              <a:t>ЗАЛ 5  ·  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!!nav museum">
            <a:hlinkClick action="ppaction://hlinksldjump" r:id="rId4"/>
          </p:cNvPr>
          <p:cNvSpPr/>
          <p:nvPr/>
        </p:nvSpPr>
        <p:spPr>
          <a:xfrm>
            <a:off x="9098280" y="32918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МУЗЕЙ</a:t>
            </a:r>
          </a:p>
        </p:txBody>
      </p:sp>
      <p:pic>
        <p:nvPicPr>
          <p:cNvPr id="7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08" y="1874520"/>
            <a:ext cx="2869104" cy="4754880"/>
          </a:xfrm>
          <a:prstGeom prst="rect">
            <a:avLst/>
          </a:prstGeom>
        </p:spPr>
      </p:pic>
      <p:sp>
        <p:nvSpPr>
          <p:cNvPr id="8" name="rule 1"/>
          <p:cNvSpPr/>
          <p:nvPr/>
        </p:nvSpPr>
        <p:spPr>
          <a:xfrm>
            <a:off x="3977640" y="1691640"/>
            <a:ext cx="3739896" cy="205740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rule num 1"/>
          <p:cNvSpPr txBox="1"/>
          <p:nvPr/>
        </p:nvSpPr>
        <p:spPr>
          <a:xfrm>
            <a:off x="4251960" y="1801368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 i="0" lang="ru-RU">
                <a:solidFill>
                  <a:srgbClr val="3BA7F5"/>
                </a:solidFill>
                <a:latin typeface="Unbounded"/>
                <a:cs typeface="Unbounded"/>
              </a:rPr>
              <a:t>1</a:t>
            </a:r>
          </a:p>
        </p:txBody>
      </p:sp>
      <p:sp>
        <p:nvSpPr>
          <p:cNvPr id="10" name="rule word 1"/>
          <p:cNvSpPr txBox="1"/>
          <p:nvPr/>
        </p:nvSpPr>
        <p:spPr>
          <a:xfrm>
            <a:off x="5074920" y="20391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 lang="ru-RU">
                <a:solidFill>
                  <a:srgbClr val="3BA7F5"/>
                </a:solidFill>
                <a:latin typeface="Caveat"/>
                <a:cs typeface="Caveat"/>
              </a:rPr>
              <a:t>правило</a:t>
            </a:r>
          </a:p>
        </p:txBody>
      </p:sp>
      <p:sp>
        <p:nvSpPr>
          <p:cNvPr id="11" name="rule text 1"/>
          <p:cNvSpPr txBox="1"/>
          <p:nvPr/>
        </p:nvSpPr>
        <p:spPr>
          <a:xfrm>
            <a:off x="4251960" y="274320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Сиди прямо: спина касается спинки стула, ноги стоят на полу</a:t>
            </a:r>
          </a:p>
        </p:txBody>
      </p:sp>
      <p:sp>
        <p:nvSpPr>
          <p:cNvPr id="12" name="rule 2"/>
          <p:cNvSpPr/>
          <p:nvPr/>
        </p:nvSpPr>
        <p:spPr>
          <a:xfrm>
            <a:off x="7900416" y="1691640"/>
            <a:ext cx="3739896" cy="205740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rule num 2"/>
          <p:cNvSpPr txBox="1"/>
          <p:nvPr/>
        </p:nvSpPr>
        <p:spPr>
          <a:xfrm>
            <a:off x="8174736" y="1801368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 i="0" lang="ru-RU">
                <a:solidFill>
                  <a:srgbClr val="FF6B6B"/>
                </a:solidFill>
                <a:latin typeface="Unbounded"/>
                <a:cs typeface="Unbounded"/>
              </a:rPr>
              <a:t>2</a:t>
            </a:r>
          </a:p>
        </p:txBody>
      </p:sp>
      <p:sp>
        <p:nvSpPr>
          <p:cNvPr id="14" name="rule word 2"/>
          <p:cNvSpPr txBox="1"/>
          <p:nvPr/>
        </p:nvSpPr>
        <p:spPr>
          <a:xfrm>
            <a:off x="8997696" y="20391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 lang="ru-RU">
                <a:solidFill>
                  <a:srgbClr val="FF6B6B"/>
                </a:solidFill>
                <a:latin typeface="Caveat"/>
                <a:cs typeface="Caveat"/>
              </a:rPr>
              <a:t>правило</a:t>
            </a:r>
          </a:p>
        </p:txBody>
      </p:sp>
      <p:sp>
        <p:nvSpPr>
          <p:cNvPr id="15" name="rule text 2"/>
          <p:cNvSpPr txBox="1"/>
          <p:nvPr/>
        </p:nvSpPr>
        <p:spPr>
          <a:xfrm>
            <a:off x="8174736" y="274320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Носи рюкзак на двух плечах, а не в одной руке</a:t>
            </a:r>
          </a:p>
        </p:txBody>
      </p:sp>
      <p:sp>
        <p:nvSpPr>
          <p:cNvPr id="16" name="rule 3"/>
          <p:cNvSpPr/>
          <p:nvPr/>
        </p:nvSpPr>
        <p:spPr>
          <a:xfrm>
            <a:off x="3977640" y="3931920"/>
            <a:ext cx="3739896" cy="205740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ule num 3"/>
          <p:cNvSpPr txBox="1"/>
          <p:nvPr/>
        </p:nvSpPr>
        <p:spPr>
          <a:xfrm>
            <a:off x="4251960" y="4041648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 i="0" lang="ru-RU">
                <a:solidFill>
                  <a:srgbClr val="6C5CE7"/>
                </a:solidFill>
                <a:latin typeface="Unbounded"/>
                <a:cs typeface="Unbounded"/>
              </a:rPr>
              <a:t>3</a:t>
            </a:r>
          </a:p>
        </p:txBody>
      </p:sp>
      <p:sp>
        <p:nvSpPr>
          <p:cNvPr id="18" name="rule word 3"/>
          <p:cNvSpPr txBox="1"/>
          <p:nvPr/>
        </p:nvSpPr>
        <p:spPr>
          <a:xfrm>
            <a:off x="5074920" y="42793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 lang="ru-RU">
                <a:solidFill>
                  <a:srgbClr val="6C5CE7"/>
                </a:solidFill>
                <a:latin typeface="Caveat"/>
                <a:cs typeface="Caveat"/>
              </a:rPr>
              <a:t>правило</a:t>
            </a:r>
          </a:p>
        </p:txBody>
      </p:sp>
      <p:sp>
        <p:nvSpPr>
          <p:cNvPr id="19" name="rule text 3"/>
          <p:cNvSpPr txBox="1"/>
          <p:nvPr/>
        </p:nvSpPr>
        <p:spPr>
          <a:xfrm>
            <a:off x="4251960" y="498348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Спи на ровной постели с невысокой подушкой</a:t>
            </a:r>
          </a:p>
        </p:txBody>
      </p:sp>
      <p:sp>
        <p:nvSpPr>
          <p:cNvPr id="20" name="rule 4"/>
          <p:cNvSpPr/>
          <p:nvPr/>
        </p:nvSpPr>
        <p:spPr>
          <a:xfrm>
            <a:off x="7900416" y="3931920"/>
            <a:ext cx="3739896" cy="205740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rule num 4"/>
          <p:cNvSpPr txBox="1"/>
          <p:nvPr/>
        </p:nvSpPr>
        <p:spPr>
          <a:xfrm>
            <a:off x="8174736" y="4041648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 i="0" lang="ru-RU">
                <a:solidFill>
                  <a:srgbClr val="13A386"/>
                </a:solidFill>
                <a:latin typeface="Unbounded"/>
                <a:cs typeface="Unbounded"/>
              </a:rPr>
              <a:t>4</a:t>
            </a:r>
          </a:p>
        </p:txBody>
      </p:sp>
      <p:sp>
        <p:nvSpPr>
          <p:cNvPr id="22" name="rule word 4"/>
          <p:cNvSpPr txBox="1"/>
          <p:nvPr/>
        </p:nvSpPr>
        <p:spPr>
          <a:xfrm>
            <a:off x="8997696" y="42793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 lang="ru-RU">
                <a:solidFill>
                  <a:srgbClr val="13A386"/>
                </a:solidFill>
                <a:latin typeface="Caveat"/>
                <a:cs typeface="Caveat"/>
              </a:rPr>
              <a:t>правило</a:t>
            </a:r>
          </a:p>
        </p:txBody>
      </p:sp>
      <p:sp>
        <p:nvSpPr>
          <p:cNvPr id="23" name="rule text 4"/>
          <p:cNvSpPr txBox="1"/>
          <p:nvPr/>
        </p:nvSpPr>
        <p:spPr>
          <a:xfrm>
            <a:off x="8174736" y="498348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Каждый день делай зарядку и больше двигайся</a:t>
            </a:r>
          </a:p>
        </p:txBody>
      </p:sp>
      <p:sp>
        <p:nvSpPr>
          <p:cNvPr id="24" name="!!next">
            <a:hlinkClick action="ppaction://hlinksldjump" r:id="rId6"/>
          </p:cNvPr>
          <p:cNvSpPr/>
          <p:nvPr/>
        </p:nvSpPr>
        <p:spPr>
          <a:xfrm>
            <a:off x="9168971" y="6144768"/>
            <a:ext cx="247134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зал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7"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6"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5"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74"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un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Музей рекордов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E39B00"/>
                </a:solidFill>
                <a:latin typeface="Nunito"/>
                <a:cs typeface="Nunito"/>
              </a:rPr>
              <a:t>ЗАЛ 6  ·  ВИРТУАЛЬНАЯ ЭКСКУРСИЯ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!!nav museum">
            <a:hlinkClick action="ppaction://hlinksldjump" r:id="rId4"/>
          </p:cNvPr>
          <p:cNvSpPr/>
          <p:nvPr/>
        </p:nvSpPr>
        <p:spPr>
          <a:xfrm>
            <a:off x="9098280" y="32918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МУЗЕЙ</a:t>
            </a:r>
          </a:p>
        </p:txBody>
      </p:sp>
      <p:pic>
        <p:nvPicPr>
          <p:cNvPr id="7" name="!!hall6" descr="Лупа над крошечной косточкой и длинная бедренная кость"/>
          <p:cNvPicPr>
            <a:picLocks noChangeAspect="1"/>
          </p:cNvPicPr>
          <p:nvPr/>
        </p:nvPicPr>
        <p:blipFill>
          <a:blip r:embed="rId5"/>
          <a:srcRect l="4639" r="4639"/>
          <a:stretch>
            <a:fillRect/>
          </a:stretch>
        </p:blipFill>
        <p:spPr>
          <a:xfrm>
            <a:off x="548640" y="1691640"/>
            <a:ext cx="4251960" cy="4251960"/>
          </a:xfrm>
          <a:prstGeom prst="roundRect">
            <a:avLst>
              <a:gd name="adj" fmla="val 4731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8" name="record 1"/>
          <p:cNvSpPr/>
          <p:nvPr/>
        </p:nvSpPr>
        <p:spPr>
          <a:xfrm>
            <a:off x="5120640" y="1691640"/>
            <a:ext cx="3191256" cy="2011680"/>
          </a:xfrm>
          <a:prstGeom prst="roundRect">
            <a:avLst>
              <a:gd name="adj" fmla="val 1136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record num 1"/>
          <p:cNvSpPr txBox="1"/>
          <p:nvPr/>
        </p:nvSpPr>
        <p:spPr>
          <a:xfrm>
            <a:off x="5212080" y="1874520"/>
            <a:ext cx="300837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0" i="0" lang="ru-RU">
                <a:solidFill>
                  <a:srgbClr val="6C5CE7"/>
                </a:solidFill>
                <a:latin typeface="Unbounded"/>
                <a:cs typeface="Unbounded"/>
              </a:rPr>
              <a:t>206</a:t>
            </a:r>
          </a:p>
        </p:txBody>
      </p:sp>
      <p:sp>
        <p:nvSpPr>
          <p:cNvPr id="10" name="record text 1"/>
          <p:cNvSpPr txBox="1"/>
          <p:nvPr/>
        </p:nvSpPr>
        <p:spPr>
          <a:xfrm>
            <a:off x="5349240" y="27432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костей в скелете взрослого человека</a:t>
            </a:r>
          </a:p>
        </p:txBody>
      </p:sp>
      <p:sp>
        <p:nvSpPr>
          <p:cNvPr id="11" name="record 2"/>
          <p:cNvSpPr/>
          <p:nvPr/>
        </p:nvSpPr>
        <p:spPr>
          <a:xfrm>
            <a:off x="8449056" y="1691640"/>
            <a:ext cx="3191256" cy="2011680"/>
          </a:xfrm>
          <a:prstGeom prst="roundRect">
            <a:avLst>
              <a:gd name="adj" fmla="val 1136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record num 2"/>
          <p:cNvSpPr txBox="1"/>
          <p:nvPr/>
        </p:nvSpPr>
        <p:spPr>
          <a:xfrm>
            <a:off x="8540496" y="1874520"/>
            <a:ext cx="300837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0" i="0" lang="ru-RU">
                <a:solidFill>
                  <a:srgbClr val="FF6B6B"/>
                </a:solidFill>
                <a:latin typeface="Unbounded"/>
                <a:cs typeface="Unbounded"/>
              </a:rPr>
              <a:t>600+</a:t>
            </a:r>
          </a:p>
        </p:txBody>
      </p:sp>
      <p:sp>
        <p:nvSpPr>
          <p:cNvPr id="13" name="record text 2"/>
          <p:cNvSpPr txBox="1"/>
          <p:nvPr/>
        </p:nvSpPr>
        <p:spPr>
          <a:xfrm>
            <a:off x="8677656" y="27432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мышц помогают нам двигаться</a:t>
            </a:r>
          </a:p>
        </p:txBody>
      </p:sp>
      <p:sp>
        <p:nvSpPr>
          <p:cNvPr id="14" name="record 3"/>
          <p:cNvSpPr/>
          <p:nvPr/>
        </p:nvSpPr>
        <p:spPr>
          <a:xfrm>
            <a:off x="5120640" y="3931920"/>
            <a:ext cx="3191256" cy="2011680"/>
          </a:xfrm>
          <a:prstGeom prst="roundRect">
            <a:avLst>
              <a:gd name="adj" fmla="val 1136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ecord num 3"/>
          <p:cNvSpPr txBox="1"/>
          <p:nvPr/>
        </p:nvSpPr>
        <p:spPr>
          <a:xfrm>
            <a:off x="5212080" y="4114800"/>
            <a:ext cx="300837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0" i="0" lang="ru-RU">
                <a:solidFill>
                  <a:srgbClr val="13A386"/>
                </a:solidFill>
                <a:latin typeface="Unbounded"/>
                <a:cs typeface="Unbounded"/>
              </a:rPr>
              <a:t>3 мм</a:t>
            </a:r>
          </a:p>
        </p:txBody>
      </p:sp>
      <p:sp>
        <p:nvSpPr>
          <p:cNvPr id="16" name="record text 3"/>
          <p:cNvSpPr txBox="1"/>
          <p:nvPr/>
        </p:nvSpPr>
        <p:spPr>
          <a:xfrm>
            <a:off x="5349240" y="498348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длина стремечка — самой маленькой косточки (она в ухе)</a:t>
            </a:r>
          </a:p>
        </p:txBody>
      </p:sp>
      <p:sp>
        <p:nvSpPr>
          <p:cNvPr id="17" name="record 4"/>
          <p:cNvSpPr/>
          <p:nvPr/>
        </p:nvSpPr>
        <p:spPr>
          <a:xfrm>
            <a:off x="8449056" y="3931920"/>
            <a:ext cx="3191256" cy="2011680"/>
          </a:xfrm>
          <a:prstGeom prst="roundRect">
            <a:avLst>
              <a:gd name="adj" fmla="val 11363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record num 4"/>
          <p:cNvSpPr txBox="1"/>
          <p:nvPr/>
        </p:nvSpPr>
        <p:spPr>
          <a:xfrm>
            <a:off x="8540496" y="4114800"/>
            <a:ext cx="300837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0" i="0" lang="ru-RU">
                <a:solidFill>
                  <a:srgbClr val="D98A00"/>
                </a:solidFill>
                <a:latin typeface="Unbounded"/>
                <a:cs typeface="Unbounded"/>
              </a:rPr>
              <a:t>106</a:t>
            </a:r>
          </a:p>
        </p:txBody>
      </p:sp>
      <p:sp>
        <p:nvSpPr>
          <p:cNvPr id="19" name="record text 4"/>
          <p:cNvSpPr txBox="1"/>
          <p:nvPr/>
        </p:nvSpPr>
        <p:spPr>
          <a:xfrm>
            <a:off x="8677656" y="498348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костей в кистях и стопах — больше половины всех!</a:t>
            </a:r>
          </a:p>
        </p:txBody>
      </p:sp>
      <p:sp>
        <p:nvSpPr>
          <p:cNvPr id="20" name="!!next">
            <a:hlinkClick action="ppaction://hlinksldjump" r:id="rId6"/>
          </p:cNvPr>
          <p:cNvSpPr/>
          <p:nvPr/>
        </p:nvSpPr>
        <p:spPr>
          <a:xfrm>
            <a:off x="9241480" y="6144768"/>
            <a:ext cx="2398832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Выйти из музея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id="9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id="24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id="39"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id="54"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mint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Разминаем косточки и мышцы!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13846F"/>
                </a:solidFill>
                <a:latin typeface="Nunito"/>
                <a:cs typeface="Nunito"/>
              </a:rPr>
              <a:t>ФИЗМИНУТКА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fizminutka video" descr="Видео-физминутка: учительница показывает упражнения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640" y="1691640"/>
            <a:ext cx="7589520" cy="4336869"/>
          </a:xfrm>
          <a:prstGeom prst="roundRect">
            <a:avLst/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7" name="video tip"/>
          <p:cNvSpPr txBox="1"/>
          <p:nvPr/>
        </p:nvSpPr>
        <p:spPr>
          <a:xfrm>
            <a:off x="548640" y="6119949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 i="0" lang="ru-RU">
                <a:solidFill>
                  <a:srgbClr val="13846F"/>
                </a:solidFill>
                <a:latin typeface="Caveat"/>
                <a:cs typeface="Caveat"/>
              </a:rPr>
              <a:t>Видео играет само и повторяется. Нажми на видео — пауза.</a:t>
            </a:r>
          </a:p>
        </p:txBody>
      </p:sp>
      <p:sp>
        <p:nvSpPr>
          <p:cNvPr id="8" name="moves card"/>
          <p:cNvSpPr/>
          <p:nvPr/>
        </p:nvSpPr>
        <p:spPr>
          <a:xfrm>
            <a:off x="8458200" y="1691640"/>
            <a:ext cx="3182112" cy="2697480"/>
          </a:xfrm>
          <a:prstGeom prst="roundRect">
            <a:avLst>
              <a:gd name="adj" fmla="val 8474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moves head"/>
          <p:cNvSpPr txBox="1"/>
          <p:nvPr/>
        </p:nvSpPr>
        <p:spPr>
          <a:xfrm>
            <a:off x="8686800" y="1828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 lang="ru-RU">
                <a:solidFill>
                  <a:srgbClr val="13846F"/>
                </a:solidFill>
                <a:latin typeface="Caveat"/>
                <a:cs typeface="Caveat"/>
              </a:rPr>
              <a:t>Повторяй за мной!</a:t>
            </a:r>
          </a:p>
        </p:txBody>
      </p:sp>
      <p:sp>
        <p:nvSpPr>
          <p:cNvPr id="10" name="moves list"/>
          <p:cNvSpPr txBox="1"/>
          <p:nvPr/>
        </p:nvSpPr>
        <p:spPr>
          <a:xfrm>
            <a:off x="8686800" y="2423160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Руки в стороны</a:t>
            </a:r>
          </a:p>
          <a:p>
            <a:pPr algn="l">
              <a:spcBef>
                <a:spcPts val="500"/>
              </a:spcBef>
            </a:pPr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Наклоны вправо и влево</a:t>
            </a:r>
          </a:p>
          <a:p>
            <a:pPr algn="l">
              <a:spcBef>
                <a:spcPts val="500"/>
              </a:spcBef>
            </a:pPr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Руки вверх — потянулись!</a:t>
            </a:r>
          </a:p>
          <a:p>
            <a:pPr algn="l">
              <a:spcBef>
                <a:spcPts val="500"/>
              </a:spcBef>
            </a:pPr>
            <a:r>
              <a:rPr sz="1600" b="1" i="0" lang="ru-RU">
                <a:solidFill>
                  <a:srgbClr val="2B2A5A"/>
                </a:solidFill>
                <a:latin typeface="Nunito"/>
                <a:cs typeface="Nunito"/>
              </a:rPr>
              <a:t>Присели — встали</a:t>
            </a:r>
          </a:p>
        </p:txBody>
      </p:sp>
      <p:pic>
        <p:nvPicPr>
          <p:cNvPr id="11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6047" y="4389120"/>
            <a:ext cx="1344706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Проверь себя!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ИНТЕРАКТИВНЫЕ ИГРЫ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418" y="1965960"/>
            <a:ext cx="1870524" cy="4663440"/>
          </a:xfrm>
          <a:prstGeom prst="rect">
            <a:avLst/>
          </a:prstGeom>
        </p:spPr>
      </p:pic>
      <p:sp>
        <p:nvSpPr>
          <p:cNvPr id="7" name="game 1"/>
          <p:cNvSpPr/>
          <p:nvPr/>
        </p:nvSpPr>
        <p:spPr>
          <a:xfrm>
            <a:off x="4023360" y="1737360"/>
            <a:ext cx="7616952" cy="1298448"/>
          </a:xfrm>
          <a:prstGeom prst="roundRect">
            <a:avLst>
              <a:gd name="adj" fmla="val 1760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8" name="game photo 1" descr=""/>
          <p:cNvPicPr>
            <a:picLocks noChangeAspect="1"/>
          </p:cNvPicPr>
          <p:nvPr/>
        </p:nvPicPr>
        <p:blipFill>
          <a:blip r:embed="rId5"/>
          <a:srcRect l="5051" r="45051" t="17500" b="27500"/>
          <a:stretch>
            <a:fillRect/>
          </a:stretch>
        </p:blipFill>
        <p:spPr>
          <a:xfrm>
            <a:off x="4187952" y="1883664"/>
            <a:ext cx="1005840" cy="1005840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9" name="game title 1"/>
          <p:cNvSpPr txBox="1"/>
          <p:nvPr/>
        </p:nvSpPr>
        <p:spPr>
          <a:xfrm>
            <a:off x="5394960" y="19202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Викторина «Знаток скелета»</a:t>
            </a:r>
          </a:p>
        </p:txBody>
      </p:sp>
      <p:sp>
        <p:nvSpPr>
          <p:cNvPr id="10" name="game sub 1"/>
          <p:cNvSpPr txBox="1"/>
          <p:nvPr/>
        </p:nvSpPr>
        <p:spPr>
          <a:xfrm>
            <a:off x="5394960" y="2468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6B6A8E"/>
                </a:solidFill>
                <a:latin typeface="Nunito"/>
                <a:cs typeface="Nunito"/>
              </a:rPr>
              <a:t>5 вопросов — выбери верный ответ</a:t>
            </a:r>
          </a:p>
        </p:txBody>
      </p:sp>
      <p:sp>
        <p:nvSpPr>
          <p:cNvPr id="11" name="game go 1"/>
          <p:cNvSpPr/>
          <p:nvPr/>
        </p:nvSpPr>
        <p:spPr>
          <a:xfrm>
            <a:off x="10149840" y="2130552"/>
            <a:ext cx="1280160" cy="5120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45720" rIns="45720" tIns="0" bIns="0">
            <a:noAutofit/>
          </a:bodyPr>
          <a:lstStyle/>
          <a:p>
            <a:pPr algn="ctr"/>
            <a:r>
              <a:rPr sz="1100" b="0" i="0" lang="ru-RU">
                <a:solidFill>
                  <a:srgbClr val="FFFFFF"/>
                </a:solidFill>
                <a:latin typeface="Unbounded"/>
                <a:cs typeface="Unbounded"/>
              </a:rPr>
              <a:t>ИГРАТЬ</a:t>
            </a:r>
          </a:p>
        </p:txBody>
      </p:sp>
      <p:sp>
        <p:nvSpPr>
          <p:cNvPr id="12" name="game link 1">
            <a:hlinkClick action="ppaction://hlinksldjump" r:id="rId6"/>
          </p:cNvPr>
          <p:cNvSpPr/>
          <p:nvPr/>
        </p:nvSpPr>
        <p:spPr>
          <a:xfrm>
            <a:off x="4023360" y="1737360"/>
            <a:ext cx="7616952" cy="12984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2"/>
          <p:cNvSpPr/>
          <p:nvPr/>
        </p:nvSpPr>
        <p:spPr>
          <a:xfrm>
            <a:off x="4023360" y="3218688"/>
            <a:ext cx="7616952" cy="1298448"/>
          </a:xfrm>
          <a:prstGeom prst="roundRect">
            <a:avLst>
              <a:gd name="adj" fmla="val 1760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4" name="game photo 2" descr=""/>
          <p:cNvPicPr>
            <a:picLocks noChangeAspect="1"/>
          </p:cNvPicPr>
          <p:nvPr/>
        </p:nvPicPr>
        <p:blipFill>
          <a:blip r:embed="rId7"/>
          <a:srcRect l="29000" r="29000" t="13320" b="55320"/>
          <a:stretch>
            <a:fillRect/>
          </a:stretch>
        </p:blipFill>
        <p:spPr>
          <a:xfrm>
            <a:off x="4187952" y="3364992"/>
            <a:ext cx="1005840" cy="1005840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5" name="game title 2"/>
          <p:cNvSpPr txBox="1"/>
          <p:nvPr/>
        </p:nvSpPr>
        <p:spPr>
          <a:xfrm>
            <a:off x="5394960" y="340156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Игра «Кто кого защищает?»</a:t>
            </a:r>
          </a:p>
        </p:txBody>
      </p:sp>
      <p:sp>
        <p:nvSpPr>
          <p:cNvPr id="16" name="game sub 2"/>
          <p:cNvSpPr txBox="1"/>
          <p:nvPr/>
        </p:nvSpPr>
        <p:spPr>
          <a:xfrm>
            <a:off x="5394960" y="395020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6B6A8E"/>
                </a:solidFill>
                <a:latin typeface="Nunito"/>
                <a:cs typeface="Nunito"/>
              </a:rPr>
              <a:t>Соедини кость и орган, который она бережёт</a:t>
            </a:r>
          </a:p>
        </p:txBody>
      </p:sp>
      <p:sp>
        <p:nvSpPr>
          <p:cNvPr id="17" name="game go 2"/>
          <p:cNvSpPr/>
          <p:nvPr/>
        </p:nvSpPr>
        <p:spPr>
          <a:xfrm>
            <a:off x="10149840" y="3611880"/>
            <a:ext cx="1280160" cy="51206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45720" rIns="45720" tIns="0" bIns="0">
            <a:noAutofit/>
          </a:bodyPr>
          <a:lstStyle/>
          <a:p>
            <a:pPr algn="ctr"/>
            <a:r>
              <a:rPr sz="1100" b="0" i="0" lang="ru-RU">
                <a:solidFill>
                  <a:srgbClr val="FFFFFF"/>
                </a:solidFill>
                <a:latin typeface="Unbounded"/>
                <a:cs typeface="Unbounded"/>
              </a:rPr>
              <a:t>ИГРАТЬ</a:t>
            </a:r>
          </a:p>
        </p:txBody>
      </p:sp>
      <p:sp>
        <p:nvSpPr>
          <p:cNvPr id="18" name="game link 2">
            <a:hlinkClick action="ppaction://hlinksldjump" r:id="rId8"/>
          </p:cNvPr>
          <p:cNvSpPr/>
          <p:nvPr/>
        </p:nvSpPr>
        <p:spPr>
          <a:xfrm>
            <a:off x="4023360" y="3218688"/>
            <a:ext cx="7616952" cy="12984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3"/>
          <p:cNvSpPr/>
          <p:nvPr/>
        </p:nvSpPr>
        <p:spPr>
          <a:xfrm>
            <a:off x="4023360" y="4700016"/>
            <a:ext cx="7616952" cy="1298448"/>
          </a:xfrm>
          <a:prstGeom prst="roundRect">
            <a:avLst>
              <a:gd name="adj" fmla="val 1760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0" name="game photo 3" descr=""/>
          <p:cNvPicPr>
            <a:picLocks noChangeAspect="1"/>
          </p:cNvPicPr>
          <p:nvPr/>
        </p:nvPicPr>
        <p:blipFill>
          <a:blip r:embed="rId9"/>
          <a:srcRect l="22932" r="22932" b="10000"/>
          <a:stretch>
            <a:fillRect/>
          </a:stretch>
        </p:blipFill>
        <p:spPr>
          <a:xfrm>
            <a:off x="4187952" y="4846320"/>
            <a:ext cx="1005840" cy="1005840"/>
          </a:xfrm>
          <a:prstGeom prst="ellipse">
            <a:avLst/>
          </a:prstGeom>
          <a:ln w="45720">
            <a:solidFill>
              <a:srgbClr val="FFFFFF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1" name="game title 3"/>
          <p:cNvSpPr txBox="1"/>
          <p:nvPr/>
        </p:nvSpPr>
        <p:spPr>
          <a:xfrm>
            <a:off x="5394960" y="48828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Игра «Верю — не верю»</a:t>
            </a:r>
          </a:p>
        </p:txBody>
      </p:sp>
      <p:sp>
        <p:nvSpPr>
          <p:cNvPr id="22" name="game sub 3"/>
          <p:cNvSpPr txBox="1"/>
          <p:nvPr/>
        </p:nvSpPr>
        <p:spPr>
          <a:xfrm>
            <a:off x="5394960" y="543153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6B6A8E"/>
                </a:solidFill>
                <a:latin typeface="Nunito"/>
                <a:cs typeface="Nunito"/>
              </a:rPr>
              <a:t>Переверни карточку и проверь</a:t>
            </a:r>
          </a:p>
        </p:txBody>
      </p:sp>
      <p:sp>
        <p:nvSpPr>
          <p:cNvPr id="23" name="game go 3"/>
          <p:cNvSpPr/>
          <p:nvPr/>
        </p:nvSpPr>
        <p:spPr>
          <a:xfrm>
            <a:off x="10149840" y="5093208"/>
            <a:ext cx="1280160" cy="512064"/>
          </a:xfrm>
          <a:prstGeom prst="roundRect">
            <a:avLst>
              <a:gd name="adj" fmla="val 50000"/>
            </a:avLst>
          </a:prstGeom>
          <a:solidFill>
            <a:srgbClr val="13A386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45720" rIns="45720" tIns="0" bIns="0">
            <a:noAutofit/>
          </a:bodyPr>
          <a:lstStyle/>
          <a:p>
            <a:pPr algn="ctr"/>
            <a:r>
              <a:rPr sz="1100" b="0" i="0" lang="ru-RU">
                <a:solidFill>
                  <a:srgbClr val="FFFFFF"/>
                </a:solidFill>
                <a:latin typeface="Unbounded"/>
                <a:cs typeface="Unbounded"/>
              </a:rPr>
              <a:t>ИГРАТЬ</a:t>
            </a:r>
          </a:p>
        </p:txBody>
      </p:sp>
      <p:sp>
        <p:nvSpPr>
          <p:cNvPr id="24" name="game link 3">
            <a:hlinkClick action="ppaction://hlinksldjump" r:id="rId10"/>
          </p:cNvPr>
          <p:cNvSpPr/>
          <p:nvPr/>
        </p:nvSpPr>
        <p:spPr>
          <a:xfrm>
            <a:off x="4023360" y="4700016"/>
            <a:ext cx="7616952" cy="12984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692640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 lang="ru-RU">
                <a:solidFill>
                  <a:srgbClr val="2B2A5A"/>
                </a:solidFill>
                <a:latin typeface="Unbounded"/>
                <a:cs typeface="Unbounded"/>
              </a:rPr>
              <a:t>Что служит опорой нашего тела?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ВИКТОРИНА  ·  ВОПРОС 1 ИЗ 5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mascot think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07" y="4480560"/>
            <a:ext cx="898585" cy="2240280"/>
          </a:xfrm>
          <a:prstGeom prst="rect">
            <a:avLst/>
          </a:prstGeom>
        </p:spPr>
      </p:pic>
      <p:pic>
        <p:nvPicPr>
          <p:cNvPr id="7" name="mascot joy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61" y="4389120"/>
            <a:ext cx="1566879" cy="2331720"/>
          </a:xfrm>
          <a:prstGeom prst="rect">
            <a:avLst/>
          </a:prstGeom>
        </p:spPr>
      </p:pic>
      <p:sp>
        <p:nvSpPr>
          <p:cNvPr id="8" name="bubble ask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2B2A5A"/>
                </a:solidFill>
                <a:latin typeface="Caveat"/>
                <a:cs typeface="Caveat"/>
              </a:rPr>
              <a:t>Выбери правильный ответ!</a:t>
            </a:r>
          </a:p>
        </p:txBody>
      </p:sp>
      <p:sp>
        <p:nvSpPr>
          <p:cNvPr id="9" name="bubble wrong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E4E1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800" b="0" i="0" lang="ru-RU">
                <a:solidFill>
                  <a:srgbClr val="F0505A"/>
                </a:solidFill>
                <a:latin typeface="Caveat"/>
                <a:cs typeface="Caveat"/>
              </a:rPr>
              <a:t>Ой! Подумай ещё раз</a:t>
            </a:r>
          </a:p>
        </p:txBody>
      </p:sp>
      <p:sp>
        <p:nvSpPr>
          <p:cNvPr id="10" name="bubble right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E3F8EC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3000" b="0" i="0" lang="ru-RU">
                <a:solidFill>
                  <a:srgbClr val="138A55"/>
                </a:solidFill>
                <a:latin typeface="Caveat"/>
                <a:cs typeface="Caveat"/>
              </a:rPr>
              <a:t>Верно! Молодец!</a:t>
            </a:r>
          </a:p>
        </p:txBody>
      </p:sp>
      <p:sp>
        <p:nvSpPr>
          <p:cNvPr id="11" name="answer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А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3BA7F5"/>
                </a:solidFill>
                <a:latin typeface="Unbounded"/>
                <a:cs typeface="Unbounded"/>
              </a:rPr>
              <a:t>А</a:t>
            </a:r>
          </a:p>
        </p:txBody>
      </p:sp>
      <p:sp>
        <p:nvSpPr>
          <p:cNvPr id="13" name="answer text А"/>
          <p:cNvSpPr txBox="1"/>
          <p:nvPr/>
        </p:nvSpPr>
        <p:spPr>
          <a:xfrm>
            <a:off x="777240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Кожа</a:t>
            </a:r>
          </a:p>
        </p:txBody>
      </p:sp>
      <p:sp>
        <p:nvSpPr>
          <p:cNvPr id="14" name="result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Кожа</a:t>
            </a:r>
          </a:p>
        </p:txBody>
      </p:sp>
      <p:sp>
        <p:nvSpPr>
          <p:cNvPr id="15" name="answer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letter Б"/>
          <p:cNvSpPr txBox="1"/>
          <p:nvPr/>
        </p:nvSpPr>
        <p:spPr>
          <a:xfrm>
            <a:off x="4654296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FF6B6B"/>
                </a:solidFill>
                <a:latin typeface="Unbounded"/>
                <a:cs typeface="Unbounded"/>
              </a:rPr>
              <a:t>Б</a:t>
            </a:r>
          </a:p>
        </p:txBody>
      </p:sp>
      <p:sp>
        <p:nvSpPr>
          <p:cNvPr id="17" name="answer text Б"/>
          <p:cNvSpPr txBox="1"/>
          <p:nvPr/>
        </p:nvSpPr>
        <p:spPr>
          <a:xfrm>
            <a:off x="4608576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Скелет</a:t>
            </a:r>
          </a:p>
        </p:txBody>
      </p:sp>
      <p:sp>
        <p:nvSpPr>
          <p:cNvPr id="18" name="result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22B573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Верно!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Скелет</a:t>
            </a:r>
          </a:p>
        </p:txBody>
      </p:sp>
      <p:sp>
        <p:nvSpPr>
          <p:cNvPr id="19" name="answer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letter В"/>
          <p:cNvSpPr txBox="1"/>
          <p:nvPr/>
        </p:nvSpPr>
        <p:spPr>
          <a:xfrm>
            <a:off x="8485632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13A386"/>
                </a:solidFill>
                <a:latin typeface="Unbounded"/>
                <a:cs typeface="Unbounded"/>
              </a:rPr>
              <a:t>В</a:t>
            </a:r>
          </a:p>
        </p:txBody>
      </p:sp>
      <p:sp>
        <p:nvSpPr>
          <p:cNvPr id="21" name="answer text В"/>
          <p:cNvSpPr txBox="1"/>
          <p:nvPr/>
        </p:nvSpPr>
        <p:spPr>
          <a:xfrm>
            <a:off x="8439912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Сердце</a:t>
            </a:r>
          </a:p>
        </p:txBody>
      </p:sp>
      <p:sp>
        <p:nvSpPr>
          <p:cNvPr id="22" name="result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Сердце</a:t>
            </a:r>
          </a:p>
        </p:txBody>
      </p:sp>
      <p:sp>
        <p:nvSpPr>
          <p:cNvPr id="23" name="!!next">
            <a:hlinkClick action="ppaction://hlinksldjump" r:id="rId6"/>
          </p:cNvPr>
          <p:cNvSpPr/>
          <p:nvPr/>
        </p:nvSpPr>
        <p:spPr>
          <a:xfrm>
            <a:off x="8791781" y="6053328"/>
            <a:ext cx="284853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вопрос  »</a:t>
            </a:r>
          </a:p>
        </p:txBody>
      </p:sp>
      <p:sp>
        <p:nvSpPr>
          <p:cNvPr id="24" name="choose wrong"/>
          <p:cNvSpPr/>
          <p:nvPr/>
        </p:nvSpPr>
        <p:spPr>
          <a:xfrm>
            <a:off x="548640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hoose right"/>
          <p:cNvSpPr/>
          <p:nvPr/>
        </p:nvSpPr>
        <p:spPr>
          <a:xfrm>
            <a:off x="4379976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hoose wrong"/>
          <p:cNvSpPr/>
          <p:nvPr/>
        </p:nvSpPr>
        <p:spPr>
          <a:xfrm>
            <a:off x="8211312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prism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8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16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3"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8"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"/>
                            </p:stCondLst>
                            <p:childTnLst>
                              <p:par>
                                <p:cTn id="6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6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6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400"/>
                            </p:stCondLst>
                            <p:childTnLst>
                              <p:par>
                                <p:cTn id="72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  <p:bldP spid="14" grpId="1" animBg="1"/>
      <p:bldP spid="9" grpId="1" animBg="1"/>
      <p:bldP spid="18" grpId="0" animBg="1"/>
      <p:bldP spid="10" grpId="0" animBg="1"/>
      <p:bldP spid="23" grpId="0" animBg="1"/>
      <p:bldP spid="22" grpId="0" animBg="1"/>
      <p:bldP spid="9" grpId="2" animBg="1"/>
      <p:bldP spid="22" grpId="1" animBg="1"/>
      <p:bldP spid="9" grpId="3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692640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 lang="ru-RU">
                <a:solidFill>
                  <a:srgbClr val="2B2A5A"/>
                </a:solidFill>
                <a:latin typeface="Unbounded"/>
                <a:cs typeface="Unbounded"/>
              </a:rPr>
              <a:t>Какие кости защищают головной мозг?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ВИКТОРИНА  ·  ВОПРОС 2 ИЗ 5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mascot think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07" y="4480560"/>
            <a:ext cx="898585" cy="2240280"/>
          </a:xfrm>
          <a:prstGeom prst="rect">
            <a:avLst/>
          </a:prstGeom>
        </p:spPr>
      </p:pic>
      <p:pic>
        <p:nvPicPr>
          <p:cNvPr id="7" name="mascot joy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61" y="4389120"/>
            <a:ext cx="1566879" cy="2331720"/>
          </a:xfrm>
          <a:prstGeom prst="rect">
            <a:avLst/>
          </a:prstGeom>
        </p:spPr>
      </p:pic>
      <p:sp>
        <p:nvSpPr>
          <p:cNvPr id="8" name="bubble ask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2B2A5A"/>
                </a:solidFill>
                <a:latin typeface="Caveat"/>
                <a:cs typeface="Caveat"/>
              </a:rPr>
              <a:t>Выбери правильный ответ!</a:t>
            </a:r>
          </a:p>
        </p:txBody>
      </p:sp>
      <p:sp>
        <p:nvSpPr>
          <p:cNvPr id="9" name="bubble wrong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E4E1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800" b="0" i="0" lang="ru-RU">
                <a:solidFill>
                  <a:srgbClr val="F0505A"/>
                </a:solidFill>
                <a:latin typeface="Caveat"/>
                <a:cs typeface="Caveat"/>
              </a:rPr>
              <a:t>Ой! Подумай ещё раз</a:t>
            </a:r>
          </a:p>
        </p:txBody>
      </p:sp>
      <p:sp>
        <p:nvSpPr>
          <p:cNvPr id="10" name="bubble right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E3F8EC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3000" b="0" i="0" lang="ru-RU">
                <a:solidFill>
                  <a:srgbClr val="138A55"/>
                </a:solidFill>
                <a:latin typeface="Caveat"/>
                <a:cs typeface="Caveat"/>
              </a:rPr>
              <a:t>Верно! Молодец!</a:t>
            </a:r>
          </a:p>
        </p:txBody>
      </p:sp>
      <p:sp>
        <p:nvSpPr>
          <p:cNvPr id="11" name="answer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А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3BA7F5"/>
                </a:solidFill>
                <a:latin typeface="Unbounded"/>
                <a:cs typeface="Unbounded"/>
              </a:rPr>
              <a:t>А</a:t>
            </a:r>
          </a:p>
        </p:txBody>
      </p:sp>
      <p:sp>
        <p:nvSpPr>
          <p:cNvPr id="13" name="answer text А"/>
          <p:cNvSpPr txBox="1"/>
          <p:nvPr/>
        </p:nvSpPr>
        <p:spPr>
          <a:xfrm>
            <a:off x="777240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Череп</a:t>
            </a:r>
          </a:p>
        </p:txBody>
      </p:sp>
      <p:sp>
        <p:nvSpPr>
          <p:cNvPr id="14" name="result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22B573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Верно!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Череп</a:t>
            </a:r>
          </a:p>
        </p:txBody>
      </p:sp>
      <p:sp>
        <p:nvSpPr>
          <p:cNvPr id="15" name="answer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letter Б"/>
          <p:cNvSpPr txBox="1"/>
          <p:nvPr/>
        </p:nvSpPr>
        <p:spPr>
          <a:xfrm>
            <a:off x="4654296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FF6B6B"/>
                </a:solidFill>
                <a:latin typeface="Unbounded"/>
                <a:cs typeface="Unbounded"/>
              </a:rPr>
              <a:t>Б</a:t>
            </a:r>
          </a:p>
        </p:txBody>
      </p:sp>
      <p:sp>
        <p:nvSpPr>
          <p:cNvPr id="17" name="answer text Б"/>
          <p:cNvSpPr txBox="1"/>
          <p:nvPr/>
        </p:nvSpPr>
        <p:spPr>
          <a:xfrm>
            <a:off x="4608576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Рёбра</a:t>
            </a:r>
          </a:p>
        </p:txBody>
      </p:sp>
      <p:sp>
        <p:nvSpPr>
          <p:cNvPr id="18" name="result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Рёбра</a:t>
            </a:r>
          </a:p>
        </p:txBody>
      </p:sp>
      <p:sp>
        <p:nvSpPr>
          <p:cNvPr id="19" name="answer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letter В"/>
          <p:cNvSpPr txBox="1"/>
          <p:nvPr/>
        </p:nvSpPr>
        <p:spPr>
          <a:xfrm>
            <a:off x="8485632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13A386"/>
                </a:solidFill>
                <a:latin typeface="Unbounded"/>
                <a:cs typeface="Unbounded"/>
              </a:rPr>
              <a:t>В</a:t>
            </a:r>
          </a:p>
        </p:txBody>
      </p:sp>
      <p:sp>
        <p:nvSpPr>
          <p:cNvPr id="21" name="answer text В"/>
          <p:cNvSpPr txBox="1"/>
          <p:nvPr/>
        </p:nvSpPr>
        <p:spPr>
          <a:xfrm>
            <a:off x="8439912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Позвоночник</a:t>
            </a:r>
          </a:p>
        </p:txBody>
      </p:sp>
      <p:sp>
        <p:nvSpPr>
          <p:cNvPr id="22" name="result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Позвоночник</a:t>
            </a:r>
          </a:p>
        </p:txBody>
      </p:sp>
      <p:sp>
        <p:nvSpPr>
          <p:cNvPr id="23" name="!!next">
            <a:hlinkClick action="ppaction://hlinksldjump" r:id="rId6"/>
          </p:cNvPr>
          <p:cNvSpPr/>
          <p:nvPr/>
        </p:nvSpPr>
        <p:spPr>
          <a:xfrm>
            <a:off x="8791781" y="6053328"/>
            <a:ext cx="284853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вопрос  »</a:t>
            </a:r>
          </a:p>
        </p:txBody>
      </p:sp>
      <p:sp>
        <p:nvSpPr>
          <p:cNvPr id="24" name="choose right"/>
          <p:cNvSpPr/>
          <p:nvPr/>
        </p:nvSpPr>
        <p:spPr>
          <a:xfrm>
            <a:off x="548640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hoose wrong"/>
          <p:cNvSpPr/>
          <p:nvPr/>
        </p:nvSpPr>
        <p:spPr>
          <a:xfrm>
            <a:off x="4379976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hoose wrong"/>
          <p:cNvSpPr/>
          <p:nvPr/>
        </p:nvSpPr>
        <p:spPr>
          <a:xfrm>
            <a:off x="8211312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prism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5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"/>
                            </p:stCondLst>
                            <p:childTnLst>
                              <p:par>
                                <p:cTn id="42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43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44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45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46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400"/>
                            </p:stCondLst>
                            <p:childTnLst>
                              <p:par>
                                <p:cTn id="4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8"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"/>
                            </p:stCondLst>
                            <p:childTnLst>
                              <p:par>
                                <p:cTn id="6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6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6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400"/>
                            </p:stCondLst>
                            <p:childTnLst>
                              <p:par>
                                <p:cTn id="72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4" grpId="0" animBg="1"/>
      <p:bldP spid="10" grpId="0" animBg="1"/>
      <p:bldP spid="23" grpId="0" animBg="1"/>
      <p:bldP spid="18" grpId="0" animBg="1"/>
      <p:bldP spid="9" grpId="0" animBg="1"/>
      <p:bldP spid="18" grpId="1" animBg="1"/>
      <p:bldP spid="9" grpId="1" animBg="1"/>
      <p:bldP spid="22" grpId="0" animBg="1"/>
      <p:bldP spid="9" grpId="2" animBg="1"/>
      <p:bldP spid="22" grpId="1" animBg="1"/>
      <p:bldP spid="9" grpId="3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692640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 lang="ru-RU">
                <a:solidFill>
                  <a:srgbClr val="2B2A5A"/>
                </a:solidFill>
                <a:latin typeface="Unbounded"/>
                <a:cs typeface="Unbounded"/>
              </a:rPr>
              <a:t>Что защищает грудная клетка?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ВИКТОРИНА  ·  ВОПРОС 3 ИЗ 5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mascot think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07" y="4480560"/>
            <a:ext cx="898585" cy="2240280"/>
          </a:xfrm>
          <a:prstGeom prst="rect">
            <a:avLst/>
          </a:prstGeom>
        </p:spPr>
      </p:pic>
      <p:pic>
        <p:nvPicPr>
          <p:cNvPr id="7" name="mascot joy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61" y="4389120"/>
            <a:ext cx="1566879" cy="2331720"/>
          </a:xfrm>
          <a:prstGeom prst="rect">
            <a:avLst/>
          </a:prstGeom>
        </p:spPr>
      </p:pic>
      <p:sp>
        <p:nvSpPr>
          <p:cNvPr id="8" name="bubble ask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2B2A5A"/>
                </a:solidFill>
                <a:latin typeface="Caveat"/>
                <a:cs typeface="Caveat"/>
              </a:rPr>
              <a:t>Выбери правильный ответ!</a:t>
            </a:r>
          </a:p>
        </p:txBody>
      </p:sp>
      <p:sp>
        <p:nvSpPr>
          <p:cNvPr id="9" name="bubble wrong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E4E1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800" b="0" i="0" lang="ru-RU">
                <a:solidFill>
                  <a:srgbClr val="F0505A"/>
                </a:solidFill>
                <a:latin typeface="Caveat"/>
                <a:cs typeface="Caveat"/>
              </a:rPr>
              <a:t>Ой! Подумай ещё раз</a:t>
            </a:r>
          </a:p>
        </p:txBody>
      </p:sp>
      <p:sp>
        <p:nvSpPr>
          <p:cNvPr id="10" name="bubble right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E3F8EC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3000" b="0" i="0" lang="ru-RU">
                <a:solidFill>
                  <a:srgbClr val="138A55"/>
                </a:solidFill>
                <a:latin typeface="Caveat"/>
                <a:cs typeface="Caveat"/>
              </a:rPr>
              <a:t>Верно! Молодец!</a:t>
            </a:r>
          </a:p>
        </p:txBody>
      </p:sp>
      <p:sp>
        <p:nvSpPr>
          <p:cNvPr id="11" name="answer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А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3BA7F5"/>
                </a:solidFill>
                <a:latin typeface="Unbounded"/>
                <a:cs typeface="Unbounded"/>
              </a:rPr>
              <a:t>А</a:t>
            </a:r>
          </a:p>
        </p:txBody>
      </p:sp>
      <p:sp>
        <p:nvSpPr>
          <p:cNvPr id="13" name="answer text А"/>
          <p:cNvSpPr txBox="1"/>
          <p:nvPr/>
        </p:nvSpPr>
        <p:spPr>
          <a:xfrm>
            <a:off x="777240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Желудок</a:t>
            </a:r>
          </a:p>
        </p:txBody>
      </p:sp>
      <p:sp>
        <p:nvSpPr>
          <p:cNvPr id="14" name="result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Желудок</a:t>
            </a:r>
          </a:p>
        </p:txBody>
      </p:sp>
      <p:sp>
        <p:nvSpPr>
          <p:cNvPr id="15" name="answer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letter Б"/>
          <p:cNvSpPr txBox="1"/>
          <p:nvPr/>
        </p:nvSpPr>
        <p:spPr>
          <a:xfrm>
            <a:off x="4654296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FF6B6B"/>
                </a:solidFill>
                <a:latin typeface="Unbounded"/>
                <a:cs typeface="Unbounded"/>
              </a:rPr>
              <a:t>Б</a:t>
            </a:r>
          </a:p>
        </p:txBody>
      </p:sp>
      <p:sp>
        <p:nvSpPr>
          <p:cNvPr id="17" name="answer text Б"/>
          <p:cNvSpPr txBox="1"/>
          <p:nvPr/>
        </p:nvSpPr>
        <p:spPr>
          <a:xfrm>
            <a:off x="4608576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Головной мозг</a:t>
            </a:r>
          </a:p>
        </p:txBody>
      </p:sp>
      <p:sp>
        <p:nvSpPr>
          <p:cNvPr id="18" name="result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Головной мозг</a:t>
            </a:r>
          </a:p>
        </p:txBody>
      </p:sp>
      <p:sp>
        <p:nvSpPr>
          <p:cNvPr id="19" name="answer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letter В"/>
          <p:cNvSpPr txBox="1"/>
          <p:nvPr/>
        </p:nvSpPr>
        <p:spPr>
          <a:xfrm>
            <a:off x="8485632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13A386"/>
                </a:solidFill>
                <a:latin typeface="Unbounded"/>
                <a:cs typeface="Unbounded"/>
              </a:rPr>
              <a:t>В</a:t>
            </a:r>
          </a:p>
        </p:txBody>
      </p:sp>
      <p:sp>
        <p:nvSpPr>
          <p:cNvPr id="21" name="answer text В"/>
          <p:cNvSpPr txBox="1"/>
          <p:nvPr/>
        </p:nvSpPr>
        <p:spPr>
          <a:xfrm>
            <a:off x="8439912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Сердце и лёгкие</a:t>
            </a:r>
          </a:p>
        </p:txBody>
      </p:sp>
      <p:sp>
        <p:nvSpPr>
          <p:cNvPr id="22" name="result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22B573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Верно!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Сердце и лёгкие</a:t>
            </a:r>
          </a:p>
        </p:txBody>
      </p:sp>
      <p:sp>
        <p:nvSpPr>
          <p:cNvPr id="23" name="!!next">
            <a:hlinkClick action="ppaction://hlinksldjump" r:id="rId6"/>
          </p:cNvPr>
          <p:cNvSpPr/>
          <p:nvPr/>
        </p:nvSpPr>
        <p:spPr>
          <a:xfrm>
            <a:off x="8791781" y="6053328"/>
            <a:ext cx="284853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вопрос  »</a:t>
            </a:r>
          </a:p>
        </p:txBody>
      </p:sp>
      <p:sp>
        <p:nvSpPr>
          <p:cNvPr id="24" name="choose wrong"/>
          <p:cNvSpPr/>
          <p:nvPr/>
        </p:nvSpPr>
        <p:spPr>
          <a:xfrm>
            <a:off x="548640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hoose wrong"/>
          <p:cNvSpPr/>
          <p:nvPr/>
        </p:nvSpPr>
        <p:spPr>
          <a:xfrm>
            <a:off x="4379976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hoose right"/>
          <p:cNvSpPr/>
          <p:nvPr/>
        </p:nvSpPr>
        <p:spPr>
          <a:xfrm>
            <a:off x="8211312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prism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8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16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1"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"/>
                            </p:stCondLst>
                            <p:childTnLst>
                              <p:par>
                                <p:cTn id="38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39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40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41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42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6"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  <p:bldP spid="14" grpId="1" animBg="1"/>
      <p:bldP spid="9" grpId="1" animBg="1"/>
      <p:bldP spid="18" grpId="0" animBg="1"/>
      <p:bldP spid="9" grpId="2" animBg="1"/>
      <p:bldP spid="18" grpId="1" animBg="1"/>
      <p:bldP spid="9" grpId="3" animBg="1"/>
      <p:bldP spid="22" grpId="0" animBg="1"/>
      <p:bldP spid="10" grpId="0" animBg="1"/>
      <p:bldP spid="23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692640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 lang="ru-RU">
                <a:solidFill>
                  <a:srgbClr val="2B2A5A"/>
                </a:solidFill>
                <a:latin typeface="Unbounded"/>
                <a:cs typeface="Unbounded"/>
              </a:rPr>
              <a:t>Сколько мышц в теле человека?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ВИКТОРИНА  ·  ВОПРОС 4 ИЗ 5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mascot think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07" y="4480560"/>
            <a:ext cx="898585" cy="2240280"/>
          </a:xfrm>
          <a:prstGeom prst="rect">
            <a:avLst/>
          </a:prstGeom>
        </p:spPr>
      </p:pic>
      <p:pic>
        <p:nvPicPr>
          <p:cNvPr id="7" name="mascot joy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61" y="4389120"/>
            <a:ext cx="1566879" cy="2331720"/>
          </a:xfrm>
          <a:prstGeom prst="rect">
            <a:avLst/>
          </a:prstGeom>
        </p:spPr>
      </p:pic>
      <p:sp>
        <p:nvSpPr>
          <p:cNvPr id="8" name="bubble ask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2B2A5A"/>
                </a:solidFill>
                <a:latin typeface="Caveat"/>
                <a:cs typeface="Caveat"/>
              </a:rPr>
              <a:t>Выбери правильный ответ!</a:t>
            </a:r>
          </a:p>
        </p:txBody>
      </p:sp>
      <p:sp>
        <p:nvSpPr>
          <p:cNvPr id="9" name="bubble wrong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E4E1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800" b="0" i="0" lang="ru-RU">
                <a:solidFill>
                  <a:srgbClr val="F0505A"/>
                </a:solidFill>
                <a:latin typeface="Caveat"/>
                <a:cs typeface="Caveat"/>
              </a:rPr>
              <a:t>Ой! Подумай ещё раз</a:t>
            </a:r>
          </a:p>
        </p:txBody>
      </p:sp>
      <p:sp>
        <p:nvSpPr>
          <p:cNvPr id="10" name="bubble right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E3F8EC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3000" b="0" i="0" lang="ru-RU">
                <a:solidFill>
                  <a:srgbClr val="138A55"/>
                </a:solidFill>
                <a:latin typeface="Caveat"/>
                <a:cs typeface="Caveat"/>
              </a:rPr>
              <a:t>Верно! Молодец!</a:t>
            </a:r>
          </a:p>
        </p:txBody>
      </p:sp>
      <p:sp>
        <p:nvSpPr>
          <p:cNvPr id="11" name="answer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А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3BA7F5"/>
                </a:solidFill>
                <a:latin typeface="Unbounded"/>
                <a:cs typeface="Unbounded"/>
              </a:rPr>
              <a:t>А</a:t>
            </a:r>
          </a:p>
        </p:txBody>
      </p:sp>
      <p:sp>
        <p:nvSpPr>
          <p:cNvPr id="13" name="answer text А"/>
          <p:cNvSpPr txBox="1"/>
          <p:nvPr/>
        </p:nvSpPr>
        <p:spPr>
          <a:xfrm>
            <a:off x="777240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Около 60</a:t>
            </a:r>
          </a:p>
        </p:txBody>
      </p:sp>
      <p:sp>
        <p:nvSpPr>
          <p:cNvPr id="14" name="result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Около 60</a:t>
            </a:r>
          </a:p>
        </p:txBody>
      </p:sp>
      <p:sp>
        <p:nvSpPr>
          <p:cNvPr id="15" name="answer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letter Б"/>
          <p:cNvSpPr txBox="1"/>
          <p:nvPr/>
        </p:nvSpPr>
        <p:spPr>
          <a:xfrm>
            <a:off x="4654296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FF6B6B"/>
                </a:solidFill>
                <a:latin typeface="Unbounded"/>
                <a:cs typeface="Unbounded"/>
              </a:rPr>
              <a:t>Б</a:t>
            </a:r>
          </a:p>
        </p:txBody>
      </p:sp>
      <p:sp>
        <p:nvSpPr>
          <p:cNvPr id="17" name="answer text Б"/>
          <p:cNvSpPr txBox="1"/>
          <p:nvPr/>
        </p:nvSpPr>
        <p:spPr>
          <a:xfrm>
            <a:off x="4608576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Больше 600</a:t>
            </a:r>
          </a:p>
        </p:txBody>
      </p:sp>
      <p:sp>
        <p:nvSpPr>
          <p:cNvPr id="18" name="result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22B573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Верно!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Больше 600</a:t>
            </a:r>
          </a:p>
        </p:txBody>
      </p:sp>
      <p:sp>
        <p:nvSpPr>
          <p:cNvPr id="19" name="answer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letter В"/>
          <p:cNvSpPr txBox="1"/>
          <p:nvPr/>
        </p:nvSpPr>
        <p:spPr>
          <a:xfrm>
            <a:off x="8485632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13A386"/>
                </a:solidFill>
                <a:latin typeface="Unbounded"/>
                <a:cs typeface="Unbounded"/>
              </a:rPr>
              <a:t>В</a:t>
            </a:r>
          </a:p>
        </p:txBody>
      </p:sp>
      <p:sp>
        <p:nvSpPr>
          <p:cNvPr id="21" name="answer text В"/>
          <p:cNvSpPr txBox="1"/>
          <p:nvPr/>
        </p:nvSpPr>
        <p:spPr>
          <a:xfrm>
            <a:off x="8439912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Около 6</a:t>
            </a:r>
          </a:p>
        </p:txBody>
      </p:sp>
      <p:sp>
        <p:nvSpPr>
          <p:cNvPr id="22" name="result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Около 6</a:t>
            </a:r>
          </a:p>
        </p:txBody>
      </p:sp>
      <p:sp>
        <p:nvSpPr>
          <p:cNvPr id="23" name="!!next">
            <a:hlinkClick action="ppaction://hlinksldjump" r:id="rId6"/>
          </p:cNvPr>
          <p:cNvSpPr/>
          <p:nvPr/>
        </p:nvSpPr>
        <p:spPr>
          <a:xfrm>
            <a:off x="8791781" y="6053328"/>
            <a:ext cx="2848531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Следующий вопрос  »</a:t>
            </a:r>
          </a:p>
        </p:txBody>
      </p:sp>
      <p:sp>
        <p:nvSpPr>
          <p:cNvPr id="24" name="choose wrong"/>
          <p:cNvSpPr/>
          <p:nvPr/>
        </p:nvSpPr>
        <p:spPr>
          <a:xfrm>
            <a:off x="548640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hoose right"/>
          <p:cNvSpPr/>
          <p:nvPr/>
        </p:nvSpPr>
        <p:spPr>
          <a:xfrm>
            <a:off x="4379976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hoose wrong"/>
          <p:cNvSpPr/>
          <p:nvPr/>
        </p:nvSpPr>
        <p:spPr>
          <a:xfrm>
            <a:off x="8211312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prism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8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16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1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1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1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3"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8"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"/>
                            </p:stCondLst>
                            <p:childTnLst>
                              <p:par>
                                <p:cTn id="6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6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6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400"/>
                            </p:stCondLst>
                            <p:childTnLst>
                              <p:par>
                                <p:cTn id="72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  <p:bldP spid="14" grpId="1" animBg="1"/>
      <p:bldP spid="9" grpId="1" animBg="1"/>
      <p:bldP spid="18" grpId="0" animBg="1"/>
      <p:bldP spid="10" grpId="0" animBg="1"/>
      <p:bldP spid="23" grpId="0" animBg="1"/>
      <p:bldP spid="22" grpId="0" animBg="1"/>
      <p:bldP spid="9" grpId="2" animBg="1"/>
      <p:bldP spid="22" grpId="1" animBg="1"/>
      <p:bldP spid="9" grpId="3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692640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 lang="ru-RU">
                <a:solidFill>
                  <a:srgbClr val="2B2A5A"/>
                </a:solidFill>
                <a:latin typeface="Unbounded"/>
                <a:cs typeface="Unbounded"/>
              </a:rPr>
              <a:t>Как называются подвижные соединения костей?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ВИКТОРИНА  ·  ВОПРОС 5 ИЗ 5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mascot think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07" y="4480560"/>
            <a:ext cx="898585" cy="2240280"/>
          </a:xfrm>
          <a:prstGeom prst="rect">
            <a:avLst/>
          </a:prstGeom>
        </p:spPr>
      </p:pic>
      <p:pic>
        <p:nvPicPr>
          <p:cNvPr id="7" name="mascot joy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61" y="4389120"/>
            <a:ext cx="1566879" cy="2331720"/>
          </a:xfrm>
          <a:prstGeom prst="rect">
            <a:avLst/>
          </a:prstGeom>
        </p:spPr>
      </p:pic>
      <p:sp>
        <p:nvSpPr>
          <p:cNvPr id="8" name="bubble ask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2B2A5A"/>
                </a:solidFill>
                <a:latin typeface="Caveat"/>
                <a:cs typeface="Caveat"/>
              </a:rPr>
              <a:t>Выбери правильный ответ!</a:t>
            </a:r>
          </a:p>
        </p:txBody>
      </p:sp>
      <p:sp>
        <p:nvSpPr>
          <p:cNvPr id="9" name="bubble wrong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FFE4E1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800" b="0" i="0" lang="ru-RU">
                <a:solidFill>
                  <a:srgbClr val="F0505A"/>
                </a:solidFill>
                <a:latin typeface="Caveat"/>
                <a:cs typeface="Caveat"/>
              </a:rPr>
              <a:t>Ой! Подумай ещё раз</a:t>
            </a:r>
          </a:p>
        </p:txBody>
      </p:sp>
      <p:sp>
        <p:nvSpPr>
          <p:cNvPr id="10" name="bubble right"/>
          <p:cNvSpPr/>
          <p:nvPr/>
        </p:nvSpPr>
        <p:spPr>
          <a:xfrm>
            <a:off x="2606040" y="5074920"/>
            <a:ext cx="4206240" cy="868680"/>
          </a:xfrm>
          <a:prstGeom prst="roundRect">
            <a:avLst>
              <a:gd name="adj" fmla="val 31578"/>
            </a:avLst>
          </a:prstGeom>
          <a:solidFill>
            <a:srgbClr val="E3F8EC"/>
          </a:solidFill>
          <a:ln>
            <a:noFill/>
          </a:ln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3000" b="0" i="0" lang="ru-RU">
                <a:solidFill>
                  <a:srgbClr val="138A55"/>
                </a:solidFill>
                <a:latin typeface="Caveat"/>
                <a:cs typeface="Caveat"/>
              </a:rPr>
              <a:t>Верно! Молодец!</a:t>
            </a:r>
          </a:p>
        </p:txBody>
      </p:sp>
      <p:sp>
        <p:nvSpPr>
          <p:cNvPr id="11" name="answer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А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3BA7F5"/>
                </a:solidFill>
                <a:latin typeface="Unbounded"/>
                <a:cs typeface="Unbounded"/>
              </a:rPr>
              <a:t>А</a:t>
            </a:r>
          </a:p>
        </p:txBody>
      </p:sp>
      <p:sp>
        <p:nvSpPr>
          <p:cNvPr id="13" name="answer text А"/>
          <p:cNvSpPr txBox="1"/>
          <p:nvPr/>
        </p:nvSpPr>
        <p:spPr>
          <a:xfrm>
            <a:off x="777240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Суставы</a:t>
            </a:r>
          </a:p>
        </p:txBody>
      </p:sp>
      <p:sp>
        <p:nvSpPr>
          <p:cNvPr id="14" name="result А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22B573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Верно!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Суставы</a:t>
            </a:r>
          </a:p>
        </p:txBody>
      </p:sp>
      <p:sp>
        <p:nvSpPr>
          <p:cNvPr id="15" name="answer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letter Б"/>
          <p:cNvSpPr txBox="1"/>
          <p:nvPr/>
        </p:nvSpPr>
        <p:spPr>
          <a:xfrm>
            <a:off x="4654296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FF6B6B"/>
                </a:solidFill>
                <a:latin typeface="Unbounded"/>
                <a:cs typeface="Unbounded"/>
              </a:rPr>
              <a:t>Б</a:t>
            </a:r>
          </a:p>
        </p:txBody>
      </p:sp>
      <p:sp>
        <p:nvSpPr>
          <p:cNvPr id="17" name="answer text Б"/>
          <p:cNvSpPr txBox="1"/>
          <p:nvPr/>
        </p:nvSpPr>
        <p:spPr>
          <a:xfrm>
            <a:off x="4608576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Мышцы</a:t>
            </a:r>
          </a:p>
        </p:txBody>
      </p:sp>
      <p:sp>
        <p:nvSpPr>
          <p:cNvPr id="18" name="result Б"/>
          <p:cNvSpPr/>
          <p:nvPr/>
        </p:nvSpPr>
        <p:spPr>
          <a:xfrm>
            <a:off x="4379976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Мышцы</a:t>
            </a:r>
          </a:p>
        </p:txBody>
      </p:sp>
      <p:sp>
        <p:nvSpPr>
          <p:cNvPr id="19" name="answer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letter В"/>
          <p:cNvSpPr txBox="1"/>
          <p:nvPr/>
        </p:nvSpPr>
        <p:spPr>
          <a:xfrm>
            <a:off x="8485632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 lang="ru-RU">
                <a:solidFill>
                  <a:srgbClr val="13A386"/>
                </a:solidFill>
                <a:latin typeface="Unbounded"/>
                <a:cs typeface="Unbounded"/>
              </a:rPr>
              <a:t>В</a:t>
            </a:r>
          </a:p>
        </p:txBody>
      </p:sp>
      <p:sp>
        <p:nvSpPr>
          <p:cNvPr id="21" name="answer text В"/>
          <p:cNvSpPr txBox="1"/>
          <p:nvPr/>
        </p:nvSpPr>
        <p:spPr>
          <a:xfrm>
            <a:off x="8439912" y="292608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Позвонки</a:t>
            </a:r>
          </a:p>
        </p:txBody>
      </p:sp>
      <p:sp>
        <p:nvSpPr>
          <p:cNvPr id="22" name="result В"/>
          <p:cNvSpPr/>
          <p:nvPr/>
        </p:nvSpPr>
        <p:spPr>
          <a:xfrm>
            <a:off x="8211312" y="2057400"/>
            <a:ext cx="3429000" cy="2331720"/>
          </a:xfrm>
          <a:prstGeom prst="roundRect">
            <a:avLst>
              <a:gd name="adj" fmla="val 9803"/>
            </a:avLst>
          </a:prstGeom>
          <a:solidFill>
            <a:srgbClr val="F0505A"/>
          </a:solidFill>
          <a:ln>
            <a:noFill/>
          </a:ln>
          <a:scene3d>
            <a:camera prst="orthographicFront"/>
            <a:lightRig rig="threePt" dir="t"/>
          </a:scene3d>
          <a:sp3d>
            <a:bevelT w="54864" h="22860" prst="circle"/>
          </a:sp3d>
        </p:spPr>
        <p:txBody>
          <a:bodyPr rtlCol="0" anchor="ctr" wrap="square" lIns="109728" rIns="109728" tIns="73152" bIns="73152">
            <a:noAutofit/>
          </a:bodyPr>
          <a:lstStyle/>
          <a:p>
            <a:pPr algn="ctr"/>
            <a:r>
              <a:rPr sz="2600" b="0" i="0" lang="ru-RU">
                <a:solidFill>
                  <a:srgbClr val="FFFFFF"/>
                </a:solidFill>
                <a:latin typeface="Unbounded"/>
                <a:cs typeface="Unbounded"/>
              </a:rPr>
              <a:t>Не то!</a:t>
            </a:r>
          </a:p>
          <a:p>
            <a:pPr algn="ctr"/>
            <a:r>
              <a:rPr sz="1800" b="1" i="0" lang="ru-RU">
                <a:solidFill>
                  <a:srgbClr val="FFFFFF"/>
                </a:solidFill>
                <a:latin typeface="Nunito"/>
                <a:cs typeface="Nunito"/>
              </a:rPr>
              <a:t>Позвонки</a:t>
            </a:r>
          </a:p>
        </p:txBody>
      </p:sp>
      <p:sp>
        <p:nvSpPr>
          <p:cNvPr id="23" name="!!next">
            <a:hlinkClick action="ppaction://hlinksldjump" r:id="rId6"/>
          </p:cNvPr>
          <p:cNvSpPr/>
          <p:nvPr/>
        </p:nvSpPr>
        <p:spPr>
          <a:xfrm>
            <a:off x="9075368" y="6053328"/>
            <a:ext cx="2564944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Следующая игра  »</a:t>
            </a:r>
          </a:p>
        </p:txBody>
      </p:sp>
      <p:sp>
        <p:nvSpPr>
          <p:cNvPr id="24" name="choose right"/>
          <p:cNvSpPr/>
          <p:nvPr/>
        </p:nvSpPr>
        <p:spPr>
          <a:xfrm>
            <a:off x="548640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hoose wrong"/>
          <p:cNvSpPr/>
          <p:nvPr/>
        </p:nvSpPr>
        <p:spPr>
          <a:xfrm>
            <a:off x="4379976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hoose wrong"/>
          <p:cNvSpPr/>
          <p:nvPr/>
        </p:nvSpPr>
        <p:spPr>
          <a:xfrm>
            <a:off x="8211312" y="2057400"/>
            <a:ext cx="34290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prism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5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"/>
                            </p:stCondLst>
                            <p:childTnLst>
                              <p:par>
                                <p:cTn id="42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43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44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45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46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400"/>
                            </p:stCondLst>
                            <p:childTnLst>
                              <p:par>
                                <p:cTn id="4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8"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"/>
                            </p:stCondLst>
                            <p:childTnLst>
                              <p:par>
                                <p:cTn id="6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6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7" dur="2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480000">
                                      <p:cBhvr>
                                        <p:cTn id="68" dur="2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480000">
                                      <p:cBhvr>
                                        <p:cTn id="69" dur="2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0" dur="1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400"/>
                            </p:stCondLst>
                            <p:childTnLst>
                              <p:par>
                                <p:cTn id="72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4" grpId="0" animBg="1"/>
      <p:bldP spid="10" grpId="0" animBg="1"/>
      <p:bldP spid="23" grpId="0" animBg="1"/>
      <p:bldP spid="18" grpId="0" animBg="1"/>
      <p:bldP spid="9" grpId="0" animBg="1"/>
      <p:bldP spid="18" grpId="1" animBg="1"/>
      <p:bldP spid="9" grpId="1" animBg="1"/>
      <p:bldP spid="22" grpId="0" animBg="1"/>
      <p:bldP spid="9" grpId="2" animBg="1"/>
      <p:bldP spid="22" grpId="1" animBg="1"/>
      <p:bldP spid="9" grpId="3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Кто кого защищает?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6B6B"/>
                </a:solidFill>
                <a:latin typeface="Nunito"/>
                <a:cs typeface="Nunito"/>
              </a:rPr>
              <a:t>ИГРА НА СООТВЕТСТВИЕ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match hint"/>
          <p:cNvSpPr txBox="1"/>
          <p:nvPr/>
        </p:nvSpPr>
        <p:spPr>
          <a:xfrm>
            <a:off x="548640" y="1463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0" i="0" lang="ru-RU">
                <a:solidFill>
                  <a:srgbClr val="6C5CE7"/>
                </a:solidFill>
                <a:latin typeface="Caveat"/>
                <a:cs typeface="Caveat"/>
              </a:rPr>
              <a:t>Назовите пару вслух, а потом нажмите на кость — проверим!</a:t>
            </a:r>
          </a:p>
        </p:txBody>
      </p:sp>
      <p:sp>
        <p:nvSpPr>
          <p:cNvPr id="7" name="organ 1"/>
          <p:cNvSpPr/>
          <p:nvPr/>
        </p:nvSpPr>
        <p:spPr>
          <a:xfrm>
            <a:off x="7982712" y="2194560"/>
            <a:ext cx="3657600" cy="1051560"/>
          </a:xfrm>
          <a:prstGeom prst="roundRect">
            <a:avLst>
              <a:gd name="adj" fmla="val 21739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organ text 1"/>
          <p:cNvSpPr txBox="1"/>
          <p:nvPr/>
        </p:nvSpPr>
        <p:spPr>
          <a:xfrm>
            <a:off x="8275320" y="21945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Сердце и лёгкие</a:t>
            </a:r>
          </a:p>
        </p:txBody>
      </p:sp>
      <p:sp>
        <p:nvSpPr>
          <p:cNvPr id="9" name="organ ok 1"/>
          <p:cNvSpPr/>
          <p:nvPr/>
        </p:nvSpPr>
        <p:spPr>
          <a:xfrm>
            <a:off x="7918704" y="2130552"/>
            <a:ext cx="3785616" cy="1179576"/>
          </a:xfrm>
          <a:prstGeom prst="roundRect">
            <a:avLst>
              <a:gd name="adj" fmla="val 20930"/>
            </a:avLst>
          </a:prstGeom>
          <a:noFill/>
          <a:ln w="73152">
            <a:solidFill>
              <a:srgbClr val="22B5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rgan 2"/>
          <p:cNvSpPr/>
          <p:nvPr/>
        </p:nvSpPr>
        <p:spPr>
          <a:xfrm>
            <a:off x="7982712" y="3566160"/>
            <a:ext cx="3657600" cy="1051560"/>
          </a:xfrm>
          <a:prstGeom prst="roundRect">
            <a:avLst>
              <a:gd name="adj" fmla="val 21739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organ text 2"/>
          <p:cNvSpPr txBox="1"/>
          <p:nvPr/>
        </p:nvSpPr>
        <p:spPr>
          <a:xfrm>
            <a:off x="8275320" y="35661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Головной мозг</a:t>
            </a:r>
          </a:p>
        </p:txBody>
      </p:sp>
      <p:sp>
        <p:nvSpPr>
          <p:cNvPr id="12" name="organ ok 2"/>
          <p:cNvSpPr/>
          <p:nvPr/>
        </p:nvSpPr>
        <p:spPr>
          <a:xfrm>
            <a:off x="7918704" y="3502152"/>
            <a:ext cx="3785616" cy="1179576"/>
          </a:xfrm>
          <a:prstGeom prst="roundRect">
            <a:avLst>
              <a:gd name="adj" fmla="val 20930"/>
            </a:avLst>
          </a:prstGeom>
          <a:noFill/>
          <a:ln w="73152">
            <a:solidFill>
              <a:srgbClr val="22B5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rgan 3"/>
          <p:cNvSpPr/>
          <p:nvPr/>
        </p:nvSpPr>
        <p:spPr>
          <a:xfrm>
            <a:off x="7982712" y="4937760"/>
            <a:ext cx="3657600" cy="1051560"/>
          </a:xfrm>
          <a:prstGeom prst="roundRect">
            <a:avLst>
              <a:gd name="adj" fmla="val 21739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organ text 3"/>
          <p:cNvSpPr txBox="1"/>
          <p:nvPr/>
        </p:nvSpPr>
        <p:spPr>
          <a:xfrm>
            <a:off x="8275320" y="493776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Спинной мозг</a:t>
            </a:r>
          </a:p>
        </p:txBody>
      </p:sp>
      <p:sp>
        <p:nvSpPr>
          <p:cNvPr id="15" name="organ ok 3"/>
          <p:cNvSpPr/>
          <p:nvPr/>
        </p:nvSpPr>
        <p:spPr>
          <a:xfrm>
            <a:off x="7918704" y="4873752"/>
            <a:ext cx="3785616" cy="1179576"/>
          </a:xfrm>
          <a:prstGeom prst="roundRect">
            <a:avLst>
              <a:gd name="adj" fmla="val 20930"/>
            </a:avLst>
          </a:prstGeom>
          <a:noFill/>
          <a:ln w="73152">
            <a:solidFill>
              <a:srgbClr val="22B5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one card 1"/>
          <p:cNvSpPr/>
          <p:nvPr/>
        </p:nvSpPr>
        <p:spPr>
          <a:xfrm>
            <a:off x="548640" y="2194560"/>
            <a:ext cx="3657600" cy="1051560"/>
          </a:xfrm>
          <a:prstGeom prst="roundRect">
            <a:avLst>
              <a:gd name="adj" fmla="val 21739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7" name="bone photo 1" descr=""/>
          <p:cNvPicPr>
            <a:picLocks noChangeAspect="1"/>
          </p:cNvPicPr>
          <p:nvPr/>
        </p:nvPicPr>
        <p:blipFill>
          <a:blip r:embed="rId4"/>
          <a:srcRect l="38000" r="38000" t="2540" b="79540"/>
          <a:stretch>
            <a:fillRect/>
          </a:stretch>
        </p:blipFill>
        <p:spPr>
          <a:xfrm>
            <a:off x="685800" y="2313432"/>
            <a:ext cx="813816" cy="813816"/>
          </a:xfrm>
          <a:prstGeom prst="ellipse">
            <a:avLst/>
          </a:prstGeom>
          <a:ln w="45720">
            <a:solidFill>
              <a:srgbClr val="6C5CE7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8" name="bone text 1"/>
          <p:cNvSpPr txBox="1"/>
          <p:nvPr/>
        </p:nvSpPr>
        <p:spPr>
          <a:xfrm>
            <a:off x="1645920" y="219456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Череп</a:t>
            </a:r>
          </a:p>
        </p:txBody>
      </p:sp>
      <p:cxnSp>
        <p:nvCxnSpPr>
          <p:cNvPr id="19" name="pair line 1"/>
          <p:cNvCxnSpPr/>
          <p:nvPr/>
        </p:nvCxnSpPr>
        <p:spPr>
          <a:xfrm>
            <a:off x="4279392" y="2720340"/>
            <a:ext cx="3602736" cy="1371600"/>
          </a:xfrm>
          <a:prstGeom prst="line">
            <a:avLst/>
          </a:prstGeom>
          <a:ln w="63500" cap="rnd">
            <a:solidFill>
              <a:srgbClr val="6C5CE7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ick bone 1"/>
          <p:cNvSpPr/>
          <p:nvPr/>
        </p:nvSpPr>
        <p:spPr>
          <a:xfrm>
            <a:off x="548640" y="2194560"/>
            <a:ext cx="3657600" cy="105156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one card 2"/>
          <p:cNvSpPr/>
          <p:nvPr/>
        </p:nvSpPr>
        <p:spPr>
          <a:xfrm>
            <a:off x="548640" y="3566160"/>
            <a:ext cx="3657600" cy="1051560"/>
          </a:xfrm>
          <a:prstGeom prst="roundRect">
            <a:avLst>
              <a:gd name="adj" fmla="val 21739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2" name="bone photo 2" descr=""/>
          <p:cNvPicPr>
            <a:picLocks noChangeAspect="1"/>
          </p:cNvPicPr>
          <p:nvPr/>
        </p:nvPicPr>
        <p:blipFill>
          <a:blip r:embed="rId4"/>
          <a:srcRect l="32000" r="32000" t="16560" b="56560"/>
          <a:stretch>
            <a:fillRect/>
          </a:stretch>
        </p:blipFill>
        <p:spPr>
          <a:xfrm>
            <a:off x="685800" y="3685032"/>
            <a:ext cx="813816" cy="813816"/>
          </a:xfrm>
          <a:prstGeom prst="ellipse">
            <a:avLst/>
          </a:prstGeom>
          <a:ln w="45720">
            <a:solidFill>
              <a:srgbClr val="FF6B6B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3" name="bone text 2"/>
          <p:cNvSpPr txBox="1"/>
          <p:nvPr/>
        </p:nvSpPr>
        <p:spPr>
          <a:xfrm>
            <a:off x="1645920" y="356616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Грудная клетка</a:t>
            </a:r>
          </a:p>
        </p:txBody>
      </p:sp>
      <p:cxnSp>
        <p:nvCxnSpPr>
          <p:cNvPr id="24" name="pair line 2"/>
          <p:cNvCxnSpPr/>
          <p:nvPr/>
        </p:nvCxnSpPr>
        <p:spPr>
          <a:xfrm flipV="1">
            <a:off x="4279392" y="2720340"/>
            <a:ext cx="3602736" cy="1371600"/>
          </a:xfrm>
          <a:prstGeom prst="line">
            <a:avLst/>
          </a:prstGeom>
          <a:ln w="63500" cap="rnd">
            <a:solidFill>
              <a:srgbClr val="FF6B6B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ick bone 2"/>
          <p:cNvSpPr/>
          <p:nvPr/>
        </p:nvSpPr>
        <p:spPr>
          <a:xfrm>
            <a:off x="548640" y="3566160"/>
            <a:ext cx="3657600" cy="105156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one card 3"/>
          <p:cNvSpPr/>
          <p:nvPr/>
        </p:nvSpPr>
        <p:spPr>
          <a:xfrm>
            <a:off x="548640" y="4937760"/>
            <a:ext cx="3657600" cy="1051560"/>
          </a:xfrm>
          <a:prstGeom prst="roundRect">
            <a:avLst>
              <a:gd name="adj" fmla="val 21739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7" name="bone photo 3" descr=""/>
          <p:cNvPicPr>
            <a:picLocks noChangeAspect="1"/>
          </p:cNvPicPr>
          <p:nvPr/>
        </p:nvPicPr>
        <p:blipFill>
          <a:blip r:embed="rId4"/>
          <a:srcRect l="35000" r="35000" t="29800" b="47800"/>
          <a:stretch>
            <a:fillRect/>
          </a:stretch>
        </p:blipFill>
        <p:spPr>
          <a:xfrm>
            <a:off x="685800" y="5056632"/>
            <a:ext cx="813816" cy="813816"/>
          </a:xfrm>
          <a:prstGeom prst="ellipse">
            <a:avLst/>
          </a:prstGeom>
          <a:ln w="45720">
            <a:solidFill>
              <a:srgbClr val="13A386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8" name="bone text 3"/>
          <p:cNvSpPr txBox="1"/>
          <p:nvPr/>
        </p:nvSpPr>
        <p:spPr>
          <a:xfrm>
            <a:off x="1645920" y="493776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2B2A5A"/>
                </a:solidFill>
                <a:latin typeface="Unbounded"/>
                <a:cs typeface="Unbounded"/>
              </a:rPr>
              <a:t>Позвоночник</a:t>
            </a:r>
          </a:p>
        </p:txBody>
      </p:sp>
      <p:cxnSp>
        <p:nvCxnSpPr>
          <p:cNvPr id="29" name="pair line 3"/>
          <p:cNvCxnSpPr/>
          <p:nvPr/>
        </p:nvCxnSpPr>
        <p:spPr>
          <a:xfrm>
            <a:off x="4279392" y="5463540"/>
            <a:ext cx="3602736" cy="0"/>
          </a:xfrm>
          <a:prstGeom prst="line">
            <a:avLst/>
          </a:prstGeom>
          <a:ln w="63500" cap="rnd">
            <a:solidFill>
              <a:srgbClr val="13A386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ick bone 3"/>
          <p:cNvSpPr/>
          <p:nvPr/>
        </p:nvSpPr>
        <p:spPr>
          <a:xfrm>
            <a:off x="548640" y="4937760"/>
            <a:ext cx="3657600" cy="105156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!!next">
            <a:hlinkClick action="ppaction://hlinksldjump" r:id="rId5"/>
          </p:cNvPr>
          <p:cNvSpPr/>
          <p:nvPr/>
        </p:nvSpPr>
        <p:spPr>
          <a:xfrm>
            <a:off x="9075368" y="6144768"/>
            <a:ext cx="2564944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Следующая игра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conveyor dir="l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8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23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8"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15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Верю — не верю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13A386"/>
                </a:solidFill>
                <a:latin typeface="Nunito"/>
                <a:cs typeface="Nunito"/>
              </a:rPr>
              <a:t>ИГРА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tf hint"/>
          <p:cNvSpPr txBox="1"/>
          <p:nvPr/>
        </p:nvSpPr>
        <p:spPr>
          <a:xfrm>
            <a:off x="548640" y="1463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0" i="0" lang="ru-RU">
                <a:solidFill>
                  <a:srgbClr val="6C5CE7"/>
                </a:solidFill>
                <a:latin typeface="Caveat"/>
                <a:cs typeface="Caveat"/>
              </a:rPr>
              <a:t>Это правда или нет? Нажмите на карточку, чтобы перевернуть её</a:t>
            </a:r>
          </a:p>
        </p:txBody>
      </p:sp>
      <p:sp>
        <p:nvSpPr>
          <p:cNvPr id="7" name="tf back 1"/>
          <p:cNvSpPr/>
          <p:nvPr/>
        </p:nvSpPr>
        <p:spPr>
          <a:xfrm>
            <a:off x="548640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22B573"/>
          </a:solidFill>
          <a:ln>
            <a:noFill/>
          </a:ln>
          <a:effectLst>
            <a:outerShdw blurRad="164592" dist="54864" dir="5400000" algn="t" rotWithShape="0">
              <a:srgbClr val="2B2A5A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>
            <a:bevelT w="64008" h="27432" prst="circle"/>
          </a:sp3d>
        </p:spPr>
        <p:txBody>
          <a:bodyPr rtlCol="0" anchor="ctr" wrap="square" lIns="201168" rIns="201168" tIns="182880" bIns="182880">
            <a:noAutofit/>
          </a:bodyPr>
          <a:lstStyle/>
          <a:p>
            <a:pPr algn="ctr"/>
            <a:r>
              <a:rPr sz="2000" b="0" i="0" lang="ru-RU">
                <a:solidFill>
                  <a:srgbClr val="FFFFFF"/>
                </a:solidFill>
                <a:latin typeface="Unbounded"/>
                <a:cs typeface="Unbounded"/>
              </a:rPr>
              <a:t>ВЕРЮ!</a:t>
            </a:r>
          </a:p>
          <a:p>
            <a:pPr algn="ctr"/>
            <a:r>
              <a:rPr sz="800" b="0" i="0" lang="ru-RU">
                <a:solidFill>
                  <a:srgbClr val="FFFFFF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1600" b="1" i="0" lang="ru-RU">
                <a:solidFill>
                  <a:srgbClr val="FFFFFF"/>
                </a:solidFill>
                <a:latin typeface="Nunito"/>
                <a:cs typeface="Nunito"/>
              </a:rPr>
              <a:t>Сердце — мышца, которая работает без отдыха всю жизнь</a:t>
            </a:r>
          </a:p>
        </p:txBody>
      </p:sp>
      <p:sp>
        <p:nvSpPr>
          <p:cNvPr id="8" name="tf front 1"/>
          <p:cNvSpPr/>
          <p:nvPr/>
        </p:nvSpPr>
        <p:spPr>
          <a:xfrm>
            <a:off x="548640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82880" rIns="182880" tIns="182880" bIns="182880">
            <a:noAutofit/>
          </a:bodyPr>
          <a:lstStyle/>
          <a:p>
            <a:pPr algn="ctr"/>
            <a:r>
              <a:rPr sz="5400" b="0" i="0" lang="ru-RU">
                <a:solidFill>
                  <a:srgbClr val="B9A9FF"/>
                </a:solidFill>
                <a:latin typeface="Unbounded"/>
                <a:cs typeface="Unbounded"/>
              </a:rPr>
              <a:t>?</a:t>
            </a:r>
          </a:p>
          <a:p>
            <a:pPr algn="ctr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Сердце — это тоже мышца</a:t>
            </a:r>
          </a:p>
          <a:p>
            <a:pPr algn="ctr"/>
            <a:r>
              <a:rPr sz="800" b="0" i="0" lang="ru-RU">
                <a:solidFill>
                  <a:srgbClr val="2B2A5A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2200" b="0" i="0" lang="ru-RU">
                <a:solidFill>
                  <a:srgbClr val="6C5CE7"/>
                </a:solidFill>
                <a:latin typeface="Caveat"/>
                <a:cs typeface="Caveat"/>
              </a:rPr>
              <a:t>верю или не верю?</a:t>
            </a:r>
          </a:p>
        </p:txBody>
      </p:sp>
      <p:sp>
        <p:nvSpPr>
          <p:cNvPr id="9" name="tf back 2"/>
          <p:cNvSpPr/>
          <p:nvPr/>
        </p:nvSpPr>
        <p:spPr>
          <a:xfrm>
            <a:off x="3374136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FF6B6B"/>
          </a:solidFill>
          <a:ln>
            <a:noFill/>
          </a:ln>
          <a:effectLst>
            <a:outerShdw blurRad="164592" dist="54864" dir="5400000" algn="t" rotWithShape="0">
              <a:srgbClr val="2B2A5A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>
            <a:bevelT w="64008" h="27432" prst="circle"/>
          </a:sp3d>
        </p:spPr>
        <p:txBody>
          <a:bodyPr rtlCol="0" anchor="ctr" wrap="square" lIns="201168" rIns="201168" tIns="182880" bIns="182880">
            <a:noAutofit/>
          </a:bodyPr>
          <a:lstStyle/>
          <a:p>
            <a:pPr algn="ctr"/>
            <a:r>
              <a:rPr sz="2000" b="0" i="0" lang="ru-RU">
                <a:solidFill>
                  <a:srgbClr val="FFFFFF"/>
                </a:solidFill>
                <a:latin typeface="Unbounded"/>
                <a:cs typeface="Unbounded"/>
              </a:rPr>
              <a:t>НЕ ВЕРЮ!</a:t>
            </a:r>
          </a:p>
          <a:p>
            <a:pPr algn="ctr"/>
            <a:r>
              <a:rPr sz="800" b="0" i="0" lang="ru-RU">
                <a:solidFill>
                  <a:srgbClr val="FFFFFF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1600" b="1" i="0" lang="ru-RU">
                <a:solidFill>
                  <a:srgbClr val="FFFFFF"/>
                </a:solidFill>
                <a:latin typeface="Nunito"/>
                <a:cs typeface="Nunito"/>
              </a:rPr>
              <a:t>Он состоит из 33–34 позвонков, поэтому гнётся</a:t>
            </a:r>
          </a:p>
        </p:txBody>
      </p:sp>
      <p:sp>
        <p:nvSpPr>
          <p:cNvPr id="10" name="tf front 2"/>
          <p:cNvSpPr/>
          <p:nvPr/>
        </p:nvSpPr>
        <p:spPr>
          <a:xfrm>
            <a:off x="3374136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82880" rIns="182880" tIns="182880" bIns="182880">
            <a:noAutofit/>
          </a:bodyPr>
          <a:lstStyle/>
          <a:p>
            <a:pPr algn="ctr"/>
            <a:r>
              <a:rPr sz="5400" b="0" i="0" lang="ru-RU">
                <a:solidFill>
                  <a:srgbClr val="B9A9FF"/>
                </a:solidFill>
                <a:latin typeface="Unbounded"/>
                <a:cs typeface="Unbounded"/>
              </a:rPr>
              <a:t>?</a:t>
            </a:r>
          </a:p>
          <a:p>
            <a:pPr algn="ctr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Позвоночник — это одна длинная кость</a:t>
            </a:r>
          </a:p>
          <a:p>
            <a:pPr algn="ctr"/>
            <a:r>
              <a:rPr sz="800" b="0" i="0" lang="ru-RU">
                <a:solidFill>
                  <a:srgbClr val="2B2A5A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2200" b="0" i="0" lang="ru-RU">
                <a:solidFill>
                  <a:srgbClr val="6C5CE7"/>
                </a:solidFill>
                <a:latin typeface="Caveat"/>
                <a:cs typeface="Caveat"/>
              </a:rPr>
              <a:t>верю или не верю?</a:t>
            </a:r>
          </a:p>
        </p:txBody>
      </p:sp>
      <p:sp>
        <p:nvSpPr>
          <p:cNvPr id="11" name="tf back 3"/>
          <p:cNvSpPr/>
          <p:nvPr/>
        </p:nvSpPr>
        <p:spPr>
          <a:xfrm>
            <a:off x="6199632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22B573"/>
          </a:solidFill>
          <a:ln>
            <a:noFill/>
          </a:ln>
          <a:effectLst>
            <a:outerShdw blurRad="164592" dist="54864" dir="5400000" algn="t" rotWithShape="0">
              <a:srgbClr val="2B2A5A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>
            <a:bevelT w="64008" h="27432" prst="circle"/>
          </a:sp3d>
        </p:spPr>
        <p:txBody>
          <a:bodyPr rtlCol="0" anchor="ctr" wrap="square" lIns="201168" rIns="201168" tIns="182880" bIns="182880">
            <a:noAutofit/>
          </a:bodyPr>
          <a:lstStyle/>
          <a:p>
            <a:pPr algn="ctr"/>
            <a:r>
              <a:rPr sz="2000" b="0" i="0" lang="ru-RU">
                <a:solidFill>
                  <a:srgbClr val="FFFFFF"/>
                </a:solidFill>
                <a:latin typeface="Unbounded"/>
                <a:cs typeface="Unbounded"/>
              </a:rPr>
              <a:t>ВЕРЮ!</a:t>
            </a:r>
          </a:p>
          <a:p>
            <a:pPr algn="ctr"/>
            <a:r>
              <a:rPr sz="800" b="0" i="0" lang="ru-RU">
                <a:solidFill>
                  <a:srgbClr val="FFFFFF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1600" b="1" i="0" lang="ru-RU">
                <a:solidFill>
                  <a:srgbClr val="FFFFFF"/>
                </a:solidFill>
                <a:latin typeface="Nunito"/>
                <a:cs typeface="Nunito"/>
              </a:rPr>
              <a:t>Это стремечко — всего около 3 мм</a:t>
            </a:r>
          </a:p>
        </p:txBody>
      </p:sp>
      <p:sp>
        <p:nvSpPr>
          <p:cNvPr id="12" name="tf front 3"/>
          <p:cNvSpPr/>
          <p:nvPr/>
        </p:nvSpPr>
        <p:spPr>
          <a:xfrm>
            <a:off x="6199632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82880" rIns="182880" tIns="182880" bIns="182880">
            <a:noAutofit/>
          </a:bodyPr>
          <a:lstStyle/>
          <a:p>
            <a:pPr algn="ctr"/>
            <a:r>
              <a:rPr sz="5400" b="0" i="0" lang="ru-RU">
                <a:solidFill>
                  <a:srgbClr val="B9A9FF"/>
                </a:solidFill>
                <a:latin typeface="Unbounded"/>
                <a:cs typeface="Unbounded"/>
              </a:rPr>
              <a:t>?</a:t>
            </a:r>
          </a:p>
          <a:p>
            <a:pPr algn="ctr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Самая маленькая косточка находится в ухе</a:t>
            </a:r>
          </a:p>
          <a:p>
            <a:pPr algn="ctr"/>
            <a:r>
              <a:rPr sz="800" b="0" i="0" lang="ru-RU">
                <a:solidFill>
                  <a:srgbClr val="2B2A5A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2200" b="0" i="0" lang="ru-RU">
                <a:solidFill>
                  <a:srgbClr val="6C5CE7"/>
                </a:solidFill>
                <a:latin typeface="Caveat"/>
                <a:cs typeface="Caveat"/>
              </a:rPr>
              <a:t>верю или не верю?</a:t>
            </a:r>
          </a:p>
        </p:txBody>
      </p:sp>
      <p:sp>
        <p:nvSpPr>
          <p:cNvPr id="13" name="tf back 4"/>
          <p:cNvSpPr/>
          <p:nvPr/>
        </p:nvSpPr>
        <p:spPr>
          <a:xfrm>
            <a:off x="9025128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FF6B6B"/>
          </a:solidFill>
          <a:ln>
            <a:noFill/>
          </a:ln>
          <a:effectLst>
            <a:outerShdw blurRad="164592" dist="54864" dir="5400000" algn="t" rotWithShape="0">
              <a:srgbClr val="2B2A5A">
                <a:alpha val="22000"/>
              </a:srgbClr>
            </a:outerShdw>
          </a:effectLst>
          <a:scene3d>
            <a:camera prst="orthographicFront"/>
            <a:lightRig rig="threePt" dir="t"/>
          </a:scene3d>
          <a:sp3d>
            <a:bevelT w="64008" h="27432" prst="circle"/>
          </a:sp3d>
        </p:spPr>
        <p:txBody>
          <a:bodyPr rtlCol="0" anchor="ctr" wrap="square" lIns="201168" rIns="201168" tIns="182880" bIns="182880">
            <a:noAutofit/>
          </a:bodyPr>
          <a:lstStyle/>
          <a:p>
            <a:pPr algn="ctr"/>
            <a:r>
              <a:rPr sz="2000" b="0" i="0" lang="ru-RU">
                <a:solidFill>
                  <a:srgbClr val="FFFFFF"/>
                </a:solidFill>
                <a:latin typeface="Unbounded"/>
                <a:cs typeface="Unbounded"/>
              </a:rPr>
              <a:t>НЕ ВЕРЮ!</a:t>
            </a:r>
          </a:p>
          <a:p>
            <a:pPr algn="ctr"/>
            <a:r>
              <a:rPr sz="800" b="0" i="0" lang="ru-RU">
                <a:solidFill>
                  <a:srgbClr val="FFFFFF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1600" b="1" i="0" lang="ru-RU">
                <a:solidFill>
                  <a:srgbClr val="FFFFFF"/>
                </a:solidFill>
                <a:latin typeface="Nunito"/>
                <a:cs typeface="Nunito"/>
              </a:rPr>
              <a:t>Мышцы крепнут, когда мы двигаемся и занимаемся спортом</a:t>
            </a:r>
          </a:p>
        </p:txBody>
      </p:sp>
      <p:sp>
        <p:nvSpPr>
          <p:cNvPr id="14" name="tf front 4"/>
          <p:cNvSpPr/>
          <p:nvPr/>
        </p:nvSpPr>
        <p:spPr>
          <a:xfrm>
            <a:off x="9025128" y="2103120"/>
            <a:ext cx="2606040" cy="3657600"/>
          </a:xfrm>
          <a:prstGeom prst="roundRect">
            <a:avLst>
              <a:gd name="adj" fmla="val 9824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 wrap="square" lIns="182880" rIns="182880" tIns="182880" bIns="182880">
            <a:noAutofit/>
          </a:bodyPr>
          <a:lstStyle/>
          <a:p>
            <a:pPr algn="ctr"/>
            <a:r>
              <a:rPr sz="5400" b="0" i="0" lang="ru-RU">
                <a:solidFill>
                  <a:srgbClr val="B9A9FF"/>
                </a:solidFill>
                <a:latin typeface="Unbounded"/>
                <a:cs typeface="Unbounded"/>
              </a:rPr>
              <a:t>?</a:t>
            </a:r>
          </a:p>
          <a:p>
            <a:pPr algn="ctr"/>
            <a:r>
              <a:rPr sz="1800" b="1" i="0" lang="ru-RU">
                <a:solidFill>
                  <a:srgbClr val="2B2A5A"/>
                </a:solidFill>
                <a:latin typeface="Nunito"/>
                <a:cs typeface="Nunito"/>
              </a:rPr>
              <a:t>Чтобы мышцы были сильными, нужно больше лежать</a:t>
            </a:r>
          </a:p>
          <a:p>
            <a:pPr algn="ctr"/>
            <a:r>
              <a:rPr sz="800" b="0" i="0" lang="ru-RU">
                <a:solidFill>
                  <a:srgbClr val="2B2A5A"/>
                </a:solidFill>
                <a:latin typeface="Nunito"/>
                <a:cs typeface="Nunito"/>
              </a:rPr>
              <a:t/>
            </a:r>
          </a:p>
          <a:p>
            <a:pPr algn="ctr"/>
            <a:r>
              <a:rPr sz="2200" b="0" i="0" lang="ru-RU">
                <a:solidFill>
                  <a:srgbClr val="6C5CE7"/>
                </a:solidFill>
                <a:latin typeface="Caveat"/>
                <a:cs typeface="Caveat"/>
              </a:rPr>
              <a:t>верю или не верю?</a:t>
            </a:r>
          </a:p>
        </p:txBody>
      </p:sp>
      <p:sp>
        <p:nvSpPr>
          <p:cNvPr id="15" name="!!next">
            <a:hlinkClick action="ppaction://hlinksldjump" r:id="rId4"/>
          </p:cNvPr>
          <p:cNvSpPr/>
          <p:nvPr/>
        </p:nvSpPr>
        <p:spPr>
          <a:xfrm>
            <a:off x="9120195" y="6144768"/>
            <a:ext cx="2520117" cy="475488"/>
          </a:xfrm>
          <a:prstGeom prst="roundRect">
            <a:avLst>
              <a:gd name="adj" fmla="val 50000"/>
            </a:avLst>
          </a:prstGeom>
          <a:solidFill>
            <a:srgbClr val="FFC23C"/>
          </a:solidFill>
          <a:ln>
            <a:noFill/>
          </a:ln>
          <a:effectLst>
            <a:outerShdw blurRad="137160" dist="45720" dir="5400000" algn="t" rotWithShape="0">
              <a:srgbClr val="3B2F8F">
                <a:alpha val="24000"/>
              </a:srgbClr>
            </a:outerShdw>
          </a:effectLst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2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Онлайн-задание  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>
        <p14:flip dir="r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id="9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60"/>
                            </p:stCondLst>
                            <p:childTnLst>
                              <p:par>
                                <p:cTn id="1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2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id="22"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60"/>
                            </p:stCondLst>
                            <p:childTnLst>
                              <p:par>
                                <p:cTn id="2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2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id="35"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0"/>
                            </p:stCondLst>
                            <p:childTnLst>
                              <p:par>
                                <p:cTn id="3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2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id="48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fli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60"/>
                            </p:stCondLst>
                            <p:childTnLst>
                              <p:par>
                                <p:cTn id="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0" grpId="0" animBg="1"/>
      <p:bldP spid="9" grpId="0" animBg="1"/>
      <p:bldP spid="12" grpId="0" animBg="1"/>
      <p:bldP spid="11" grpId="0" animBg="1"/>
      <p:bldP spid="14" grpId="0" animBg="1"/>
      <p:bldP spid="13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mint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Играем онлайн!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3BA7F5"/>
                </a:solidFill>
                <a:latin typeface="Nunito"/>
                <a:cs typeface="Nunito"/>
              </a:rPr>
              <a:t>ОНЛАЙН-ЗАДАНИЕ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69" y="1737360"/>
            <a:ext cx="2114142" cy="4937760"/>
          </a:xfrm>
          <a:prstGeom prst="rect">
            <a:avLst/>
          </a:prstGeom>
        </p:spPr>
      </p:pic>
      <p:sp>
        <p:nvSpPr>
          <p:cNvPr id="7" name="online card"/>
          <p:cNvSpPr/>
          <p:nvPr/>
        </p:nvSpPr>
        <p:spPr>
          <a:xfrm>
            <a:off x="4206240" y="1691640"/>
            <a:ext cx="7434072" cy="4526280"/>
          </a:xfrm>
          <a:prstGeom prst="roundRect">
            <a:avLst>
              <a:gd name="adj" fmla="val 505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online head"/>
          <p:cNvSpPr txBox="1"/>
          <p:nvPr/>
        </p:nvSpPr>
        <p:spPr>
          <a:xfrm>
            <a:off x="4526280" y="18745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ru-RU">
                <a:solidFill>
                  <a:srgbClr val="2B2A5A"/>
                </a:solidFill>
                <a:latin typeface="Unbounded"/>
                <a:cs typeface="Unbounded"/>
              </a:rPr>
              <a:t>Игра «Костик и тайны скелета»</a:t>
            </a:r>
          </a:p>
        </p:txBody>
      </p:sp>
      <p:sp>
        <p:nvSpPr>
          <p:cNvPr id="9" name="level num 1"/>
          <p:cNvSpPr txBox="1"/>
          <p:nvPr/>
        </p:nvSpPr>
        <p:spPr>
          <a:xfrm>
            <a:off x="4526280" y="2560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ru-RU">
                <a:solidFill>
                  <a:srgbClr val="6C5CE7"/>
                </a:solidFill>
                <a:latin typeface="Unbounded"/>
                <a:cs typeface="Unbounded"/>
              </a:rPr>
              <a:t>01</a:t>
            </a:r>
          </a:p>
        </p:txBody>
      </p:sp>
      <p:sp>
        <p:nvSpPr>
          <p:cNvPr id="10" name="level text 1"/>
          <p:cNvSpPr txBox="1"/>
          <p:nvPr/>
        </p:nvSpPr>
        <p:spPr>
          <a:xfrm>
            <a:off x="5303520" y="256032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i="0" lang="ru-RU">
                <a:solidFill>
                  <a:srgbClr val="2B2A5A"/>
                </a:solidFill>
                <a:latin typeface="Nunito"/>
                <a:cs typeface="Nunito"/>
              </a:rPr>
              <a:t>Подбери к каждой кости её работу</a:t>
            </a:r>
          </a:p>
        </p:txBody>
      </p:sp>
      <p:sp>
        <p:nvSpPr>
          <p:cNvPr id="11" name="level num 2"/>
          <p:cNvSpPr txBox="1"/>
          <p:nvPr/>
        </p:nvSpPr>
        <p:spPr>
          <a:xfrm>
            <a:off x="4526280" y="318211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ru-RU">
                <a:solidFill>
                  <a:srgbClr val="FF6B6B"/>
                </a:solidFill>
                <a:latin typeface="Unbounded"/>
                <a:cs typeface="Unbounded"/>
              </a:rPr>
              <a:t>02</a:t>
            </a:r>
          </a:p>
        </p:txBody>
      </p:sp>
      <p:sp>
        <p:nvSpPr>
          <p:cNvPr id="12" name="level text 2"/>
          <p:cNvSpPr txBox="1"/>
          <p:nvPr/>
        </p:nvSpPr>
        <p:spPr>
          <a:xfrm>
            <a:off x="5303520" y="3182112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i="0" lang="ru-RU">
                <a:solidFill>
                  <a:srgbClr val="2B2A5A"/>
                </a:solidFill>
                <a:latin typeface="Nunito"/>
                <a:cs typeface="Nunito"/>
              </a:rPr>
              <a:t>«Верно или неверно» — на время</a:t>
            </a:r>
          </a:p>
        </p:txBody>
      </p:sp>
      <p:sp>
        <p:nvSpPr>
          <p:cNvPr id="13" name="level num 3"/>
          <p:cNvSpPr txBox="1"/>
          <p:nvPr/>
        </p:nvSpPr>
        <p:spPr>
          <a:xfrm>
            <a:off x="4526280" y="380390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ru-RU">
                <a:solidFill>
                  <a:srgbClr val="13A386"/>
                </a:solidFill>
                <a:latin typeface="Unbounded"/>
                <a:cs typeface="Unbounded"/>
              </a:rPr>
              <a:t>03</a:t>
            </a:r>
          </a:p>
        </p:txBody>
      </p:sp>
      <p:sp>
        <p:nvSpPr>
          <p:cNvPr id="14" name="level text 3"/>
          <p:cNvSpPr txBox="1"/>
          <p:nvPr/>
        </p:nvSpPr>
        <p:spPr>
          <a:xfrm>
            <a:off x="5303520" y="3803904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i="0" lang="ru-RU">
                <a:solidFill>
                  <a:srgbClr val="2B2A5A"/>
                </a:solidFill>
                <a:latin typeface="Nunito"/>
                <a:cs typeface="Nunito"/>
              </a:rPr>
              <a:t>Полезно или вредно для осанки?</a:t>
            </a:r>
          </a:p>
        </p:txBody>
      </p:sp>
      <p:sp>
        <p:nvSpPr>
          <p:cNvPr id="15" name="play online">
            <a:hlinkClick r:id="rId5"/>
          </p:cNvPr>
          <p:cNvSpPr/>
          <p:nvPr/>
        </p:nvSpPr>
        <p:spPr>
          <a:xfrm>
            <a:off x="4526280" y="4617720"/>
            <a:ext cx="4206240" cy="8686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>
            <a:outerShdw blurRad="164592" dist="54864" dir="5400000" algn="t" rotWithShape="0">
              <a:srgbClr val="2B2A5A">
                <a:alpha val="30000"/>
              </a:srgbClr>
            </a:outerShdw>
          </a:effectLst>
          <a:scene3d>
            <a:camera prst="orthographicFront"/>
            <a:lightRig rig="threePt" dir="t"/>
          </a:scene3d>
          <a:sp3d>
            <a:bevelT w="82296" h="32004" prst="circle"/>
          </a:sp3d>
        </p:spPr>
        <p:txBody>
          <a:bodyPr rtlCol="0" anchor="ctr" wrap="square" tIns="18288" bIns="18288">
            <a:noAutofit/>
          </a:bodyPr>
          <a:lstStyle/>
          <a:p>
            <a:pPr algn="ctr"/>
            <a:r>
              <a:rPr sz="1700" b="0" i="0" lang="ru-RU">
                <a:solidFill>
                  <a:srgbClr val="FFFFFF"/>
                </a:solidFill>
                <a:latin typeface="Unbounded"/>
                <a:cs typeface="Unbounded"/>
              </a:rPr>
              <a:t>ИГРАТЬ ОНЛАЙН  »</a:t>
            </a:r>
          </a:p>
        </p:txBody>
      </p:sp>
      <p:sp>
        <p:nvSpPr>
          <p:cNvPr id="16" name="online url">
            <a:hlinkClick r:id="rId5"/>
          </p:cNvPr>
          <p:cNvSpPr txBox="1"/>
          <p:nvPr/>
        </p:nvSpPr>
        <p:spPr>
          <a:xfrm>
            <a:off x="4526280" y="55778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6B6A8E"/>
                </a:solidFill>
                <a:latin typeface="Nunito"/>
                <a:cs typeface="Nunito"/>
              </a:rPr>
              <a:t>kostik-skeleton.lovable.app</a:t>
            </a:r>
          </a:p>
        </p:txBody>
      </p:sp>
      <p:pic>
        <p:nvPicPr>
          <p:cNvPr id="17" name="qr game" descr="QR-код на онлайн-игру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4206240"/>
            <a:ext cx="1508760" cy="1508760"/>
          </a:xfrm>
          <a:prstGeom prst="rect">
            <a:avLst/>
          </a:prstGeom>
        </p:spPr>
      </p:pic>
      <p:sp>
        <p:nvSpPr>
          <p:cNvPr id="18" name="qr game text"/>
          <p:cNvSpPr txBox="1"/>
          <p:nvPr/>
        </p:nvSpPr>
        <p:spPr>
          <a:xfrm>
            <a:off x="9464040" y="568756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0" i="0" lang="ru-RU">
                <a:solidFill>
                  <a:srgbClr val="6C5CE7"/>
                </a:solidFill>
                <a:latin typeface="Caveat"/>
                <a:cs typeface="Caveat"/>
              </a:rPr>
              <a:t>сканируй QR-код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="http://schemas.microsoft.com/office/powerpoint/2012/main" Requires="p15">
      <p:transition spd="slow" p14:dur="180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44"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200"/>
                            </p:stCondLst>
                            <p:childTnLst>
                              <p:par>
                                <p:cTn id="57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4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5" grpId="1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ky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Закончи предложение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9F43"/>
                </a:solidFill>
                <a:latin typeface="Nunito"/>
                <a:cs typeface="Nunito"/>
              </a:rPr>
              <a:t>ПОДВЕДЁМ ИТОГИ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sentence 1"/>
          <p:cNvSpPr/>
          <p:nvPr/>
        </p:nvSpPr>
        <p:spPr>
          <a:xfrm>
            <a:off x="548640" y="1737360"/>
            <a:ext cx="7863840" cy="749808"/>
          </a:xfrm>
          <a:prstGeom prst="roundRect">
            <a:avLst>
              <a:gd name="adj" fmla="val 30487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sentence num 1"/>
          <p:cNvSpPr txBox="1"/>
          <p:nvPr/>
        </p:nvSpPr>
        <p:spPr>
          <a:xfrm>
            <a:off x="777240" y="1737360"/>
            <a:ext cx="731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6C5CE7"/>
                </a:solidFill>
                <a:latin typeface="Unbounded"/>
                <a:cs typeface="Unbounded"/>
              </a:rPr>
              <a:t>01</a:t>
            </a:r>
          </a:p>
        </p:txBody>
      </p:sp>
      <p:sp>
        <p:nvSpPr>
          <p:cNvPr id="8" name="sentence text 1"/>
          <p:cNvSpPr txBox="1"/>
          <p:nvPr/>
        </p:nvSpPr>
        <p:spPr>
          <a:xfrm>
            <a:off x="1554480" y="1737360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 lang="ru-RU">
                <a:solidFill>
                  <a:srgbClr val="2B2A5A"/>
                </a:solidFill>
                <a:latin typeface="Nunito"/>
                <a:cs typeface="Nunito"/>
              </a:rPr>
              <a:t>Опора нашего тела — это…</a:t>
            </a:r>
          </a:p>
        </p:txBody>
      </p:sp>
      <p:sp>
        <p:nvSpPr>
          <p:cNvPr id="9" name="slot 1"/>
          <p:cNvSpPr/>
          <p:nvPr/>
        </p:nvSpPr>
        <p:spPr>
          <a:xfrm>
            <a:off x="8641080" y="1801368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nswer word 1"/>
          <p:cNvSpPr/>
          <p:nvPr/>
        </p:nvSpPr>
        <p:spPr>
          <a:xfrm>
            <a:off x="8641080" y="1801368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700" b="0" i="0" lang="ru-RU">
                <a:solidFill>
                  <a:srgbClr val="FFFFFF"/>
                </a:solidFill>
                <a:latin typeface="Unbounded"/>
                <a:cs typeface="Unbounded"/>
              </a:rPr>
              <a:t>СКЕЛЕТ</a:t>
            </a:r>
          </a:p>
        </p:txBody>
      </p:sp>
      <p:sp>
        <p:nvSpPr>
          <p:cNvPr id="11" name="sentence 2"/>
          <p:cNvSpPr/>
          <p:nvPr/>
        </p:nvSpPr>
        <p:spPr>
          <a:xfrm>
            <a:off x="548640" y="2624328"/>
            <a:ext cx="7863840" cy="749808"/>
          </a:xfrm>
          <a:prstGeom prst="roundRect">
            <a:avLst>
              <a:gd name="adj" fmla="val 30487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sentence num 2"/>
          <p:cNvSpPr txBox="1"/>
          <p:nvPr/>
        </p:nvSpPr>
        <p:spPr>
          <a:xfrm>
            <a:off x="777240" y="2624328"/>
            <a:ext cx="731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3BA7F5"/>
                </a:solidFill>
                <a:latin typeface="Unbounded"/>
                <a:cs typeface="Unbounded"/>
              </a:rPr>
              <a:t>02</a:t>
            </a:r>
          </a:p>
        </p:txBody>
      </p:sp>
      <p:sp>
        <p:nvSpPr>
          <p:cNvPr id="13" name="sentence text 2"/>
          <p:cNvSpPr txBox="1"/>
          <p:nvPr/>
        </p:nvSpPr>
        <p:spPr>
          <a:xfrm>
            <a:off x="1554480" y="2624328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 lang="ru-RU">
                <a:solidFill>
                  <a:srgbClr val="2B2A5A"/>
                </a:solidFill>
                <a:latin typeface="Nunito"/>
                <a:cs typeface="Nunito"/>
              </a:rPr>
              <a:t>Головной мозг защищает…</a:t>
            </a:r>
          </a:p>
        </p:txBody>
      </p:sp>
      <p:sp>
        <p:nvSpPr>
          <p:cNvPr id="14" name="slot 2"/>
          <p:cNvSpPr/>
          <p:nvPr/>
        </p:nvSpPr>
        <p:spPr>
          <a:xfrm>
            <a:off x="8641080" y="2688336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nswer word 2"/>
          <p:cNvSpPr/>
          <p:nvPr/>
        </p:nvSpPr>
        <p:spPr>
          <a:xfrm>
            <a:off x="8641080" y="2688336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3BA7F5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700" b="0" i="0" lang="ru-RU">
                <a:solidFill>
                  <a:srgbClr val="FFFFFF"/>
                </a:solidFill>
                <a:latin typeface="Unbounded"/>
                <a:cs typeface="Unbounded"/>
              </a:rPr>
              <a:t>ЧЕРЕП</a:t>
            </a:r>
          </a:p>
        </p:txBody>
      </p:sp>
      <p:sp>
        <p:nvSpPr>
          <p:cNvPr id="16" name="sentence 3"/>
          <p:cNvSpPr/>
          <p:nvPr/>
        </p:nvSpPr>
        <p:spPr>
          <a:xfrm>
            <a:off x="548640" y="3511296"/>
            <a:ext cx="7863840" cy="749808"/>
          </a:xfrm>
          <a:prstGeom prst="roundRect">
            <a:avLst>
              <a:gd name="adj" fmla="val 30487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sentence num 3"/>
          <p:cNvSpPr txBox="1"/>
          <p:nvPr/>
        </p:nvSpPr>
        <p:spPr>
          <a:xfrm>
            <a:off x="777240" y="3511296"/>
            <a:ext cx="731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13A386"/>
                </a:solidFill>
                <a:latin typeface="Unbounded"/>
                <a:cs typeface="Unbounded"/>
              </a:rPr>
              <a:t>03</a:t>
            </a:r>
          </a:p>
        </p:txBody>
      </p:sp>
      <p:sp>
        <p:nvSpPr>
          <p:cNvPr id="18" name="sentence text 3"/>
          <p:cNvSpPr txBox="1"/>
          <p:nvPr/>
        </p:nvSpPr>
        <p:spPr>
          <a:xfrm>
            <a:off x="1554480" y="3511296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 lang="ru-RU">
                <a:solidFill>
                  <a:srgbClr val="2B2A5A"/>
                </a:solidFill>
                <a:latin typeface="Nunito"/>
                <a:cs typeface="Nunito"/>
              </a:rPr>
              <a:t>Подвижные соединения костей — это…</a:t>
            </a:r>
          </a:p>
        </p:txBody>
      </p:sp>
      <p:sp>
        <p:nvSpPr>
          <p:cNvPr id="19" name="slot 3"/>
          <p:cNvSpPr/>
          <p:nvPr/>
        </p:nvSpPr>
        <p:spPr>
          <a:xfrm>
            <a:off x="8641080" y="3575304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word 3"/>
          <p:cNvSpPr/>
          <p:nvPr/>
        </p:nvSpPr>
        <p:spPr>
          <a:xfrm>
            <a:off x="8641080" y="3575304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13A386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700" b="0" i="0" lang="ru-RU">
                <a:solidFill>
                  <a:srgbClr val="FFFFFF"/>
                </a:solidFill>
                <a:latin typeface="Unbounded"/>
                <a:cs typeface="Unbounded"/>
              </a:rPr>
              <a:t>СУСТАВЫ</a:t>
            </a:r>
          </a:p>
        </p:txBody>
      </p:sp>
      <p:sp>
        <p:nvSpPr>
          <p:cNvPr id="21" name="sentence 4"/>
          <p:cNvSpPr/>
          <p:nvPr/>
        </p:nvSpPr>
        <p:spPr>
          <a:xfrm>
            <a:off x="548640" y="4398264"/>
            <a:ext cx="7863840" cy="749808"/>
          </a:xfrm>
          <a:prstGeom prst="roundRect">
            <a:avLst>
              <a:gd name="adj" fmla="val 30487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sentence num 4"/>
          <p:cNvSpPr txBox="1"/>
          <p:nvPr/>
        </p:nvSpPr>
        <p:spPr>
          <a:xfrm>
            <a:off x="777240" y="4398264"/>
            <a:ext cx="731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FF6B6B"/>
                </a:solidFill>
                <a:latin typeface="Unbounded"/>
                <a:cs typeface="Unbounded"/>
              </a:rPr>
              <a:t>04</a:t>
            </a:r>
          </a:p>
        </p:txBody>
      </p:sp>
      <p:sp>
        <p:nvSpPr>
          <p:cNvPr id="23" name="sentence text 4"/>
          <p:cNvSpPr txBox="1"/>
          <p:nvPr/>
        </p:nvSpPr>
        <p:spPr>
          <a:xfrm>
            <a:off x="1554480" y="4398264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 lang="ru-RU">
                <a:solidFill>
                  <a:srgbClr val="2B2A5A"/>
                </a:solidFill>
                <a:latin typeface="Nunito"/>
                <a:cs typeface="Nunito"/>
              </a:rPr>
              <a:t>Кости приводят в движение…</a:t>
            </a:r>
          </a:p>
        </p:txBody>
      </p:sp>
      <p:sp>
        <p:nvSpPr>
          <p:cNvPr id="24" name="slot 4"/>
          <p:cNvSpPr/>
          <p:nvPr/>
        </p:nvSpPr>
        <p:spPr>
          <a:xfrm>
            <a:off x="8641080" y="4462272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nswer word 4"/>
          <p:cNvSpPr/>
          <p:nvPr/>
        </p:nvSpPr>
        <p:spPr>
          <a:xfrm>
            <a:off x="8641080" y="4462272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700" b="0" i="0" lang="ru-RU">
                <a:solidFill>
                  <a:srgbClr val="FFFFFF"/>
                </a:solidFill>
                <a:latin typeface="Unbounded"/>
                <a:cs typeface="Unbounded"/>
              </a:rPr>
              <a:t>МЫШЦЫ</a:t>
            </a:r>
          </a:p>
        </p:txBody>
      </p:sp>
      <p:sp>
        <p:nvSpPr>
          <p:cNvPr id="26" name="sentence 5"/>
          <p:cNvSpPr/>
          <p:nvPr/>
        </p:nvSpPr>
        <p:spPr>
          <a:xfrm>
            <a:off x="548640" y="5285232"/>
            <a:ext cx="7863840" cy="749808"/>
          </a:xfrm>
          <a:prstGeom prst="roundRect">
            <a:avLst>
              <a:gd name="adj" fmla="val 30487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sentence num 5"/>
          <p:cNvSpPr txBox="1"/>
          <p:nvPr/>
        </p:nvSpPr>
        <p:spPr>
          <a:xfrm>
            <a:off x="777240" y="5285232"/>
            <a:ext cx="731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ru-RU">
                <a:solidFill>
                  <a:srgbClr val="FF9F43"/>
                </a:solidFill>
                <a:latin typeface="Unbounded"/>
                <a:cs typeface="Unbounded"/>
              </a:rPr>
              <a:t>05</a:t>
            </a:r>
          </a:p>
        </p:txBody>
      </p:sp>
      <p:sp>
        <p:nvSpPr>
          <p:cNvPr id="28" name="sentence text 5"/>
          <p:cNvSpPr txBox="1"/>
          <p:nvPr/>
        </p:nvSpPr>
        <p:spPr>
          <a:xfrm>
            <a:off x="1554480" y="5285232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 lang="ru-RU">
                <a:solidFill>
                  <a:srgbClr val="2B2A5A"/>
                </a:solidFill>
                <a:latin typeface="Nunito"/>
                <a:cs typeface="Nunito"/>
              </a:rPr>
              <a:t>Правильное положение тела — это…</a:t>
            </a:r>
          </a:p>
        </p:txBody>
      </p:sp>
      <p:sp>
        <p:nvSpPr>
          <p:cNvPr id="29" name="slot 5"/>
          <p:cNvSpPr/>
          <p:nvPr/>
        </p:nvSpPr>
        <p:spPr>
          <a:xfrm>
            <a:off x="8641080" y="5349240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nswer word 5"/>
          <p:cNvSpPr/>
          <p:nvPr/>
        </p:nvSpPr>
        <p:spPr>
          <a:xfrm>
            <a:off x="8641080" y="5349240"/>
            <a:ext cx="2999232" cy="621792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700" b="0" i="0" lang="ru-RU">
                <a:solidFill>
                  <a:srgbClr val="FFFFFF"/>
                </a:solidFill>
                <a:latin typeface="Unbounded"/>
                <a:cs typeface="Unbounded"/>
              </a:rPr>
              <a:t>ОСАНКА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8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87"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95"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03"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2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11"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2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19"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10" grpId="0" animBg="1"/>
      <p:bldP spid="15" grpId="0" animBg="1"/>
      <p:bldP spid="20" grpId="0" animBg="1"/>
      <p:bldP spid="25" grpId="0" animBg="1"/>
      <p:bldP spid="3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un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Что мы узнали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B36B00"/>
                </a:solidFill>
                <a:latin typeface="Nunito"/>
                <a:cs typeface="Nunito"/>
              </a:rPr>
              <a:t>ИНФОГРАФИКА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center circle"/>
          <p:cNvSpPr/>
          <p:nvPr/>
        </p:nvSpPr>
        <p:spPr>
          <a:xfrm>
            <a:off x="4453128" y="182880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185" y="2057400"/>
            <a:ext cx="2027725" cy="3017520"/>
          </a:xfrm>
          <a:prstGeom prst="rect">
            <a:avLst/>
          </a:prstGeom>
        </p:spPr>
      </p:pic>
      <p:sp>
        <p:nvSpPr>
          <p:cNvPr id="8" name="formula"/>
          <p:cNvSpPr/>
          <p:nvPr/>
        </p:nvSpPr>
        <p:spPr>
          <a:xfrm>
            <a:off x="3995928" y="5349240"/>
            <a:ext cx="4206240" cy="685800"/>
          </a:xfrm>
          <a:prstGeom prst="roundRect">
            <a:avLst>
              <a:gd name="adj" fmla="val 50000"/>
            </a:avLst>
          </a:prstGeom>
          <a:solidFill>
            <a:srgbClr val="3B2F8F"/>
          </a:solidFill>
          <a:ln>
            <a:noFill/>
          </a:ln>
          <a:scene3d>
            <a:camera prst="orthographicFront"/>
            <a:lightRig rig="threePt" dir="t"/>
          </a:scene3d>
          <a:sp3d>
            <a:bevelT w="45720" h="18288" prst="circle"/>
          </a:sp3d>
        </p:spPr>
        <p:txBody>
          <a:bodyPr rtlCol="0" anchor="ctr" wrap="square" tIns="0" bIns="0">
            <a:noAutofit/>
          </a:bodyPr>
          <a:lstStyle/>
          <a:p>
            <a:pPr algn="ctr"/>
            <a:r>
              <a:rPr sz="1400" b="0" i="0" lang="ru-RU">
                <a:solidFill>
                  <a:srgbClr val="FFFFFF"/>
                </a:solidFill>
                <a:latin typeface="Unbounded"/>
                <a:cs typeface="Unbounded"/>
              </a:rPr>
              <a:t>Скелет + мышцы = движение!</a:t>
            </a:r>
          </a:p>
        </p:txBody>
      </p:sp>
      <p:sp>
        <p:nvSpPr>
          <p:cNvPr id="9" name="info card 1"/>
          <p:cNvSpPr/>
          <p:nvPr/>
        </p:nvSpPr>
        <p:spPr>
          <a:xfrm>
            <a:off x="548640" y="1783080"/>
            <a:ext cx="3566160" cy="1874520"/>
          </a:xfrm>
          <a:prstGeom prst="roundRect">
            <a:avLst>
              <a:gd name="adj" fmla="val 1219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0" name="info photo 1" descr=""/>
          <p:cNvPicPr>
            <a:picLocks noChangeAspect="1"/>
          </p:cNvPicPr>
          <p:nvPr/>
        </p:nvPicPr>
        <p:blipFill>
          <a:blip r:embed="rId5"/>
          <a:srcRect l="20000" r="20000" t="7600" b="47600"/>
          <a:stretch>
            <a:fillRect/>
          </a:stretch>
        </p:blipFill>
        <p:spPr>
          <a:xfrm>
            <a:off x="749808" y="1984248"/>
            <a:ext cx="868680" cy="868680"/>
          </a:xfrm>
          <a:prstGeom prst="ellipse">
            <a:avLst/>
          </a:prstGeom>
          <a:ln w="45720">
            <a:solidFill>
              <a:srgbClr val="6C5CE7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1" name="info head 1"/>
          <p:cNvSpPr txBox="1"/>
          <p:nvPr/>
        </p:nvSpPr>
        <p:spPr>
          <a:xfrm>
            <a:off x="1783080" y="21031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ru-RU">
                <a:solidFill>
                  <a:srgbClr val="6C5CE7"/>
                </a:solidFill>
                <a:latin typeface="Unbounded"/>
                <a:cs typeface="Unbounded"/>
              </a:rPr>
              <a:t>Скелет</a:t>
            </a:r>
          </a:p>
        </p:txBody>
      </p:sp>
      <p:sp>
        <p:nvSpPr>
          <p:cNvPr id="12" name="info text 1"/>
          <p:cNvSpPr txBox="1"/>
          <p:nvPr/>
        </p:nvSpPr>
        <p:spPr>
          <a:xfrm>
            <a:off x="777240" y="292608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206 костей. Опора и защита тела</a:t>
            </a:r>
          </a:p>
        </p:txBody>
      </p:sp>
      <p:sp>
        <p:nvSpPr>
          <p:cNvPr id="13" name="info card 2"/>
          <p:cNvSpPr/>
          <p:nvPr/>
        </p:nvSpPr>
        <p:spPr>
          <a:xfrm>
            <a:off x="8074152" y="1783080"/>
            <a:ext cx="3566160" cy="1874520"/>
          </a:xfrm>
          <a:prstGeom prst="roundRect">
            <a:avLst>
              <a:gd name="adj" fmla="val 1219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4" name="info photo 2" descr=""/>
          <p:cNvPicPr>
            <a:picLocks noChangeAspect="1"/>
          </p:cNvPicPr>
          <p:nvPr/>
        </p:nvPicPr>
        <p:blipFill>
          <a:blip r:embed="rId6"/>
          <a:srcRect l="54000" r="21000" t="26500" b="48500"/>
          <a:stretch>
            <a:fillRect/>
          </a:stretch>
        </p:blipFill>
        <p:spPr>
          <a:xfrm>
            <a:off x="8275320" y="1984248"/>
            <a:ext cx="868680" cy="868680"/>
          </a:xfrm>
          <a:prstGeom prst="ellipse">
            <a:avLst/>
          </a:prstGeom>
          <a:ln w="45720">
            <a:solidFill>
              <a:srgbClr val="13A386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5" name="info head 2"/>
          <p:cNvSpPr txBox="1"/>
          <p:nvPr/>
        </p:nvSpPr>
        <p:spPr>
          <a:xfrm>
            <a:off x="9308592" y="21031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ru-RU">
                <a:solidFill>
                  <a:srgbClr val="13A386"/>
                </a:solidFill>
                <a:latin typeface="Unbounded"/>
                <a:cs typeface="Unbounded"/>
              </a:rPr>
              <a:t>Суставы</a:t>
            </a:r>
          </a:p>
        </p:txBody>
      </p:sp>
      <p:sp>
        <p:nvSpPr>
          <p:cNvPr id="16" name="info text 2"/>
          <p:cNvSpPr txBox="1"/>
          <p:nvPr/>
        </p:nvSpPr>
        <p:spPr>
          <a:xfrm>
            <a:off x="8302752" y="292608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Подвижные соединения: сгибаемся и поворачиваемся</a:t>
            </a:r>
          </a:p>
        </p:txBody>
      </p:sp>
      <p:sp>
        <p:nvSpPr>
          <p:cNvPr id="17" name="info card 3"/>
          <p:cNvSpPr/>
          <p:nvPr/>
        </p:nvSpPr>
        <p:spPr>
          <a:xfrm>
            <a:off x="548640" y="3931920"/>
            <a:ext cx="3566160" cy="1874520"/>
          </a:xfrm>
          <a:prstGeom prst="roundRect">
            <a:avLst>
              <a:gd name="adj" fmla="val 1219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8" name="info photo 3" descr=""/>
          <p:cNvPicPr>
            <a:picLocks noChangeAspect="1"/>
          </p:cNvPicPr>
          <p:nvPr/>
        </p:nvPicPr>
        <p:blipFill>
          <a:blip r:embed="rId7"/>
          <a:srcRect l="28333" r="34333" t="20000" b="30000"/>
          <a:stretch>
            <a:fillRect/>
          </a:stretch>
        </p:blipFill>
        <p:spPr>
          <a:xfrm>
            <a:off x="749808" y="4133088"/>
            <a:ext cx="868680" cy="868680"/>
          </a:xfrm>
          <a:prstGeom prst="ellipse">
            <a:avLst/>
          </a:prstGeom>
          <a:ln w="45720">
            <a:solidFill>
              <a:srgbClr val="FF6B6B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9" name="info head 3"/>
          <p:cNvSpPr txBox="1"/>
          <p:nvPr/>
        </p:nvSpPr>
        <p:spPr>
          <a:xfrm>
            <a:off x="1783080" y="42519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ru-RU">
                <a:solidFill>
                  <a:srgbClr val="FF6B6B"/>
                </a:solidFill>
                <a:latin typeface="Unbounded"/>
                <a:cs typeface="Unbounded"/>
              </a:rPr>
              <a:t>Мышцы</a:t>
            </a:r>
          </a:p>
        </p:txBody>
      </p:sp>
      <p:sp>
        <p:nvSpPr>
          <p:cNvPr id="20" name="info text 3"/>
          <p:cNvSpPr txBox="1"/>
          <p:nvPr/>
        </p:nvSpPr>
        <p:spPr>
          <a:xfrm>
            <a:off x="777240" y="507492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Больше 600. Приводят кости в движение</a:t>
            </a:r>
          </a:p>
        </p:txBody>
      </p:sp>
      <p:sp>
        <p:nvSpPr>
          <p:cNvPr id="21" name="info card 4"/>
          <p:cNvSpPr/>
          <p:nvPr/>
        </p:nvSpPr>
        <p:spPr>
          <a:xfrm>
            <a:off x="8074152" y="3931920"/>
            <a:ext cx="3566160" cy="1874520"/>
          </a:xfrm>
          <a:prstGeom prst="roundRect">
            <a:avLst>
              <a:gd name="adj" fmla="val 12195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2" name="info photo 4" descr=""/>
          <p:cNvPicPr>
            <a:picLocks noChangeAspect="1"/>
          </p:cNvPicPr>
          <p:nvPr/>
        </p:nvPicPr>
        <p:blipFill>
          <a:blip r:embed="rId8"/>
          <a:srcRect l="33876" r="9876" t="9000" b="29000"/>
          <a:stretch>
            <a:fillRect/>
          </a:stretch>
        </p:blipFill>
        <p:spPr>
          <a:xfrm>
            <a:off x="8275320" y="4133088"/>
            <a:ext cx="868680" cy="868680"/>
          </a:xfrm>
          <a:prstGeom prst="ellipse">
            <a:avLst/>
          </a:prstGeom>
          <a:ln w="45720">
            <a:solidFill>
              <a:srgbClr val="3BA7F5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3" name="info head 4"/>
          <p:cNvSpPr txBox="1"/>
          <p:nvPr/>
        </p:nvSpPr>
        <p:spPr>
          <a:xfrm>
            <a:off x="9308592" y="42519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ru-RU">
                <a:solidFill>
                  <a:srgbClr val="3BA7F5"/>
                </a:solidFill>
                <a:latin typeface="Unbounded"/>
                <a:cs typeface="Unbounded"/>
              </a:rPr>
              <a:t>Осанка</a:t>
            </a:r>
          </a:p>
        </p:txBody>
      </p:sp>
      <p:sp>
        <p:nvSpPr>
          <p:cNvPr id="24" name="info text 4"/>
          <p:cNvSpPr txBox="1"/>
          <p:nvPr/>
        </p:nvSpPr>
        <p:spPr>
          <a:xfrm>
            <a:off x="8302752" y="507492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Прямая спина — здоровое тело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8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65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90"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w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8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mint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Крепкие кости и сильные мышцы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13846F"/>
                </a:solidFill>
                <a:latin typeface="Nunito"/>
                <a:cs typeface="Nunito"/>
              </a:rPr>
              <a:t>СОВЕТЫ КОСТИКА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pic>
        <p:nvPicPr>
          <p:cNvPr id="6" name="food" descr="Молоко, сыр, творог, рыба и другие полезные продукты"/>
          <p:cNvPicPr>
            <a:picLocks noChangeAspect="1"/>
          </p:cNvPicPr>
          <p:nvPr/>
        </p:nvPicPr>
        <p:blipFill>
          <a:blip r:embed="rId4"/>
          <a:srcRect l="5111" r="5111"/>
          <a:stretch>
            <a:fillRect/>
          </a:stretch>
        </p:blipFill>
        <p:spPr>
          <a:xfrm>
            <a:off x="548640" y="1691640"/>
            <a:ext cx="4572000" cy="3429000"/>
          </a:xfrm>
          <a:prstGeom prst="roundRect">
            <a:avLst>
              <a:gd name="adj" fmla="val 5866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pic>
        <p:nvPicPr>
          <p:cNvPr id="7" name="sport" descr="Дети занимаются спортом в парке"/>
          <p:cNvPicPr>
            <a:picLocks noChangeAspect="1"/>
          </p:cNvPicPr>
          <p:nvPr/>
        </p:nvPicPr>
        <p:blipFill>
          <a:blip r:embed="rId5"/>
          <a:srcRect l="4000" r="4000"/>
          <a:stretch>
            <a:fillRect/>
          </a:stretch>
        </p:blipFill>
        <p:spPr>
          <a:xfrm>
            <a:off x="5349240" y="1691640"/>
            <a:ext cx="6291072" cy="3429000"/>
          </a:xfrm>
          <a:prstGeom prst="roundRect">
            <a:avLst>
              <a:gd name="adj" fmla="val 5866"/>
            </a:avLst>
          </a:prstGeom>
          <a:ln w="45720">
            <a:solidFill>
              <a:srgbClr val="FFFFFF"/>
            </a:solidFill>
          </a:ln>
          <a:effectLst>
            <a:outerShdw blurRad="320040" dist="91440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8" name="food tip"/>
          <p:cNvSpPr/>
          <p:nvPr/>
        </p:nvSpPr>
        <p:spPr>
          <a:xfrm>
            <a:off x="548640" y="5303520"/>
            <a:ext cx="4572000" cy="960120"/>
          </a:xfrm>
          <a:prstGeom prst="roundRect">
            <a:avLst>
              <a:gd name="adj" fmla="val 23809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food tip text"/>
          <p:cNvSpPr txBox="1"/>
          <p:nvPr/>
        </p:nvSpPr>
        <p:spPr>
          <a:xfrm>
            <a:off x="777240" y="5303520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Ешь молоко, творог, сыр и рыбу — в них кальций для костей</a:t>
            </a:r>
          </a:p>
        </p:txBody>
      </p:sp>
      <p:sp>
        <p:nvSpPr>
          <p:cNvPr id="10" name="sport tip"/>
          <p:cNvSpPr/>
          <p:nvPr/>
        </p:nvSpPr>
        <p:spPr>
          <a:xfrm>
            <a:off x="5349240" y="5303520"/>
            <a:ext cx="6291072" cy="960120"/>
          </a:xfrm>
          <a:prstGeom prst="roundRect">
            <a:avLst>
              <a:gd name="adj" fmla="val 23809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sport tip text"/>
          <p:cNvSpPr txBox="1"/>
          <p:nvPr/>
        </p:nvSpPr>
        <p:spPr>
          <a:xfrm>
            <a:off x="5577840" y="5303520"/>
            <a:ext cx="585216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Двигайся: зарядка, прогулки, спорт. И высыпайся — 9–10 часов!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hero_e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FFFFFF"/>
                </a:solidFill>
                <a:latin typeface="Unbounded"/>
                <a:cs typeface="Unbounded"/>
              </a:rPr>
              <a:t>Лесенка успеха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FFC23C"/>
                </a:solidFill>
                <a:latin typeface="Nunito"/>
                <a:cs typeface="Nunito"/>
              </a:rPr>
              <a:t>РЕФЛЕКСИЯ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ladder hint"/>
          <p:cNvSpPr txBox="1"/>
          <p:nvPr/>
        </p:nvSpPr>
        <p:spPr>
          <a:xfrm>
            <a:off x="548640" y="1463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700" b="0" i="0" lang="ru-RU">
                <a:solidFill>
                  <a:srgbClr val="E9E4FF"/>
                </a:solidFill>
                <a:latin typeface="Caveat"/>
                <a:cs typeface="Caveat"/>
              </a:rPr>
              <a:t>Нажми на ступеньку, где ты сейчас</a:t>
            </a:r>
          </a:p>
        </p:txBody>
      </p:sp>
      <p:sp>
        <p:nvSpPr>
          <p:cNvPr id="7" name="step 1"/>
          <p:cNvSpPr/>
          <p:nvPr/>
        </p:nvSpPr>
        <p:spPr>
          <a:xfrm>
            <a:off x="914400" y="4206240"/>
            <a:ext cx="3291840" cy="2240280"/>
          </a:xfrm>
          <a:prstGeom prst="roundRect">
            <a:avLst>
              <a:gd name="adj" fmla="val 8979"/>
            </a:avLst>
          </a:prstGeom>
          <a:solidFill>
            <a:srgbClr val="FF6B6B"/>
          </a:solidFill>
          <a:ln>
            <a:noFill/>
          </a:ln>
          <a:effectLst>
            <a:outerShdw blurRad="164592" dist="54864" dir="5400000" algn="t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w="91440" h="36576" prst="circle"/>
          </a:sp3d>
        </p:spPr>
        <p:txBody>
          <a:bodyPr rtlCol="0" anchor="t" wrap="square" lIns="182880" rIns="182880" tIns="182880" bIns="182880">
            <a:noAutofit/>
          </a:bodyPr>
          <a:lstStyle/>
          <a:p>
            <a:pPr algn="ctr"/>
            <a:r>
              <a:rPr sz="1500" b="0" i="0" lang="ru-RU">
                <a:solidFill>
                  <a:srgbClr val="FFFFFF"/>
                </a:solidFill>
                <a:latin typeface="Unbounded"/>
                <a:cs typeface="Unbounded"/>
              </a:rPr>
              <a:t>Мне было трудно</a:t>
            </a:r>
          </a:p>
        </p:txBody>
      </p:sp>
      <p:sp>
        <p:nvSpPr>
          <p:cNvPr id="8" name="step msg 1"/>
          <p:cNvSpPr txBox="1"/>
          <p:nvPr/>
        </p:nvSpPr>
        <p:spPr>
          <a:xfrm>
            <a:off x="1097280" y="51206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0" i="0" lang="ru-RU">
                <a:solidFill>
                  <a:srgbClr val="FFFFFF"/>
                </a:solidFill>
                <a:latin typeface="Caveat"/>
                <a:cs typeface="Caveat"/>
              </a:rPr>
              <a:t>Не страшно! Повтори дома — и всё получится</a:t>
            </a:r>
          </a:p>
        </p:txBody>
      </p:sp>
      <p:pic>
        <p:nvPicPr>
          <p:cNvPr id="9" name="step mascot 1" descr="Костик — весёлый скелетик-экскурсово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957" y="2377440"/>
            <a:ext cx="1202727" cy="1874520"/>
          </a:xfrm>
          <a:prstGeom prst="rect">
            <a:avLst/>
          </a:prstGeom>
        </p:spPr>
      </p:pic>
      <p:sp>
        <p:nvSpPr>
          <p:cNvPr id="10" name="step 2"/>
          <p:cNvSpPr/>
          <p:nvPr/>
        </p:nvSpPr>
        <p:spPr>
          <a:xfrm>
            <a:off x="4453128" y="3383280"/>
            <a:ext cx="3291840" cy="3063240"/>
          </a:xfrm>
          <a:prstGeom prst="roundRect">
            <a:avLst>
              <a:gd name="adj" fmla="val 6567"/>
            </a:avLst>
          </a:prstGeom>
          <a:solidFill>
            <a:srgbClr val="FFC23C"/>
          </a:solidFill>
          <a:ln>
            <a:noFill/>
          </a:ln>
          <a:effectLst>
            <a:outerShdw blurRad="164592" dist="54864" dir="5400000" algn="t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w="91440" h="36576" prst="circle"/>
          </a:sp3d>
        </p:spPr>
        <p:txBody>
          <a:bodyPr rtlCol="0" anchor="t" wrap="square" lIns="182880" rIns="182880" tIns="182880" bIns="182880">
            <a:noAutofit/>
          </a:bodyPr>
          <a:lstStyle/>
          <a:p>
            <a:pPr algn="ctr"/>
            <a:r>
              <a:rPr sz="1500" b="0" i="0" lang="ru-RU">
                <a:solidFill>
                  <a:srgbClr val="2B2A5A"/>
                </a:solidFill>
                <a:latin typeface="Unbounded"/>
                <a:cs typeface="Unbounded"/>
              </a:rPr>
              <a:t>Есть вопросы</a:t>
            </a:r>
          </a:p>
        </p:txBody>
      </p:sp>
      <p:sp>
        <p:nvSpPr>
          <p:cNvPr id="11" name="step msg 2"/>
          <p:cNvSpPr txBox="1"/>
          <p:nvPr/>
        </p:nvSpPr>
        <p:spPr>
          <a:xfrm>
            <a:off x="4636008" y="42976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0" i="0" lang="ru-RU">
                <a:solidFill>
                  <a:srgbClr val="2B2A5A"/>
                </a:solidFill>
                <a:latin typeface="Caveat"/>
                <a:cs typeface="Caveat"/>
              </a:rPr>
              <a:t>Хорошо! Спроси учителя — и станешь знатоком</a:t>
            </a:r>
          </a:p>
        </p:txBody>
      </p:sp>
      <p:pic>
        <p:nvPicPr>
          <p:cNvPr id="12" name="step mascot 2" descr="Костик — весёлый скелетик-экскурсово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109" y="1554480"/>
            <a:ext cx="751877" cy="1874520"/>
          </a:xfrm>
          <a:prstGeom prst="rect">
            <a:avLst/>
          </a:prstGeom>
        </p:spPr>
      </p:pic>
      <p:sp>
        <p:nvSpPr>
          <p:cNvPr id="13" name="step 3"/>
          <p:cNvSpPr/>
          <p:nvPr/>
        </p:nvSpPr>
        <p:spPr>
          <a:xfrm>
            <a:off x="7991856" y="2560320"/>
            <a:ext cx="3291840" cy="3886200"/>
          </a:xfrm>
          <a:prstGeom prst="roundRect">
            <a:avLst>
              <a:gd name="adj" fmla="val 6111"/>
            </a:avLst>
          </a:prstGeom>
          <a:solidFill>
            <a:srgbClr val="1FB89A"/>
          </a:solidFill>
          <a:ln>
            <a:noFill/>
          </a:ln>
          <a:effectLst>
            <a:outerShdw blurRad="164592" dist="54864" dir="5400000" algn="t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w="91440" h="36576" prst="circle"/>
          </a:sp3d>
        </p:spPr>
        <p:txBody>
          <a:bodyPr rtlCol="0" anchor="t" wrap="square" lIns="182880" rIns="182880" tIns="182880" bIns="182880">
            <a:noAutofit/>
          </a:bodyPr>
          <a:lstStyle/>
          <a:p>
            <a:pPr algn="ctr"/>
            <a:r>
              <a:rPr sz="1500" b="0" i="0" lang="ru-RU">
                <a:solidFill>
                  <a:srgbClr val="FFFFFF"/>
                </a:solidFill>
                <a:latin typeface="Unbounded"/>
                <a:cs typeface="Unbounded"/>
              </a:rPr>
              <a:t>Всё понятно! Могу объяснить другу</a:t>
            </a:r>
          </a:p>
        </p:txBody>
      </p:sp>
      <p:sp>
        <p:nvSpPr>
          <p:cNvPr id="14" name="step msg 3"/>
          <p:cNvSpPr txBox="1"/>
          <p:nvPr/>
        </p:nvSpPr>
        <p:spPr>
          <a:xfrm>
            <a:off x="8174736" y="34747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0" i="0" lang="ru-RU">
                <a:solidFill>
                  <a:srgbClr val="FFFFFF"/>
                </a:solidFill>
                <a:latin typeface="Caveat"/>
                <a:cs typeface="Caveat"/>
              </a:rPr>
              <a:t>Супер! Ты настоящий знаток скелета!</a:t>
            </a:r>
          </a:p>
        </p:txBody>
      </p:sp>
      <p:pic>
        <p:nvPicPr>
          <p:cNvPr id="15" name="step mascot 3" descr="Костик — весёлый скелетик-экскурсовод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952" y="731520"/>
            <a:ext cx="1259648" cy="1874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litter dir="l"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7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22"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34"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lilac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Продолжи фразу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6C5CE7"/>
                </a:solidFill>
                <a:latin typeface="Nunito"/>
                <a:cs typeface="Nunito"/>
              </a:rPr>
              <a:t>РЕФЛЕКСИЯ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phrase 1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10606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hrase photo 1" descr=""/>
          <p:cNvPicPr>
            <a:picLocks noChangeAspect="1"/>
          </p:cNvPicPr>
          <p:nvPr/>
        </p:nvPicPr>
        <p:blipFill>
          <a:blip r:embed="rId4"/>
          <a:srcRect l="35000" r="35000" t="800" b="76800"/>
          <a:stretch>
            <a:fillRect/>
          </a:stretch>
        </p:blipFill>
        <p:spPr>
          <a:xfrm>
            <a:off x="822960" y="2103120"/>
            <a:ext cx="1051560" cy="1051560"/>
          </a:xfrm>
          <a:prstGeom prst="ellipse">
            <a:avLst/>
          </a:prstGeom>
          <a:ln w="45720">
            <a:solidFill>
              <a:srgbClr val="3BA7F5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8" name="phrase text 1"/>
          <p:cNvSpPr txBox="1"/>
          <p:nvPr/>
        </p:nvSpPr>
        <p:spPr>
          <a:xfrm>
            <a:off x="822960" y="33375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 lang="ru-RU">
                <a:solidFill>
                  <a:srgbClr val="2B2A5A"/>
                </a:solidFill>
                <a:latin typeface="Caveat"/>
                <a:cs typeface="Caveat"/>
              </a:rPr>
              <a:t>Сегодня на уроке я узнал(а)…</a:t>
            </a:r>
          </a:p>
        </p:txBody>
      </p:sp>
      <p:pic>
        <p:nvPicPr>
          <p:cNvPr id="9" name="phrase star 1" descr=""/>
          <p:cNvPicPr>
            <a:picLocks noChangeAspect="1"/>
          </p:cNvPicPr>
          <p:nvPr/>
        </p:nvPicPr>
        <p:blipFill>
          <a:blip r:embed="rId5"/>
          <a:srcRect l="78428" r="3428" t="67000" b="13000"/>
          <a:stretch>
            <a:fillRect/>
          </a:stretch>
        </p:blipFill>
        <p:spPr>
          <a:xfrm>
            <a:off x="3063240" y="1554480"/>
            <a:ext cx="914400" cy="914400"/>
          </a:xfrm>
          <a:prstGeom prst="ellipse">
            <a:avLst/>
          </a:prstGeom>
          <a:ln w="45720">
            <a:solidFill>
              <a:srgbClr val="FFC23C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0" name="phrase 2"/>
          <p:cNvSpPr/>
          <p:nvPr/>
        </p:nvSpPr>
        <p:spPr>
          <a:xfrm>
            <a:off x="4311396" y="1828800"/>
            <a:ext cx="3566160" cy="3017520"/>
          </a:xfrm>
          <a:prstGeom prst="roundRect">
            <a:avLst>
              <a:gd name="adj" fmla="val 10606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phrase photo 2" descr=""/>
          <p:cNvPicPr>
            <a:picLocks noChangeAspect="1"/>
          </p:cNvPicPr>
          <p:nvPr/>
        </p:nvPicPr>
        <p:blipFill>
          <a:blip r:embed="rId6"/>
          <a:srcRect l="22932" r="22932" b="10000"/>
          <a:stretch>
            <a:fillRect/>
          </a:stretch>
        </p:blipFill>
        <p:spPr>
          <a:xfrm>
            <a:off x="4585716" y="2103120"/>
            <a:ext cx="1051560" cy="1051560"/>
          </a:xfrm>
          <a:prstGeom prst="ellipse">
            <a:avLst/>
          </a:prstGeom>
          <a:ln w="45720">
            <a:solidFill>
              <a:srgbClr val="FF6B6B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2" name="phrase text 2"/>
          <p:cNvSpPr txBox="1"/>
          <p:nvPr/>
        </p:nvSpPr>
        <p:spPr>
          <a:xfrm>
            <a:off x="4585716" y="33375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 lang="ru-RU">
                <a:solidFill>
                  <a:srgbClr val="2B2A5A"/>
                </a:solidFill>
                <a:latin typeface="Caveat"/>
                <a:cs typeface="Caveat"/>
              </a:rPr>
              <a:t>Больше всего мне понравилось…</a:t>
            </a:r>
          </a:p>
        </p:txBody>
      </p:sp>
      <p:pic>
        <p:nvPicPr>
          <p:cNvPr id="13" name="phrase star 2" descr=""/>
          <p:cNvPicPr>
            <a:picLocks noChangeAspect="1"/>
          </p:cNvPicPr>
          <p:nvPr/>
        </p:nvPicPr>
        <p:blipFill>
          <a:blip r:embed="rId5"/>
          <a:srcRect l="78428" r="3428" t="67000" b="13000"/>
          <a:stretch>
            <a:fillRect/>
          </a:stretch>
        </p:blipFill>
        <p:spPr>
          <a:xfrm>
            <a:off x="6825996" y="1554480"/>
            <a:ext cx="914400" cy="914400"/>
          </a:xfrm>
          <a:prstGeom prst="ellipse">
            <a:avLst/>
          </a:prstGeom>
          <a:ln w="45720">
            <a:solidFill>
              <a:srgbClr val="FFC23C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4" name="phrase 3"/>
          <p:cNvSpPr/>
          <p:nvPr/>
        </p:nvSpPr>
        <p:spPr>
          <a:xfrm>
            <a:off x="8074152" y="1828800"/>
            <a:ext cx="3566160" cy="3017520"/>
          </a:xfrm>
          <a:prstGeom prst="roundRect">
            <a:avLst>
              <a:gd name="adj" fmla="val 10606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" name="phrase photo 3" descr=""/>
          <p:cNvPicPr>
            <a:picLocks noChangeAspect="1"/>
          </p:cNvPicPr>
          <p:nvPr/>
        </p:nvPicPr>
        <p:blipFill>
          <a:blip r:embed="rId7"/>
          <a:srcRect l="34783" r="10783" t="12000" b="28000"/>
          <a:stretch>
            <a:fillRect/>
          </a:stretch>
        </p:blipFill>
        <p:spPr>
          <a:xfrm>
            <a:off x="8348472" y="2103120"/>
            <a:ext cx="1051560" cy="1051560"/>
          </a:xfrm>
          <a:prstGeom prst="ellipse">
            <a:avLst/>
          </a:prstGeom>
          <a:ln w="45720">
            <a:solidFill>
              <a:srgbClr val="13A386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6" name="phrase text 3"/>
          <p:cNvSpPr txBox="1"/>
          <p:nvPr/>
        </p:nvSpPr>
        <p:spPr>
          <a:xfrm>
            <a:off x="8348472" y="33375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 lang="ru-RU">
                <a:solidFill>
                  <a:srgbClr val="2B2A5A"/>
                </a:solidFill>
                <a:latin typeface="Caveat"/>
                <a:cs typeface="Caveat"/>
              </a:rPr>
              <a:t>Я буду беречь свою осанку, потому что…</a:t>
            </a:r>
          </a:p>
        </p:txBody>
      </p:sp>
      <p:pic>
        <p:nvPicPr>
          <p:cNvPr id="17" name="phrase star 3" descr=""/>
          <p:cNvPicPr>
            <a:picLocks noChangeAspect="1"/>
          </p:cNvPicPr>
          <p:nvPr/>
        </p:nvPicPr>
        <p:blipFill>
          <a:blip r:embed="rId5"/>
          <a:srcRect l="78428" r="3428" t="67000" b="13000"/>
          <a:stretch>
            <a:fillRect/>
          </a:stretch>
        </p:blipFill>
        <p:spPr>
          <a:xfrm>
            <a:off x="10588752" y="1554480"/>
            <a:ext cx="914400" cy="914400"/>
          </a:xfrm>
          <a:prstGeom prst="ellipse">
            <a:avLst/>
          </a:prstGeom>
          <a:ln w="45720">
            <a:solidFill>
              <a:srgbClr val="FFC23C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8" name="phrase hint"/>
          <p:cNvSpPr txBox="1"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0" i="0" lang="ru-RU">
                <a:solidFill>
                  <a:srgbClr val="3B2F8F"/>
                </a:solidFill>
                <a:latin typeface="Caveat"/>
                <a:cs typeface="Caveat"/>
              </a:rPr>
              <a:t>Ответил — нажми на карточку и получи звезду от Костика!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="http://schemas.microsoft.com/office/powerpoint/2012/main" Requires="p15">
      <p:transition spd="slow" p14:dur="160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57"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67"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77"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hero_e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1417320"/>
            <a:ext cx="7132320" cy="2194560"/>
          </a:xfrm>
        </p:spPr>
        <p:txBody>
          <a:bodyPr wrap="square" lIns="0" rIns="0" tIns="0" bIns="0" anchor="t">
            <a:noAutofit/>
            <a:scene3d>
              <a:camera prst="obliqueBottomRight"/>
              <a:lightRig rig="balanced" dir="t"/>
            </a:scene3d>
            <a:sp3d extrusionH="54864" prstMaterial="softEdge">
              <a:bevelT w="18288" h="10973"/>
              <a:extrusionClr>
                <a:srgbClr val="140F3C"/>
              </a:extrusionClr>
            </a:sp3d>
          </a:bodyPr>
          <a:lstStyle/>
          <a:p>
            <a:pPr algn="l">
              <a:lnSpc>
                <a:spcPct val="100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/>
            </a:r>
            <a:r>
              <a:rPr sz="5600" b="0" i="0" lang="ru-RU">
                <a:solidFill>
                  <a:srgbClr val="FFFFFF"/>
                </a:solidFill>
                <a:latin typeface="Unbounded"/>
                <a:cs typeface="Unbounded"/>
              </a:rPr>
              <a:t>Спасибо</a:t>
            </a:r>
          </a:p>
          <a:p>
            <a:pPr algn="l">
              <a:lnSpc>
                <a:spcPct val="100000"/>
              </a:lnSpc>
            </a:pPr>
            <a:r>
              <a:rPr sz="5600" b="0" i="0" lang="ru-RU">
                <a:solidFill>
                  <a:srgbClr val="FFC23C"/>
                </a:solidFill>
                <a:latin typeface="Unbounded"/>
                <a:cs typeface="Unbounded"/>
              </a:rPr>
              <a:t>за урок!</a:t>
            </a:r>
          </a:p>
        </p:txBody>
      </p:sp>
      <p:sp>
        <p:nvSpPr>
          <p:cNvPr id="4" name="thanks sub"/>
          <p:cNvSpPr txBox="1"/>
          <p:nvPr/>
        </p:nvSpPr>
        <p:spPr>
          <a:xfrm>
            <a:off x="731520" y="370332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0" i="0" lang="ru-RU">
                <a:solidFill>
                  <a:srgbClr val="E9E4FF"/>
                </a:solidFill>
                <a:latin typeface="Caveat"/>
                <a:cs typeface="Caveat"/>
              </a:rPr>
              <a:t>Берегите осанку и будьте здоровы!</a:t>
            </a:r>
          </a:p>
        </p:txBody>
      </p:sp>
      <p:sp>
        <p:nvSpPr>
          <p:cNvPr id="5" name="thanks author"/>
          <p:cNvSpPr txBox="1"/>
          <p:nvPr/>
        </p:nvSpPr>
        <p:spPr>
          <a:xfrm>
            <a:off x="731520" y="49834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i="0" lang="ru-RU">
                <a:solidFill>
                  <a:srgbClr val="FFFFFF"/>
                </a:solidFill>
                <a:latin typeface="Nunito"/>
                <a:cs typeface="Nunito"/>
              </a:rPr>
              <a:t>Шелешко А.И.</a:t>
            </a:r>
          </a:p>
          <a:p>
            <a:pPr algn="l"/>
            <a:r>
              <a:rPr sz="1500" b="1" i="0" lang="ru-RU">
                <a:solidFill>
                  <a:srgbClr val="D9D2FF"/>
                </a:solidFill>
                <a:latin typeface="Nunito"/>
                <a:cs typeface="Nunito"/>
              </a:rPr>
              <a:t>группа П-31</a:t>
            </a:r>
          </a:p>
        </p:txBody>
      </p:sp>
      <p:pic>
        <p:nvPicPr>
          <p:cNvPr id="6" name="!!mascot" descr="Костик — весёлый скелетик-экскурсово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273" y="1051560"/>
            <a:ext cx="3044414" cy="5577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="http://schemas.microsoft.com/office/powerpoint/2012/main" Requires="p15">
      <p:transition spd="slow" p14:dur="18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2000" decel="10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w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0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80000">
                                          <p:val>
                                            <p:strVal val="#ppt_h*0.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id="12"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6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3"/>
                                          </p:val>
                                        </p:tav>
                                        <p:tav tm="45000">
                                          <p:val>
                                            <p:strVal val="#ppt_y"/>
                                          </p:val>
                                        </p:tav>
                                        <p:tav tm="62000">
                                          <p:val>
                                            <p:strVal val="#ppt_y-0.06"/>
                                          </p:val>
                                        </p:tav>
                                        <p:tav tm="78000">
                                          <p:val>
                                            <p:strVal val="#ppt_y"/>
                                          </p:val>
                                        </p:tav>
                                        <p:tav tm="90000">
                                          <p:val>
                                            <p:strVal val="#ppt_y-0.0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100"/>
                            </p:stCondLst>
                            <p:childTnLst>
                              <p:par>
                                <p:cTn id="29" presetID="0" presetClass="path" presetSubtype="0" accel="50000" decel="50000" autoRev="1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18 E" pathEditMode="relative" rAng="0" ptsTypes="AA">
                                      <p:cBhvr>
                                        <p:cTn id="30" dur="1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!!bg bg2_sky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658368"/>
            <a:ext cx="9418320" cy="914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 lang="ru-RU">
                <a:solidFill>
                  <a:srgbClr val="2B2A5A"/>
                </a:solidFill>
                <a:latin typeface="Unbounded"/>
                <a:cs typeface="Unbounded"/>
              </a:rPr>
              <a:t>Над уроком работали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lang="ru-RU" spc="200">
                <a:solidFill>
                  <a:srgbClr val="3B2F8F"/>
                </a:solidFill>
                <a:latin typeface="Nunito"/>
                <a:cs typeface="Nunito"/>
              </a:rPr>
              <a:t>ИСТОЧНИКИ И ИНСТРУМЕНТЫ</a:t>
            </a:r>
          </a:p>
        </p:txBody>
      </p:sp>
      <p:sp>
        <p:nvSpPr>
          <p:cNvPr id="5" name="!!nav route">
            <a:hlinkClick action="ppaction://hlinksldjump" r:id="rId3"/>
          </p:cNvPr>
          <p:cNvSpPr/>
          <p:nvPr/>
        </p:nvSpPr>
        <p:spPr>
          <a:xfrm>
            <a:off x="10378440" y="3291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137160" dist="36576" dir="5400000" algn="t" rotWithShape="0">
              <a:srgbClr val="3B2F8F">
                <a:alpha val="14000"/>
              </a:srgbClr>
            </a:outerShdw>
          </a:effectLst>
        </p:spPr>
        <p:txBody>
          <a:bodyPr rtlCol="0" anchor="ctr" wrap="square" lIns="73152" rIns="73152" tIns="0" bIns="0">
            <a:noAutofit/>
          </a:bodyPr>
          <a:lstStyle/>
          <a:p>
            <a:pPr algn="ctr"/>
            <a:r>
              <a:rPr sz="1100" b="0" i="0" lang="ru-RU" spc="60">
                <a:solidFill>
                  <a:srgbClr val="2B2A5A"/>
                </a:solidFill>
                <a:latin typeface="Unbounded"/>
                <a:cs typeface="Unbounded"/>
              </a:rPr>
              <a:t>МАРШРУТ</a:t>
            </a:r>
          </a:p>
        </p:txBody>
      </p:sp>
      <p:sp>
        <p:nvSpPr>
          <p:cNvPr id="6" name="sources card"/>
          <p:cNvSpPr/>
          <p:nvPr/>
        </p:nvSpPr>
        <p:spPr>
          <a:xfrm>
            <a:off x="548640" y="1691640"/>
            <a:ext cx="5120640" cy="4526280"/>
          </a:xfrm>
          <a:prstGeom prst="roundRect">
            <a:avLst>
              <a:gd name="adj" fmla="val 505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sources head"/>
          <p:cNvSpPr txBox="1"/>
          <p:nvPr/>
        </p:nvSpPr>
        <p:spPr>
          <a:xfrm>
            <a:off x="822960" y="1874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 lang="ru-RU">
                <a:solidFill>
                  <a:srgbClr val="2B2A5A"/>
                </a:solidFill>
                <a:latin typeface="Unbounded"/>
                <a:cs typeface="Unbounded"/>
              </a:rPr>
              <a:t>Источники</a:t>
            </a:r>
          </a:p>
        </p:txBody>
      </p:sp>
      <p:sp>
        <p:nvSpPr>
          <p:cNvPr id="8" name="source book"/>
          <p:cNvSpPr txBox="1"/>
          <p:nvPr/>
        </p:nvSpPr>
        <p:spPr>
          <a:xfrm>
            <a:off x="822960" y="242316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 lang="ru-RU">
                <a:solidFill>
                  <a:srgbClr val="2B2A5A"/>
                </a:solidFill>
                <a:latin typeface="Nunito"/>
                <a:cs typeface="Nunito"/>
              </a:rPr>
              <a:t>Плешаков А.А. Окружающий мир. 3 класс. Учебник, часть 1. Тема «Опора тела и движение»</a:t>
            </a:r>
          </a:p>
        </p:txBody>
      </p:sp>
      <p:sp>
        <p:nvSpPr>
          <p:cNvPr id="9" name="source video">
            <a:hlinkClick r:id="rId4"/>
          </p:cNvPr>
          <p:cNvSpPr txBox="1"/>
          <p:nvPr/>
        </p:nvSpPr>
        <p:spPr>
          <a:xfrm>
            <a:off x="822960" y="34290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Видеоэкскурсия: </a:t>
            </a:r>
            <a:r>
              <a:rPr sz="1500" b="1" i="0" lang="ru-RU">
                <a:solidFill>
                  <a:srgbClr val="6C5CE7"/>
                </a:solidFill>
                <a:latin typeface="Nunito"/>
                <a:cs typeface="Nunito"/>
              </a:rPr>
              <a:t>youtu.be/6C_RWeZtCNg</a:t>
            </a:r>
          </a:p>
        </p:txBody>
      </p:sp>
      <p:sp>
        <p:nvSpPr>
          <p:cNvPr id="10" name="source game">
            <a:hlinkClick r:id="rId5"/>
          </p:cNvPr>
          <p:cNvSpPr txBox="1"/>
          <p:nvPr/>
        </p:nvSpPr>
        <p:spPr>
          <a:xfrm>
            <a:off x="822960" y="39319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lang="ru-RU">
                <a:solidFill>
                  <a:srgbClr val="2B2A5A"/>
                </a:solidFill>
                <a:latin typeface="Nunito"/>
                <a:cs typeface="Nunito"/>
              </a:rPr>
              <a:t>Онлайн-игра: </a:t>
            </a:r>
            <a:r>
              <a:rPr sz="1500" b="1" i="0" lang="ru-RU">
                <a:solidFill>
                  <a:srgbClr val="6C5CE7"/>
                </a:solidFill>
                <a:latin typeface="Nunito"/>
                <a:cs typeface="Nunito"/>
              </a:rPr>
              <a:t>kostik-skeleton.lovable.app</a:t>
            </a:r>
          </a:p>
        </p:txBody>
      </p:sp>
      <p:sp>
        <p:nvSpPr>
          <p:cNvPr id="11" name="source fonts"/>
          <p:cNvSpPr txBox="1"/>
          <p:nvPr/>
        </p:nvSpPr>
        <p:spPr>
          <a:xfrm>
            <a:off x="822960" y="54864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 lang="ru-RU">
                <a:solidFill>
                  <a:srgbClr val="6B6A8E"/>
                </a:solidFill>
                <a:latin typeface="Nunito"/>
                <a:cs typeface="Nunito"/>
              </a:rPr>
              <a:t>Шрифты Unbounded, Nunito и Caveat (лицензия SIL OFL)</a:t>
            </a:r>
          </a:p>
        </p:txBody>
      </p:sp>
      <p:sp>
        <p:nvSpPr>
          <p:cNvPr id="12" name="ai head"/>
          <p:cNvSpPr txBox="1"/>
          <p:nvPr/>
        </p:nvSpPr>
        <p:spPr>
          <a:xfrm>
            <a:off x="598932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 lang="ru-RU">
                <a:solidFill>
                  <a:srgbClr val="2B2A5A"/>
                </a:solidFill>
                <a:latin typeface="Unbounded"/>
                <a:cs typeface="Unbounded"/>
              </a:rPr>
              <a:t>Нейросети в проекте</a:t>
            </a:r>
          </a:p>
        </p:txBody>
      </p:sp>
      <p:sp>
        <p:nvSpPr>
          <p:cNvPr id="13" name="ai 1"/>
          <p:cNvSpPr/>
          <p:nvPr/>
        </p:nvSpPr>
        <p:spPr>
          <a:xfrm>
            <a:off x="5989320" y="2286000"/>
            <a:ext cx="5650992" cy="1170432"/>
          </a:xfrm>
          <a:prstGeom prst="roundRect">
            <a:avLst>
              <a:gd name="adj" fmla="val 1953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4" name="ai photo 1" descr=""/>
          <p:cNvPicPr>
            <a:picLocks noChangeAspect="1"/>
          </p:cNvPicPr>
          <p:nvPr/>
        </p:nvPicPr>
        <p:blipFill>
          <a:blip r:embed="rId6"/>
          <a:srcRect l="10000" r="10000" t="13956" b="53956"/>
          <a:stretch>
            <a:fillRect/>
          </a:stretch>
        </p:blipFill>
        <p:spPr>
          <a:xfrm>
            <a:off x="6144768" y="2441448"/>
            <a:ext cx="859536" cy="859536"/>
          </a:xfrm>
          <a:prstGeom prst="ellipse">
            <a:avLst/>
          </a:prstGeom>
          <a:ln w="45720">
            <a:solidFill>
              <a:srgbClr val="6C5CE7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5" name="ai name 1"/>
          <p:cNvSpPr txBox="1"/>
          <p:nvPr/>
        </p:nvSpPr>
        <p:spPr>
          <a:xfrm>
            <a:off x="7178040" y="2414016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 lang="ru-RU">
                <a:solidFill>
                  <a:srgbClr val="2B2A5A"/>
                </a:solidFill>
                <a:latin typeface="Unbounded"/>
                <a:cs typeface="Unbounded"/>
              </a:rPr>
              <a:t>Claude (Anthropic)</a:t>
            </a:r>
          </a:p>
        </p:txBody>
      </p:sp>
      <p:sp>
        <p:nvSpPr>
          <p:cNvPr id="16" name="ai what 1"/>
          <p:cNvSpPr txBox="1"/>
          <p:nvPr/>
        </p:nvSpPr>
        <p:spPr>
          <a:xfrm>
            <a:off x="7178040" y="2816352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6B6A8E"/>
                </a:solidFill>
                <a:latin typeface="Nunito"/>
                <a:cs typeface="Nunito"/>
              </a:rPr>
              <a:t>сценарий урока, тексты, вопросы, вёрстка презентации, онлайн-игра</a:t>
            </a:r>
          </a:p>
        </p:txBody>
      </p:sp>
      <p:sp>
        <p:nvSpPr>
          <p:cNvPr id="17" name="ai 2"/>
          <p:cNvSpPr/>
          <p:nvPr/>
        </p:nvSpPr>
        <p:spPr>
          <a:xfrm>
            <a:off x="5989320" y="3611880"/>
            <a:ext cx="5650992" cy="1170432"/>
          </a:xfrm>
          <a:prstGeom prst="roundRect">
            <a:avLst>
              <a:gd name="adj" fmla="val 1953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8" name="ai photo 2" descr=""/>
          <p:cNvPicPr>
            <a:picLocks noChangeAspect="1"/>
          </p:cNvPicPr>
          <p:nvPr/>
        </p:nvPicPr>
        <p:blipFill>
          <a:blip r:embed="rId7"/>
          <a:srcRect l="10000" r="10000" t="8168" b="48168"/>
          <a:stretch>
            <a:fillRect/>
          </a:stretch>
        </p:blipFill>
        <p:spPr>
          <a:xfrm>
            <a:off x="6144768" y="3767328"/>
            <a:ext cx="859536" cy="859536"/>
          </a:xfrm>
          <a:prstGeom prst="ellipse">
            <a:avLst/>
          </a:prstGeom>
          <a:ln w="45720">
            <a:solidFill>
              <a:srgbClr val="FF6B6B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19" name="ai name 2"/>
          <p:cNvSpPr txBox="1"/>
          <p:nvPr/>
        </p:nvSpPr>
        <p:spPr>
          <a:xfrm>
            <a:off x="7178040" y="3739896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 lang="ru-RU">
                <a:solidFill>
                  <a:srgbClr val="2B2A5A"/>
                </a:solidFill>
                <a:latin typeface="Unbounded"/>
                <a:cs typeface="Unbounded"/>
              </a:rPr>
              <a:t>Nano Banana 2 (Google) в Higgsfield</a:t>
            </a:r>
          </a:p>
        </p:txBody>
      </p:sp>
      <p:sp>
        <p:nvSpPr>
          <p:cNvPr id="20" name="ai what 2"/>
          <p:cNvSpPr txBox="1"/>
          <p:nvPr/>
        </p:nvSpPr>
        <p:spPr>
          <a:xfrm>
            <a:off x="7178040" y="4142232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6B6A8E"/>
                </a:solidFill>
                <a:latin typeface="Nunito"/>
                <a:cs typeface="Nunito"/>
              </a:rPr>
              <a:t>иллюстрации и маскот Костик</a:t>
            </a:r>
          </a:p>
        </p:txBody>
      </p:sp>
      <p:sp>
        <p:nvSpPr>
          <p:cNvPr id="21" name="ai 3"/>
          <p:cNvSpPr/>
          <p:nvPr/>
        </p:nvSpPr>
        <p:spPr>
          <a:xfrm>
            <a:off x="5989320" y="4937760"/>
            <a:ext cx="5650992" cy="1170432"/>
          </a:xfrm>
          <a:prstGeom prst="roundRect">
            <a:avLst>
              <a:gd name="adj" fmla="val 19531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2" name="ai photo 3" descr=""/>
          <p:cNvPicPr>
            <a:picLocks noChangeAspect="1"/>
          </p:cNvPicPr>
          <p:nvPr/>
        </p:nvPicPr>
        <p:blipFill>
          <a:blip r:embed="rId8"/>
          <a:srcRect l="23571" r="33571" b="25000"/>
          <a:stretch>
            <a:fillRect/>
          </a:stretch>
        </p:blipFill>
        <p:spPr>
          <a:xfrm>
            <a:off x="6144768" y="5093208"/>
            <a:ext cx="859536" cy="859536"/>
          </a:xfrm>
          <a:prstGeom prst="ellipse">
            <a:avLst/>
          </a:prstGeom>
          <a:ln w="45720">
            <a:solidFill>
              <a:srgbClr val="13A386"/>
            </a:solidFill>
          </a:ln>
          <a:effectLst>
            <a:outerShdw blurRad="182880" dist="54864" dir="5400000" algn="t" rotWithShape="0">
              <a:srgbClr val="2B2A5A">
                <a:alpha val="22000"/>
              </a:srgbClr>
            </a:outerShdw>
          </a:effectLst>
        </p:spPr>
      </p:pic>
      <p:sp>
        <p:nvSpPr>
          <p:cNvPr id="23" name="ai name 3"/>
          <p:cNvSpPr txBox="1"/>
          <p:nvPr/>
        </p:nvSpPr>
        <p:spPr>
          <a:xfrm>
            <a:off x="7178040" y="5065776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 lang="ru-RU">
                <a:solidFill>
                  <a:srgbClr val="2B2A5A"/>
                </a:solidFill>
                <a:latin typeface="Unbounded"/>
                <a:cs typeface="Unbounded"/>
              </a:rPr>
              <a:t>MiniMax Hailuo</a:t>
            </a:r>
          </a:p>
        </p:txBody>
      </p:sp>
      <p:sp>
        <p:nvSpPr>
          <p:cNvPr id="24" name="ai what 3"/>
          <p:cNvSpPr txBox="1"/>
          <p:nvPr/>
        </p:nvSpPr>
        <p:spPr>
          <a:xfrm>
            <a:off x="7178040" y="5468112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6B6A8E"/>
                </a:solidFill>
                <a:latin typeface="Nunito"/>
                <a:cs typeface="Nunito"/>
              </a:rPr>
              <a:t>видео для физминутки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Unbound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Unbound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Опора тела и движение</dc:title>
  <dc:subject>Окружающий мир, 3 класс — интерактивный урок</dc:subject>
  <dc:creator>Шелешко А.И.</dc:creator>
  <cp:keywords>скелет, мышцы, суставы, осанка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